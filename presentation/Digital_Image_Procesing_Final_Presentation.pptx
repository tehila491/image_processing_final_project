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36"/>
  </p:notesMasterIdLst>
  <p:sldIdLst>
    <p:sldId id="256" r:id="rId2"/>
    <p:sldId id="273" r:id="rId3"/>
    <p:sldId id="259" r:id="rId4"/>
    <p:sldId id="261" r:id="rId5"/>
    <p:sldId id="262" r:id="rId6"/>
    <p:sldId id="279" r:id="rId7"/>
    <p:sldId id="263" r:id="rId8"/>
    <p:sldId id="264" r:id="rId9"/>
    <p:sldId id="280" r:id="rId10"/>
    <p:sldId id="265" r:id="rId11"/>
    <p:sldId id="266" r:id="rId12"/>
    <p:sldId id="268" r:id="rId13"/>
    <p:sldId id="267" r:id="rId14"/>
    <p:sldId id="269" r:id="rId15"/>
    <p:sldId id="294" r:id="rId16"/>
    <p:sldId id="284" r:id="rId17"/>
    <p:sldId id="281" r:id="rId18"/>
    <p:sldId id="270" r:id="rId19"/>
    <p:sldId id="271" r:id="rId20"/>
    <p:sldId id="272" r:id="rId21"/>
    <p:sldId id="274" r:id="rId22"/>
    <p:sldId id="275" r:id="rId23"/>
    <p:sldId id="276" r:id="rId24"/>
    <p:sldId id="277" r:id="rId25"/>
    <p:sldId id="283" r:id="rId26"/>
    <p:sldId id="285" r:id="rId27"/>
    <p:sldId id="282" r:id="rId28"/>
    <p:sldId id="297" r:id="rId29"/>
    <p:sldId id="298" r:id="rId30"/>
    <p:sldId id="299" r:id="rId31"/>
    <p:sldId id="300" r:id="rId32"/>
    <p:sldId id="301" r:id="rId33"/>
    <p:sldId id="296" r:id="rId34"/>
    <p:sldId id="302" r:id="rId3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DB78"/>
    <a:srgbClr val="00CCBC"/>
    <a:srgbClr val="F1B1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5B5E4B-FCCD-4178-896E-855F14248F15}" v="66" dt="2026-07-15T13:22:43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F2649-5C22-47F3-9EC6-43D45474B4E7}" type="datetimeFigureOut">
              <a:rPr lang="en-IL" smtClean="0"/>
              <a:t>20/07/2026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F0B458-C1A4-4610-98AF-B99F9E8FC6D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8335265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605812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31776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938561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39232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049267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31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9072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32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227661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F0B458-C1A4-4610-98AF-B99F9E8FC6D2}" type="slidenum">
              <a:rPr lang="en-IL" smtClean="0"/>
              <a:t>34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85531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079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000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964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94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33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5829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700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56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681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3654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443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77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DDAF7AC5-D779-C103-44C7-66B58AD545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195" t="11516" r="-1" b="5484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EFBAAD93-7DE6-47D1-3609-446AE138A2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486461-B37F-8817-F13A-A075B8F31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45736" y="908651"/>
            <a:ext cx="4754880" cy="4171779"/>
          </a:xfrm>
        </p:spPr>
        <p:txBody>
          <a:bodyPr anchor="t">
            <a:normAutofit/>
          </a:bodyPr>
          <a:lstStyle/>
          <a:p>
            <a:pPr marL="0" indent="0">
              <a:lnSpc>
                <a:spcPct val="90000"/>
              </a:lnSpc>
            </a:pPr>
            <a:r>
              <a:rPr lang="en-US" sz="4700" b="1"/>
              <a:t>Evaluating Robustness of</a:t>
            </a:r>
            <a:br>
              <a:rPr lang="en-US" sz="4700"/>
            </a:br>
            <a:r>
              <a:rPr lang="en-US" sz="4700" b="1"/>
              <a:t>Computer Vision Models</a:t>
            </a:r>
            <a:br>
              <a:rPr lang="en-US" sz="4700"/>
            </a:br>
            <a:endParaRPr lang="en-IL" sz="4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8A354F-5DEF-4FED-6DA5-6B7EC18A44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45736" y="5216955"/>
            <a:ext cx="4754880" cy="1003638"/>
          </a:xfrm>
        </p:spPr>
        <p:txBody>
          <a:bodyPr anchor="b">
            <a:normAutofit/>
          </a:bodyPr>
          <a:lstStyle/>
          <a:p>
            <a:r>
              <a:rPr lang="en-US" sz="2200" dirty="0">
                <a:latin typeface="+mj-lt"/>
              </a:rPr>
              <a:t>Tehila Segal 324183870</a:t>
            </a:r>
          </a:p>
          <a:p>
            <a:r>
              <a:rPr lang="en-US" sz="2200" dirty="0">
                <a:latin typeface="+mj-lt"/>
              </a:rPr>
              <a:t>Hadar </a:t>
            </a:r>
            <a:r>
              <a:rPr lang="en-US" sz="2200" dirty="0" err="1">
                <a:latin typeface="+mj-lt"/>
              </a:rPr>
              <a:t>Semama</a:t>
            </a:r>
            <a:r>
              <a:rPr lang="en-US" sz="2200" dirty="0">
                <a:latin typeface="+mj-lt"/>
              </a:rPr>
              <a:t> 212214902</a:t>
            </a:r>
            <a:endParaRPr lang="en-IL" sz="2200" dirty="0">
              <a:latin typeface="+mj-lt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90236859-7780-1451-40B8-74A77E27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D709DFCE-A8EB-1114-887C-D67F4C0384D1}"/>
              </a:ext>
            </a:extLst>
          </p:cNvPr>
          <p:cNvSpPr txBox="1"/>
          <p:nvPr/>
        </p:nvSpPr>
        <p:spPr>
          <a:xfrm>
            <a:off x="7262326" y="3506470"/>
            <a:ext cx="4168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Digital Image Processing – Final Project</a:t>
            </a:r>
            <a:endParaRPr lang="en-IL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21145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CE0380-D4AA-9E2A-ECFF-8556CA051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93FA6C-F6BA-1AB9-6622-9BE38C834B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6" r="9091" b="73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21F66AB-6D67-4C86-A415-0B6E4EEC5A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2D0C7F-6129-9514-AFF5-6519890B41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230366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6800" b="1"/>
              <a:t>PROJECT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821068-7FFB-21C5-B72E-B20F8CDD7E1A}"/>
              </a:ext>
            </a:extLst>
          </p:cNvPr>
          <p:cNvSpPr txBox="1"/>
          <p:nvPr/>
        </p:nvSpPr>
        <p:spPr>
          <a:xfrm>
            <a:off x="313786" y="5050632"/>
            <a:ext cx="5696596" cy="1129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spcBef>
                <a:spcPts val="1000"/>
              </a:spcBef>
            </a:pPr>
            <a:r>
              <a:rPr lang="en-US" sz="2200" dirty="0">
                <a:latin typeface="+mj-lt"/>
              </a:rPr>
              <a:t>Goal, dataset, vision tasks, distortions, and evaluation pipeline.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66F5E1-B07D-4718-F4B4-5FCE4B7E8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197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16681232-4EDE-AC69-7929-B9205810F281}"/>
              </a:ext>
            </a:extLst>
          </p:cNvPr>
          <p:cNvGrpSpPr/>
          <p:nvPr/>
        </p:nvGrpSpPr>
        <p:grpSpPr>
          <a:xfrm rot="5400000">
            <a:off x="607076" y="2031420"/>
            <a:ext cx="1626158" cy="1452835"/>
            <a:chOff x="0" y="0"/>
            <a:chExt cx="948643" cy="847533"/>
          </a:xfrm>
        </p:grpSpPr>
        <p:sp>
          <p:nvSpPr>
            <p:cNvPr id="5" name="Freeform 3">
              <a:extLst>
                <a:ext uri="{FF2B5EF4-FFF2-40B4-BE49-F238E27FC236}">
                  <a16:creationId xmlns:a16="http://schemas.microsoft.com/office/drawing/2014/main" id="{FB02999E-710D-E21A-E780-C188F344D9AC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FFC400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547B0973-2EFD-4B44-E07C-62964BDB4D2C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7" name="Freeform 5">
            <a:extLst>
              <a:ext uri="{FF2B5EF4-FFF2-40B4-BE49-F238E27FC236}">
                <a16:creationId xmlns:a16="http://schemas.microsoft.com/office/drawing/2014/main" id="{E353AD55-862D-44BE-CA70-75903F712A52}"/>
              </a:ext>
            </a:extLst>
          </p:cNvPr>
          <p:cNvSpPr/>
          <p:nvPr/>
        </p:nvSpPr>
        <p:spPr>
          <a:xfrm>
            <a:off x="325364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8" name="Freeform 6">
            <a:extLst>
              <a:ext uri="{FF2B5EF4-FFF2-40B4-BE49-F238E27FC236}">
                <a16:creationId xmlns:a16="http://schemas.microsoft.com/office/drawing/2014/main" id="{26E29DBC-AB72-A624-B12B-C1C5C05D2265}"/>
              </a:ext>
            </a:extLst>
          </p:cNvPr>
          <p:cNvSpPr/>
          <p:nvPr/>
        </p:nvSpPr>
        <p:spPr>
          <a:xfrm>
            <a:off x="929988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9" name="Group 7">
            <a:extLst>
              <a:ext uri="{FF2B5EF4-FFF2-40B4-BE49-F238E27FC236}">
                <a16:creationId xmlns:a16="http://schemas.microsoft.com/office/drawing/2014/main" id="{DBF24704-7241-033E-15CD-24685196051E}"/>
              </a:ext>
            </a:extLst>
          </p:cNvPr>
          <p:cNvGrpSpPr/>
          <p:nvPr/>
        </p:nvGrpSpPr>
        <p:grpSpPr>
          <a:xfrm>
            <a:off x="929987" y="1454590"/>
            <a:ext cx="980336" cy="980336"/>
            <a:chOff x="0" y="0"/>
            <a:chExt cx="812800" cy="812800"/>
          </a:xfrm>
        </p:grpSpPr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662711F4-B640-2AE7-BDD2-2FE6D8A8483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1" name="TextBox 9">
              <a:extLst>
                <a:ext uri="{FF2B5EF4-FFF2-40B4-BE49-F238E27FC236}">
                  <a16:creationId xmlns:a16="http://schemas.microsoft.com/office/drawing/2014/main" id="{6AAEF86E-0E32-84FD-B902-D390DCD415A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12" name="Group 10">
            <a:extLst>
              <a:ext uri="{FF2B5EF4-FFF2-40B4-BE49-F238E27FC236}">
                <a16:creationId xmlns:a16="http://schemas.microsoft.com/office/drawing/2014/main" id="{BD212EB7-CCE5-8404-9EA0-2634818E5571}"/>
              </a:ext>
            </a:extLst>
          </p:cNvPr>
          <p:cNvGrpSpPr/>
          <p:nvPr/>
        </p:nvGrpSpPr>
        <p:grpSpPr>
          <a:xfrm rot="5400000">
            <a:off x="2480766" y="2031420"/>
            <a:ext cx="1626158" cy="1452835"/>
            <a:chOff x="0" y="0"/>
            <a:chExt cx="948643" cy="847533"/>
          </a:xfrm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1FE9C181-0E33-9D96-3610-24390EBBF214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A2D34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4" name="TextBox 12">
              <a:extLst>
                <a:ext uri="{FF2B5EF4-FFF2-40B4-BE49-F238E27FC236}">
                  <a16:creationId xmlns:a16="http://schemas.microsoft.com/office/drawing/2014/main" id="{94181402-4382-6C35-34E8-D3D1341D4DF3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15" name="Freeform 13">
            <a:extLst>
              <a:ext uri="{FF2B5EF4-FFF2-40B4-BE49-F238E27FC236}">
                <a16:creationId xmlns:a16="http://schemas.microsoft.com/office/drawing/2014/main" id="{0C3D475C-14A6-89A8-7FEE-73452C190542}"/>
              </a:ext>
            </a:extLst>
          </p:cNvPr>
          <p:cNvSpPr/>
          <p:nvPr/>
        </p:nvSpPr>
        <p:spPr>
          <a:xfrm>
            <a:off x="2198675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16" name="Freeform 14">
            <a:extLst>
              <a:ext uri="{FF2B5EF4-FFF2-40B4-BE49-F238E27FC236}">
                <a16:creationId xmlns:a16="http://schemas.microsoft.com/office/drawing/2014/main" id="{7AC0B8CE-C143-3F97-02C5-03363F33FF7B}"/>
              </a:ext>
            </a:extLst>
          </p:cNvPr>
          <p:cNvSpPr/>
          <p:nvPr/>
        </p:nvSpPr>
        <p:spPr>
          <a:xfrm>
            <a:off x="2803298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17" name="Group 15">
            <a:extLst>
              <a:ext uri="{FF2B5EF4-FFF2-40B4-BE49-F238E27FC236}">
                <a16:creationId xmlns:a16="http://schemas.microsoft.com/office/drawing/2014/main" id="{42E6E863-94D9-6883-0CA8-3AD1D9BB8396}"/>
              </a:ext>
            </a:extLst>
          </p:cNvPr>
          <p:cNvGrpSpPr/>
          <p:nvPr/>
        </p:nvGrpSpPr>
        <p:grpSpPr>
          <a:xfrm>
            <a:off x="2803298" y="1454590"/>
            <a:ext cx="980336" cy="980336"/>
            <a:chOff x="0" y="0"/>
            <a:chExt cx="812800" cy="812800"/>
          </a:xfrm>
        </p:grpSpPr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FA54032A-586D-F314-A506-58C0DD1782BB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19" name="TextBox 17">
              <a:extLst>
                <a:ext uri="{FF2B5EF4-FFF2-40B4-BE49-F238E27FC236}">
                  <a16:creationId xmlns:a16="http://schemas.microsoft.com/office/drawing/2014/main" id="{4B2BA72F-2A82-E4CD-02C0-CE2B4E40162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70D2352E-11AE-A592-CD2D-D4DB4C7F37EA}"/>
              </a:ext>
            </a:extLst>
          </p:cNvPr>
          <p:cNvGrpSpPr/>
          <p:nvPr/>
        </p:nvGrpSpPr>
        <p:grpSpPr>
          <a:xfrm rot="5400000">
            <a:off x="4353982" y="2031420"/>
            <a:ext cx="1626158" cy="1452835"/>
            <a:chOff x="0" y="0"/>
            <a:chExt cx="948643" cy="847533"/>
          </a:xfrm>
        </p:grpSpPr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B3229154-FF97-DE2C-D8F0-9AF436D974C6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00D19D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2" name="TextBox 20">
              <a:extLst>
                <a:ext uri="{FF2B5EF4-FFF2-40B4-BE49-F238E27FC236}">
                  <a16:creationId xmlns:a16="http://schemas.microsoft.com/office/drawing/2014/main" id="{55CC5C01-01E5-9216-20AE-5DAEF30F0DC2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23" name="Freeform 21">
            <a:extLst>
              <a:ext uri="{FF2B5EF4-FFF2-40B4-BE49-F238E27FC236}">
                <a16:creationId xmlns:a16="http://schemas.microsoft.com/office/drawing/2014/main" id="{60E8F7B2-42FC-6EF9-92B2-29CC121FFD1D}"/>
              </a:ext>
            </a:extLst>
          </p:cNvPr>
          <p:cNvSpPr/>
          <p:nvPr/>
        </p:nvSpPr>
        <p:spPr>
          <a:xfrm>
            <a:off x="4071986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65837EFB-7422-9B6A-CA26-7E1212BA0CA9}"/>
              </a:ext>
            </a:extLst>
          </p:cNvPr>
          <p:cNvSpPr/>
          <p:nvPr/>
        </p:nvSpPr>
        <p:spPr>
          <a:xfrm>
            <a:off x="4676609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25" name="Group 23">
            <a:extLst>
              <a:ext uri="{FF2B5EF4-FFF2-40B4-BE49-F238E27FC236}">
                <a16:creationId xmlns:a16="http://schemas.microsoft.com/office/drawing/2014/main" id="{8123738E-4CE5-A45E-2B76-423A082ED955}"/>
              </a:ext>
            </a:extLst>
          </p:cNvPr>
          <p:cNvGrpSpPr/>
          <p:nvPr/>
        </p:nvGrpSpPr>
        <p:grpSpPr>
          <a:xfrm>
            <a:off x="4676609" y="1454590"/>
            <a:ext cx="980336" cy="980336"/>
            <a:chOff x="0" y="0"/>
            <a:chExt cx="812800" cy="812800"/>
          </a:xfrm>
        </p:grpSpPr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6A83D504-E42C-E901-A25E-A816F2F488A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27" name="TextBox 25">
              <a:extLst>
                <a:ext uri="{FF2B5EF4-FFF2-40B4-BE49-F238E27FC236}">
                  <a16:creationId xmlns:a16="http://schemas.microsoft.com/office/drawing/2014/main" id="{893F92B6-724F-8C2F-6353-77A34AC5A1C9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28" name="Group 26">
            <a:extLst>
              <a:ext uri="{FF2B5EF4-FFF2-40B4-BE49-F238E27FC236}">
                <a16:creationId xmlns:a16="http://schemas.microsoft.com/office/drawing/2014/main" id="{311F3DBD-627A-78E3-3D16-B122D2C51149}"/>
              </a:ext>
            </a:extLst>
          </p:cNvPr>
          <p:cNvGrpSpPr/>
          <p:nvPr/>
        </p:nvGrpSpPr>
        <p:grpSpPr>
          <a:xfrm rot="5400000">
            <a:off x="6227198" y="2031420"/>
            <a:ext cx="1626158" cy="1452835"/>
            <a:chOff x="0" y="0"/>
            <a:chExt cx="948643" cy="847533"/>
          </a:xfrm>
        </p:grpSpPr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DC95CB56-4434-0E47-6F46-5264557A4275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00BBD2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0" name="TextBox 28">
              <a:extLst>
                <a:ext uri="{FF2B5EF4-FFF2-40B4-BE49-F238E27FC236}">
                  <a16:creationId xmlns:a16="http://schemas.microsoft.com/office/drawing/2014/main" id="{DF204B1D-6655-8CCB-CAC5-8A2E7A7C8BEF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31" name="Freeform 29">
            <a:extLst>
              <a:ext uri="{FF2B5EF4-FFF2-40B4-BE49-F238E27FC236}">
                <a16:creationId xmlns:a16="http://schemas.microsoft.com/office/drawing/2014/main" id="{45901642-1719-B8DA-11DE-10D5F1B250F3}"/>
              </a:ext>
            </a:extLst>
          </p:cNvPr>
          <p:cNvSpPr/>
          <p:nvPr/>
        </p:nvSpPr>
        <p:spPr>
          <a:xfrm>
            <a:off x="5945296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32" name="Freeform 30">
            <a:extLst>
              <a:ext uri="{FF2B5EF4-FFF2-40B4-BE49-F238E27FC236}">
                <a16:creationId xmlns:a16="http://schemas.microsoft.com/office/drawing/2014/main" id="{CDB08889-2539-6DDB-070C-5B518AEBFE2E}"/>
              </a:ext>
            </a:extLst>
          </p:cNvPr>
          <p:cNvSpPr/>
          <p:nvPr/>
        </p:nvSpPr>
        <p:spPr>
          <a:xfrm>
            <a:off x="6549920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33" name="Group 31">
            <a:extLst>
              <a:ext uri="{FF2B5EF4-FFF2-40B4-BE49-F238E27FC236}">
                <a16:creationId xmlns:a16="http://schemas.microsoft.com/office/drawing/2014/main" id="{7142BD48-C79A-31B4-D630-BF51DA42A5C3}"/>
              </a:ext>
            </a:extLst>
          </p:cNvPr>
          <p:cNvGrpSpPr/>
          <p:nvPr/>
        </p:nvGrpSpPr>
        <p:grpSpPr>
          <a:xfrm>
            <a:off x="6549919" y="1454590"/>
            <a:ext cx="980336" cy="980336"/>
            <a:chOff x="0" y="0"/>
            <a:chExt cx="812800" cy="812800"/>
          </a:xfrm>
        </p:grpSpPr>
        <p:sp>
          <p:nvSpPr>
            <p:cNvPr id="34" name="Freeform 32">
              <a:extLst>
                <a:ext uri="{FF2B5EF4-FFF2-40B4-BE49-F238E27FC236}">
                  <a16:creationId xmlns:a16="http://schemas.microsoft.com/office/drawing/2014/main" id="{4150265A-9FEA-6A94-9729-0FE2B63D77B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5" name="TextBox 33">
              <a:extLst>
                <a:ext uri="{FF2B5EF4-FFF2-40B4-BE49-F238E27FC236}">
                  <a16:creationId xmlns:a16="http://schemas.microsoft.com/office/drawing/2014/main" id="{521E120B-4ED1-94B3-3277-3DDD5CAE378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36" name="Group 34">
            <a:extLst>
              <a:ext uri="{FF2B5EF4-FFF2-40B4-BE49-F238E27FC236}">
                <a16:creationId xmlns:a16="http://schemas.microsoft.com/office/drawing/2014/main" id="{22A78E59-CF11-FDB0-06FD-B18A2A74E6B3}"/>
              </a:ext>
            </a:extLst>
          </p:cNvPr>
          <p:cNvGrpSpPr/>
          <p:nvPr/>
        </p:nvGrpSpPr>
        <p:grpSpPr>
          <a:xfrm rot="5400000">
            <a:off x="8100414" y="2031420"/>
            <a:ext cx="1626158" cy="1452835"/>
            <a:chOff x="0" y="0"/>
            <a:chExt cx="948643" cy="847533"/>
          </a:xfrm>
        </p:grpSpPr>
        <p:sp>
          <p:nvSpPr>
            <p:cNvPr id="37" name="Freeform 35">
              <a:extLst>
                <a:ext uri="{FF2B5EF4-FFF2-40B4-BE49-F238E27FC236}">
                  <a16:creationId xmlns:a16="http://schemas.microsoft.com/office/drawing/2014/main" id="{7DE26D9F-7ED4-DB72-3173-1E7BA83405C7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3F9CED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38" name="TextBox 36">
              <a:extLst>
                <a:ext uri="{FF2B5EF4-FFF2-40B4-BE49-F238E27FC236}">
                  <a16:creationId xmlns:a16="http://schemas.microsoft.com/office/drawing/2014/main" id="{546561A6-479B-EA60-9856-A09FEFD9E511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39" name="Freeform 37">
            <a:extLst>
              <a:ext uri="{FF2B5EF4-FFF2-40B4-BE49-F238E27FC236}">
                <a16:creationId xmlns:a16="http://schemas.microsoft.com/office/drawing/2014/main" id="{E9B315DD-6D1C-C52A-97A1-2A54E1C99067}"/>
              </a:ext>
            </a:extLst>
          </p:cNvPr>
          <p:cNvSpPr/>
          <p:nvPr/>
        </p:nvSpPr>
        <p:spPr>
          <a:xfrm>
            <a:off x="7818607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0" name="Freeform 38">
            <a:extLst>
              <a:ext uri="{FF2B5EF4-FFF2-40B4-BE49-F238E27FC236}">
                <a16:creationId xmlns:a16="http://schemas.microsoft.com/office/drawing/2014/main" id="{E4897003-398A-3D78-8807-28150C067796}"/>
              </a:ext>
            </a:extLst>
          </p:cNvPr>
          <p:cNvSpPr/>
          <p:nvPr/>
        </p:nvSpPr>
        <p:spPr>
          <a:xfrm>
            <a:off x="8423230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1" name="Group 39">
            <a:extLst>
              <a:ext uri="{FF2B5EF4-FFF2-40B4-BE49-F238E27FC236}">
                <a16:creationId xmlns:a16="http://schemas.microsoft.com/office/drawing/2014/main" id="{1F218291-4685-D52C-3FCF-F22A5B084DC4}"/>
              </a:ext>
            </a:extLst>
          </p:cNvPr>
          <p:cNvGrpSpPr/>
          <p:nvPr/>
        </p:nvGrpSpPr>
        <p:grpSpPr>
          <a:xfrm>
            <a:off x="8423230" y="1454590"/>
            <a:ext cx="980336" cy="980336"/>
            <a:chOff x="0" y="0"/>
            <a:chExt cx="812800" cy="812800"/>
          </a:xfrm>
        </p:grpSpPr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CA8F5340-CA02-E2DF-99E5-F72B311AA75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3" name="TextBox 41">
              <a:extLst>
                <a:ext uri="{FF2B5EF4-FFF2-40B4-BE49-F238E27FC236}">
                  <a16:creationId xmlns:a16="http://schemas.microsoft.com/office/drawing/2014/main" id="{79DBBF4C-5097-0C13-B163-CD0CA5E5589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44" name="Group 42">
            <a:extLst>
              <a:ext uri="{FF2B5EF4-FFF2-40B4-BE49-F238E27FC236}">
                <a16:creationId xmlns:a16="http://schemas.microsoft.com/office/drawing/2014/main" id="{F6177ECC-2CB7-7BAE-B343-A925293B1F1A}"/>
              </a:ext>
            </a:extLst>
          </p:cNvPr>
          <p:cNvGrpSpPr/>
          <p:nvPr/>
        </p:nvGrpSpPr>
        <p:grpSpPr>
          <a:xfrm rot="5400000">
            <a:off x="9973630" y="2031420"/>
            <a:ext cx="1626158" cy="1452835"/>
            <a:chOff x="0" y="0"/>
            <a:chExt cx="948643" cy="847533"/>
          </a:xfrm>
        </p:grpSpPr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C81BD9EB-1EBD-7E27-DCE3-CC8CDF28DC3A}"/>
                </a:ext>
              </a:extLst>
            </p:cNvPr>
            <p:cNvSpPr/>
            <p:nvPr/>
          </p:nvSpPr>
          <p:spPr>
            <a:xfrm>
              <a:off x="0" y="0"/>
              <a:ext cx="948643" cy="847533"/>
            </a:xfrm>
            <a:custGeom>
              <a:avLst/>
              <a:gdLst/>
              <a:ahLst/>
              <a:cxnLst/>
              <a:rect l="l" t="t" r="r" b="b"/>
              <a:pathLst>
                <a:path w="948643" h="847533">
                  <a:moveTo>
                    <a:pt x="745443" y="0"/>
                  </a:moveTo>
                  <a:lnTo>
                    <a:pt x="0" y="0"/>
                  </a:lnTo>
                  <a:lnTo>
                    <a:pt x="0" y="847533"/>
                  </a:lnTo>
                  <a:lnTo>
                    <a:pt x="745443" y="847533"/>
                  </a:lnTo>
                  <a:lnTo>
                    <a:pt x="948643" y="423766"/>
                  </a:lnTo>
                  <a:lnTo>
                    <a:pt x="745443" y="0"/>
                  </a:lnTo>
                  <a:close/>
                </a:path>
              </a:pathLst>
            </a:custGeom>
            <a:solidFill>
              <a:srgbClr val="8878D9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46" name="TextBox 44">
              <a:extLst>
                <a:ext uri="{FF2B5EF4-FFF2-40B4-BE49-F238E27FC236}">
                  <a16:creationId xmlns:a16="http://schemas.microsoft.com/office/drawing/2014/main" id="{28BD560A-06C5-7678-A274-708AE3A8FA81}"/>
                </a:ext>
              </a:extLst>
            </p:cNvPr>
            <p:cNvSpPr txBox="1"/>
            <p:nvPr/>
          </p:nvSpPr>
          <p:spPr>
            <a:xfrm>
              <a:off x="0" y="-38100"/>
              <a:ext cx="834343" cy="885633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205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47" name="Freeform 45">
            <a:extLst>
              <a:ext uri="{FF2B5EF4-FFF2-40B4-BE49-F238E27FC236}">
                <a16:creationId xmlns:a16="http://schemas.microsoft.com/office/drawing/2014/main" id="{36D83074-CA5A-AA61-93C4-8F595A7B2089}"/>
              </a:ext>
            </a:extLst>
          </p:cNvPr>
          <p:cNvSpPr/>
          <p:nvPr/>
        </p:nvSpPr>
        <p:spPr>
          <a:xfrm>
            <a:off x="9691918" y="1944758"/>
            <a:ext cx="2189582" cy="262651"/>
          </a:xfrm>
          <a:custGeom>
            <a:avLst/>
            <a:gdLst/>
            <a:ahLst/>
            <a:cxnLst/>
            <a:rect l="l" t="t" r="r" b="b"/>
            <a:pathLst>
              <a:path w="3284373" h="393976">
                <a:moveTo>
                  <a:pt x="0" y="0"/>
                </a:moveTo>
                <a:lnTo>
                  <a:pt x="3284373" y="0"/>
                </a:lnTo>
                <a:lnTo>
                  <a:pt x="3284373" y="393977"/>
                </a:lnTo>
                <a:lnTo>
                  <a:pt x="0" y="39397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 t="-118264"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sp>
        <p:nvSpPr>
          <p:cNvPr id="48" name="Freeform 46">
            <a:extLst>
              <a:ext uri="{FF2B5EF4-FFF2-40B4-BE49-F238E27FC236}">
                <a16:creationId xmlns:a16="http://schemas.microsoft.com/office/drawing/2014/main" id="{38826607-2D7C-1868-C644-B4E9706C029E}"/>
              </a:ext>
            </a:extLst>
          </p:cNvPr>
          <p:cNvSpPr/>
          <p:nvPr/>
        </p:nvSpPr>
        <p:spPr>
          <a:xfrm>
            <a:off x="10296541" y="1454383"/>
            <a:ext cx="1100433" cy="1098433"/>
          </a:xfrm>
          <a:custGeom>
            <a:avLst/>
            <a:gdLst/>
            <a:ahLst/>
            <a:cxnLst/>
            <a:rect l="l" t="t" r="r" b="b"/>
            <a:pathLst>
              <a:path w="1650650" h="1647649">
                <a:moveTo>
                  <a:pt x="0" y="0"/>
                </a:moveTo>
                <a:lnTo>
                  <a:pt x="1650650" y="0"/>
                </a:lnTo>
                <a:lnTo>
                  <a:pt x="1650650" y="1647649"/>
                </a:lnTo>
                <a:lnTo>
                  <a:pt x="0" y="16476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49" name="Group 47">
            <a:extLst>
              <a:ext uri="{FF2B5EF4-FFF2-40B4-BE49-F238E27FC236}">
                <a16:creationId xmlns:a16="http://schemas.microsoft.com/office/drawing/2014/main" id="{532898E4-6707-6598-DECF-CB3236591F78}"/>
              </a:ext>
            </a:extLst>
          </p:cNvPr>
          <p:cNvGrpSpPr/>
          <p:nvPr/>
        </p:nvGrpSpPr>
        <p:grpSpPr>
          <a:xfrm>
            <a:off x="10296541" y="1454590"/>
            <a:ext cx="980336" cy="980336"/>
            <a:chOff x="0" y="0"/>
            <a:chExt cx="812800" cy="812800"/>
          </a:xfrm>
        </p:grpSpPr>
        <p:sp>
          <p:nvSpPr>
            <p:cNvPr id="50" name="Freeform 48">
              <a:extLst>
                <a:ext uri="{FF2B5EF4-FFF2-40B4-BE49-F238E27FC236}">
                  <a16:creationId xmlns:a16="http://schemas.microsoft.com/office/drawing/2014/main" id="{7118BEEA-A4F5-ECC4-F7C8-71C88D71BAA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1" name="TextBox 49">
              <a:extLst>
                <a:ext uri="{FF2B5EF4-FFF2-40B4-BE49-F238E27FC236}">
                  <a16:creationId xmlns:a16="http://schemas.microsoft.com/office/drawing/2014/main" id="{EE314ED8-E727-12D4-8E62-7F57282780C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  <a:spcBef>
                  <a:spcPct val="0"/>
                </a:spcBef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52" name="AutoShape 50">
            <a:extLst>
              <a:ext uri="{FF2B5EF4-FFF2-40B4-BE49-F238E27FC236}">
                <a16:creationId xmlns:a16="http://schemas.microsoft.com/office/drawing/2014/main" id="{A01979E1-0AAB-11D6-360E-D46D1C13CCC0}"/>
              </a:ext>
            </a:extLst>
          </p:cNvPr>
          <p:cNvSpPr/>
          <p:nvPr/>
        </p:nvSpPr>
        <p:spPr>
          <a:xfrm>
            <a:off x="695633" y="3828175"/>
            <a:ext cx="10817494" cy="0"/>
          </a:xfrm>
          <a:prstGeom prst="line">
            <a:avLst/>
          </a:prstGeom>
          <a:ln w="38100" cap="flat">
            <a:solidFill>
              <a:srgbClr val="B4B4B4"/>
            </a:solidFill>
            <a:prstDash val="sysDash"/>
            <a:headEnd type="none" w="sm" len="sm"/>
            <a:tailEnd type="none" w="sm" len="sm"/>
          </a:ln>
        </p:spPr>
        <p:txBody>
          <a:bodyPr/>
          <a:lstStyle/>
          <a:p>
            <a:pPr defTabSz="609630"/>
            <a:endParaRPr lang="en-IL" sz="1200">
              <a:solidFill>
                <a:prstClr val="black"/>
              </a:solidFill>
              <a:latin typeface="+mj-lt"/>
            </a:endParaRPr>
          </a:p>
        </p:txBody>
      </p:sp>
      <p:grpSp>
        <p:nvGrpSpPr>
          <p:cNvPr id="53" name="Group 51">
            <a:extLst>
              <a:ext uri="{FF2B5EF4-FFF2-40B4-BE49-F238E27FC236}">
                <a16:creationId xmlns:a16="http://schemas.microsoft.com/office/drawing/2014/main" id="{4AE464B7-973F-938F-A946-1DD403386028}"/>
              </a:ext>
            </a:extLst>
          </p:cNvPr>
          <p:cNvGrpSpPr/>
          <p:nvPr/>
        </p:nvGrpSpPr>
        <p:grpSpPr>
          <a:xfrm>
            <a:off x="1268230" y="3688475"/>
            <a:ext cx="304800" cy="304800"/>
            <a:chOff x="0" y="0"/>
            <a:chExt cx="812800" cy="812800"/>
          </a:xfrm>
        </p:grpSpPr>
        <p:sp>
          <p:nvSpPr>
            <p:cNvPr id="54" name="Freeform 52">
              <a:extLst>
                <a:ext uri="{FF2B5EF4-FFF2-40B4-BE49-F238E27FC236}">
                  <a16:creationId xmlns:a16="http://schemas.microsoft.com/office/drawing/2014/main" id="{028B8965-8943-6607-A6C3-057F5BFA54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C400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5" name="TextBox 53">
              <a:extLst>
                <a:ext uri="{FF2B5EF4-FFF2-40B4-BE49-F238E27FC236}">
                  <a16:creationId xmlns:a16="http://schemas.microsoft.com/office/drawing/2014/main" id="{FC2BF31F-9AA3-3896-A9B8-E1EEC3203B37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56" name="Group 54">
            <a:extLst>
              <a:ext uri="{FF2B5EF4-FFF2-40B4-BE49-F238E27FC236}">
                <a16:creationId xmlns:a16="http://schemas.microsoft.com/office/drawing/2014/main" id="{8DA0CBD8-F70D-4B87-1D95-0100EBCA87CE}"/>
              </a:ext>
            </a:extLst>
          </p:cNvPr>
          <p:cNvGrpSpPr/>
          <p:nvPr/>
        </p:nvGrpSpPr>
        <p:grpSpPr>
          <a:xfrm>
            <a:off x="3141066" y="3688475"/>
            <a:ext cx="304800" cy="304800"/>
            <a:chOff x="0" y="0"/>
            <a:chExt cx="812800" cy="812800"/>
          </a:xfrm>
        </p:grpSpPr>
        <p:sp>
          <p:nvSpPr>
            <p:cNvPr id="57" name="Freeform 55">
              <a:extLst>
                <a:ext uri="{FF2B5EF4-FFF2-40B4-BE49-F238E27FC236}">
                  <a16:creationId xmlns:a16="http://schemas.microsoft.com/office/drawing/2014/main" id="{488712F6-CE37-2F05-2BC3-FABAB04E009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2D34F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58" name="TextBox 56">
              <a:extLst>
                <a:ext uri="{FF2B5EF4-FFF2-40B4-BE49-F238E27FC236}">
                  <a16:creationId xmlns:a16="http://schemas.microsoft.com/office/drawing/2014/main" id="{9CA0F213-A27C-9658-DB53-1776A57A4C4C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59" name="Group 57">
            <a:extLst>
              <a:ext uri="{FF2B5EF4-FFF2-40B4-BE49-F238E27FC236}">
                <a16:creationId xmlns:a16="http://schemas.microsoft.com/office/drawing/2014/main" id="{D79BD803-5EE3-1D61-D16F-F4762C7A0A30}"/>
              </a:ext>
            </a:extLst>
          </p:cNvPr>
          <p:cNvGrpSpPr/>
          <p:nvPr/>
        </p:nvGrpSpPr>
        <p:grpSpPr>
          <a:xfrm>
            <a:off x="5013904" y="3688475"/>
            <a:ext cx="304800" cy="304800"/>
            <a:chOff x="0" y="0"/>
            <a:chExt cx="812800" cy="812800"/>
          </a:xfrm>
        </p:grpSpPr>
        <p:sp>
          <p:nvSpPr>
            <p:cNvPr id="60" name="Freeform 58">
              <a:extLst>
                <a:ext uri="{FF2B5EF4-FFF2-40B4-BE49-F238E27FC236}">
                  <a16:creationId xmlns:a16="http://schemas.microsoft.com/office/drawing/2014/main" id="{55DDA077-4FBD-1129-5D7C-5FB07DBEB60A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D19D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61" name="TextBox 59">
              <a:extLst>
                <a:ext uri="{FF2B5EF4-FFF2-40B4-BE49-F238E27FC236}">
                  <a16:creationId xmlns:a16="http://schemas.microsoft.com/office/drawing/2014/main" id="{E4C0638E-B05C-2A03-066A-CF49D4DDFBC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62" name="Group 60">
            <a:extLst>
              <a:ext uri="{FF2B5EF4-FFF2-40B4-BE49-F238E27FC236}">
                <a16:creationId xmlns:a16="http://schemas.microsoft.com/office/drawing/2014/main" id="{BBB7D41C-8A8F-5776-69D5-EB2A6EA182AE}"/>
              </a:ext>
            </a:extLst>
          </p:cNvPr>
          <p:cNvGrpSpPr/>
          <p:nvPr/>
        </p:nvGrpSpPr>
        <p:grpSpPr>
          <a:xfrm>
            <a:off x="6886741" y="3688475"/>
            <a:ext cx="304800" cy="304800"/>
            <a:chOff x="0" y="0"/>
            <a:chExt cx="812800" cy="812800"/>
          </a:xfrm>
        </p:grpSpPr>
        <p:sp>
          <p:nvSpPr>
            <p:cNvPr id="63" name="Freeform 61">
              <a:extLst>
                <a:ext uri="{FF2B5EF4-FFF2-40B4-BE49-F238E27FC236}">
                  <a16:creationId xmlns:a16="http://schemas.microsoft.com/office/drawing/2014/main" id="{1D13FA10-E710-EF6F-860A-CD8BA5B7036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BBD2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64" name="TextBox 62">
              <a:extLst>
                <a:ext uri="{FF2B5EF4-FFF2-40B4-BE49-F238E27FC236}">
                  <a16:creationId xmlns:a16="http://schemas.microsoft.com/office/drawing/2014/main" id="{50DD4A3F-8BB0-359D-4538-C588B1A0FC6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65" name="Group 63">
            <a:extLst>
              <a:ext uri="{FF2B5EF4-FFF2-40B4-BE49-F238E27FC236}">
                <a16:creationId xmlns:a16="http://schemas.microsoft.com/office/drawing/2014/main" id="{51F2BD4E-1FCC-807D-A452-9A63146B88A9}"/>
              </a:ext>
            </a:extLst>
          </p:cNvPr>
          <p:cNvGrpSpPr/>
          <p:nvPr/>
        </p:nvGrpSpPr>
        <p:grpSpPr>
          <a:xfrm>
            <a:off x="8759578" y="3688475"/>
            <a:ext cx="304800" cy="304800"/>
            <a:chOff x="0" y="0"/>
            <a:chExt cx="812800" cy="812800"/>
          </a:xfrm>
        </p:grpSpPr>
        <p:sp>
          <p:nvSpPr>
            <p:cNvPr id="66" name="Freeform 64">
              <a:extLst>
                <a:ext uri="{FF2B5EF4-FFF2-40B4-BE49-F238E27FC236}">
                  <a16:creationId xmlns:a16="http://schemas.microsoft.com/office/drawing/2014/main" id="{612B3E68-C41B-81FC-86C7-E226DA3827F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F9CED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67" name="TextBox 65">
              <a:extLst>
                <a:ext uri="{FF2B5EF4-FFF2-40B4-BE49-F238E27FC236}">
                  <a16:creationId xmlns:a16="http://schemas.microsoft.com/office/drawing/2014/main" id="{B01F834E-EFCC-B7D2-A44E-7E4E5372888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grpSp>
        <p:nvGrpSpPr>
          <p:cNvPr id="68" name="Group 66">
            <a:extLst>
              <a:ext uri="{FF2B5EF4-FFF2-40B4-BE49-F238E27FC236}">
                <a16:creationId xmlns:a16="http://schemas.microsoft.com/office/drawing/2014/main" id="{96FB13B9-7328-9105-A5B5-8CD150B16143}"/>
              </a:ext>
            </a:extLst>
          </p:cNvPr>
          <p:cNvGrpSpPr/>
          <p:nvPr/>
        </p:nvGrpSpPr>
        <p:grpSpPr>
          <a:xfrm>
            <a:off x="10632415" y="3688475"/>
            <a:ext cx="304800" cy="304800"/>
            <a:chOff x="0" y="0"/>
            <a:chExt cx="812800" cy="812800"/>
          </a:xfrm>
        </p:grpSpPr>
        <p:sp>
          <p:nvSpPr>
            <p:cNvPr id="69" name="Freeform 67">
              <a:extLst>
                <a:ext uri="{FF2B5EF4-FFF2-40B4-BE49-F238E27FC236}">
                  <a16:creationId xmlns:a16="http://schemas.microsoft.com/office/drawing/2014/main" id="{9954EBF9-7C73-5A44-EDEA-48EE8BD76B7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878D9"/>
            </a:solidFill>
          </p:spPr>
          <p:txBody>
            <a:bodyPr/>
            <a:lstStyle/>
            <a:p>
              <a:pPr defTabSz="609630"/>
              <a:endParaRPr lang="en-IL" sz="1200">
                <a:solidFill>
                  <a:prstClr val="black"/>
                </a:solidFill>
                <a:latin typeface="+mj-lt"/>
              </a:endParaRPr>
            </a:p>
          </p:txBody>
        </p:sp>
        <p:sp>
          <p:nvSpPr>
            <p:cNvPr id="70" name="TextBox 68">
              <a:extLst>
                <a:ext uri="{FF2B5EF4-FFF2-40B4-BE49-F238E27FC236}">
                  <a16:creationId xmlns:a16="http://schemas.microsoft.com/office/drawing/2014/main" id="{8275EAE8-2763-286C-8B17-3223CC9F560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 defTabSz="609630">
                <a:lnSpc>
                  <a:spcPts val="1773"/>
                </a:lnSpc>
              </a:pPr>
              <a:endParaRPr sz="1200">
                <a:solidFill>
                  <a:prstClr val="black"/>
                </a:solidFill>
                <a:latin typeface="+mj-lt"/>
              </a:endParaRPr>
            </a:p>
          </p:txBody>
        </p:sp>
      </p:grpSp>
      <p:sp>
        <p:nvSpPr>
          <p:cNvPr id="77" name="TextBox 77">
            <a:extLst>
              <a:ext uri="{FF2B5EF4-FFF2-40B4-BE49-F238E27FC236}">
                <a16:creationId xmlns:a16="http://schemas.microsoft.com/office/drawing/2014/main" id="{FBDD314B-FFCE-E18E-5FA8-5FF6F8C3055D}"/>
              </a:ext>
            </a:extLst>
          </p:cNvPr>
          <p:cNvSpPr txBox="1"/>
          <p:nvPr/>
        </p:nvSpPr>
        <p:spPr>
          <a:xfrm>
            <a:off x="881122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cs typeface="Inter"/>
                <a:sym typeface="Inter"/>
              </a:rPr>
              <a:t>01</a:t>
            </a:r>
          </a:p>
        </p:txBody>
      </p:sp>
      <p:sp>
        <p:nvSpPr>
          <p:cNvPr id="78" name="TextBox 78">
            <a:extLst>
              <a:ext uri="{FF2B5EF4-FFF2-40B4-BE49-F238E27FC236}">
                <a16:creationId xmlns:a16="http://schemas.microsoft.com/office/drawing/2014/main" id="{1F9E54C0-C0C8-5F8C-D2D6-4AD22384FEC7}"/>
              </a:ext>
            </a:extLst>
          </p:cNvPr>
          <p:cNvSpPr txBox="1"/>
          <p:nvPr/>
        </p:nvSpPr>
        <p:spPr>
          <a:xfrm>
            <a:off x="2753959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sym typeface="Inter"/>
              </a:rPr>
              <a:t>02</a:t>
            </a:r>
          </a:p>
        </p:txBody>
      </p:sp>
      <p:sp>
        <p:nvSpPr>
          <p:cNvPr id="79" name="TextBox 79">
            <a:extLst>
              <a:ext uri="{FF2B5EF4-FFF2-40B4-BE49-F238E27FC236}">
                <a16:creationId xmlns:a16="http://schemas.microsoft.com/office/drawing/2014/main" id="{F25F1827-E854-B65A-C9FC-A569EE4AD1DA}"/>
              </a:ext>
            </a:extLst>
          </p:cNvPr>
          <p:cNvSpPr txBox="1"/>
          <p:nvPr/>
        </p:nvSpPr>
        <p:spPr>
          <a:xfrm>
            <a:off x="4626796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cs typeface="Inter"/>
                <a:sym typeface="Inter"/>
              </a:rPr>
              <a:t>03</a:t>
            </a:r>
          </a:p>
        </p:txBody>
      </p:sp>
      <p:sp>
        <p:nvSpPr>
          <p:cNvPr id="80" name="TextBox 80">
            <a:extLst>
              <a:ext uri="{FF2B5EF4-FFF2-40B4-BE49-F238E27FC236}">
                <a16:creationId xmlns:a16="http://schemas.microsoft.com/office/drawing/2014/main" id="{E909B6DF-2ADD-C0C0-75FC-F0AA8BCFC86C}"/>
              </a:ext>
            </a:extLst>
          </p:cNvPr>
          <p:cNvSpPr txBox="1"/>
          <p:nvPr/>
        </p:nvSpPr>
        <p:spPr>
          <a:xfrm>
            <a:off x="6499633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cs typeface="Inter"/>
                <a:sym typeface="Inter"/>
              </a:rPr>
              <a:t>04</a:t>
            </a:r>
          </a:p>
        </p:txBody>
      </p:sp>
      <p:sp>
        <p:nvSpPr>
          <p:cNvPr id="81" name="TextBox 81">
            <a:extLst>
              <a:ext uri="{FF2B5EF4-FFF2-40B4-BE49-F238E27FC236}">
                <a16:creationId xmlns:a16="http://schemas.microsoft.com/office/drawing/2014/main" id="{74050A6B-A3A5-BD94-A4BA-4F32D101D59D}"/>
              </a:ext>
            </a:extLst>
          </p:cNvPr>
          <p:cNvSpPr txBox="1"/>
          <p:nvPr/>
        </p:nvSpPr>
        <p:spPr>
          <a:xfrm>
            <a:off x="8372470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cs typeface="Inter"/>
                <a:sym typeface="Inter"/>
              </a:rPr>
              <a:t>05</a:t>
            </a:r>
          </a:p>
        </p:txBody>
      </p:sp>
      <p:sp>
        <p:nvSpPr>
          <p:cNvPr id="82" name="TextBox 82">
            <a:extLst>
              <a:ext uri="{FF2B5EF4-FFF2-40B4-BE49-F238E27FC236}">
                <a16:creationId xmlns:a16="http://schemas.microsoft.com/office/drawing/2014/main" id="{CDC23421-82F4-7210-92DF-B93EDE75BBE8}"/>
              </a:ext>
            </a:extLst>
          </p:cNvPr>
          <p:cNvSpPr txBox="1"/>
          <p:nvPr/>
        </p:nvSpPr>
        <p:spPr>
          <a:xfrm>
            <a:off x="10245307" y="2717916"/>
            <a:ext cx="1079014" cy="53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333333"/>
                </a:solidFill>
                <a:latin typeface="+mj-lt"/>
                <a:ea typeface="Inter"/>
                <a:cs typeface="Inter"/>
                <a:sym typeface="Inter"/>
              </a:rPr>
              <a:t>06</a:t>
            </a:r>
          </a:p>
        </p:txBody>
      </p:sp>
      <p:sp>
        <p:nvSpPr>
          <p:cNvPr id="83" name="TextBox 83">
            <a:extLst>
              <a:ext uri="{FF2B5EF4-FFF2-40B4-BE49-F238E27FC236}">
                <a16:creationId xmlns:a16="http://schemas.microsoft.com/office/drawing/2014/main" id="{06325F8A-F64B-D2FB-2318-6EE5B978575B}"/>
              </a:ext>
            </a:extLst>
          </p:cNvPr>
          <p:cNvSpPr txBox="1"/>
          <p:nvPr/>
        </p:nvSpPr>
        <p:spPr>
          <a:xfrm>
            <a:off x="1651000" y="392793"/>
            <a:ext cx="8890000" cy="34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kern="1200" cap="all" spc="30" baseline="0">
                <a:solidFill>
                  <a:srgbClr val="0F172A"/>
                </a:solidFill>
                <a:effectLst/>
                <a:latin typeface="+mj-lt"/>
                <a:ea typeface="+mj-ea"/>
                <a:cs typeface="+mj-cs"/>
              </a:rPr>
              <a:t>Project Goal &amp; Evaluation Pipeline</a:t>
            </a:r>
            <a:endParaRPr lang="en-US" sz="2800" b="1" spc="42">
              <a:solidFill>
                <a:srgbClr val="333333"/>
              </a:solidFill>
              <a:latin typeface="+mj-lt"/>
              <a:ea typeface="Inter Bold"/>
              <a:cs typeface="Inter Bold"/>
              <a:sym typeface="Inter Bold"/>
            </a:endParaRPr>
          </a:p>
        </p:txBody>
      </p:sp>
      <p:sp>
        <p:nvSpPr>
          <p:cNvPr id="84" name="TextBox 84">
            <a:extLst>
              <a:ext uri="{FF2B5EF4-FFF2-40B4-BE49-F238E27FC236}">
                <a16:creationId xmlns:a16="http://schemas.microsoft.com/office/drawing/2014/main" id="{53181AFA-DB21-775C-1756-1A2E4C808F90}"/>
              </a:ext>
            </a:extLst>
          </p:cNvPr>
          <p:cNvSpPr txBox="1"/>
          <p:nvPr/>
        </p:nvSpPr>
        <p:spPr>
          <a:xfrm>
            <a:off x="824949" y="807332"/>
            <a:ext cx="104432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Evaluate how image distortions affect computer vision task performance,</a:t>
            </a:r>
          </a:p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and compare different recovery strategies.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85" name="Group 85">
            <a:extLst>
              <a:ext uri="{FF2B5EF4-FFF2-40B4-BE49-F238E27FC236}">
                <a16:creationId xmlns:a16="http://schemas.microsoft.com/office/drawing/2014/main" id="{00C86AFC-9554-CBE6-DA55-3F85539F6510}"/>
              </a:ext>
            </a:extLst>
          </p:cNvPr>
          <p:cNvGrpSpPr/>
          <p:nvPr/>
        </p:nvGrpSpPr>
        <p:grpSpPr>
          <a:xfrm>
            <a:off x="567790" y="4084172"/>
            <a:ext cx="3542598" cy="724617"/>
            <a:chOff x="0" y="-9525"/>
            <a:chExt cx="7085196" cy="1449233"/>
          </a:xfrm>
        </p:grpSpPr>
        <p:sp>
          <p:nvSpPr>
            <p:cNvPr id="86" name="TextBox 86">
              <a:extLst>
                <a:ext uri="{FF2B5EF4-FFF2-40B4-BE49-F238E27FC236}">
                  <a16:creationId xmlns:a16="http://schemas.microsoft.com/office/drawing/2014/main" id="{60F5ACC4-BC21-0531-3C94-24B3CFEDB0EE}"/>
                </a:ext>
              </a:extLst>
            </p:cNvPr>
            <p:cNvSpPr txBox="1"/>
            <p:nvPr/>
          </p:nvSpPr>
          <p:spPr>
            <a:xfrm>
              <a:off x="158260" y="371635"/>
              <a:ext cx="3251200" cy="69467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Load the dataset and inspect the available annotations.</a:t>
              </a:r>
            </a:p>
          </p:txBody>
        </p:sp>
        <p:sp>
          <p:nvSpPr>
            <p:cNvPr id="87" name="TextBox 87">
              <a:extLst>
                <a:ext uri="{FF2B5EF4-FFF2-40B4-BE49-F238E27FC236}">
                  <a16:creationId xmlns:a16="http://schemas.microsoft.com/office/drawing/2014/main" id="{CE652510-135C-72CD-9487-73D7230C33C4}"/>
                </a:ext>
              </a:extLst>
            </p:cNvPr>
            <p:cNvSpPr txBox="1"/>
            <p:nvPr/>
          </p:nvSpPr>
          <p:spPr>
            <a:xfrm>
              <a:off x="0" y="-9525"/>
              <a:ext cx="3251200" cy="33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 Data Preparation</a:t>
              </a:r>
            </a:p>
          </p:txBody>
        </p:sp>
        <p:sp>
          <p:nvSpPr>
            <p:cNvPr id="104" name="TextBox 86">
              <a:extLst>
                <a:ext uri="{FF2B5EF4-FFF2-40B4-BE49-F238E27FC236}">
                  <a16:creationId xmlns:a16="http://schemas.microsoft.com/office/drawing/2014/main" id="{68242746-26DF-6CA9-8AF6-93B3D6BEE057}"/>
                </a:ext>
              </a:extLst>
            </p:cNvPr>
            <p:cNvSpPr txBox="1"/>
            <p:nvPr/>
          </p:nvSpPr>
          <p:spPr>
            <a:xfrm>
              <a:off x="3833996" y="385957"/>
              <a:ext cx="3251200" cy="10537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Run the selected vision tasks on clean images to establish reference performance.</a:t>
              </a:r>
            </a:p>
          </p:txBody>
        </p:sp>
      </p:grpSp>
      <p:grpSp>
        <p:nvGrpSpPr>
          <p:cNvPr id="88" name="Group 88">
            <a:extLst>
              <a:ext uri="{FF2B5EF4-FFF2-40B4-BE49-F238E27FC236}">
                <a16:creationId xmlns:a16="http://schemas.microsoft.com/office/drawing/2014/main" id="{4E64C1F0-BE36-28B8-4259-35FCC9F1A1F2}"/>
              </a:ext>
            </a:extLst>
          </p:cNvPr>
          <p:cNvGrpSpPr/>
          <p:nvPr/>
        </p:nvGrpSpPr>
        <p:grpSpPr>
          <a:xfrm>
            <a:off x="2446386" y="4104401"/>
            <a:ext cx="1640324" cy="398482"/>
            <a:chOff x="-29448" y="-9525"/>
            <a:chExt cx="3280648" cy="796964"/>
          </a:xfrm>
        </p:grpSpPr>
        <p:sp>
          <p:nvSpPr>
            <p:cNvPr id="89" name="TextBox 89">
              <a:extLst>
                <a:ext uri="{FF2B5EF4-FFF2-40B4-BE49-F238E27FC236}">
                  <a16:creationId xmlns:a16="http://schemas.microsoft.com/office/drawing/2014/main" id="{7ACDD514-C53E-5AA3-C881-ECFFDE315755}"/>
                </a:ext>
              </a:extLst>
            </p:cNvPr>
            <p:cNvSpPr txBox="1"/>
            <p:nvPr/>
          </p:nvSpPr>
          <p:spPr>
            <a:xfrm>
              <a:off x="-29448" y="447473"/>
              <a:ext cx="3251200" cy="3399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endParaRPr lang="en-US" sz="1067">
                <a:solidFill>
                  <a:srgbClr val="333333"/>
                </a:solidFill>
                <a:latin typeface="+mj-lt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90" name="TextBox 90">
              <a:extLst>
                <a:ext uri="{FF2B5EF4-FFF2-40B4-BE49-F238E27FC236}">
                  <a16:creationId xmlns:a16="http://schemas.microsoft.com/office/drawing/2014/main" id="{4C95EAFF-D349-B9DF-7E13-D9364C749061}"/>
                </a:ext>
              </a:extLst>
            </p:cNvPr>
            <p:cNvSpPr txBox="1"/>
            <p:nvPr/>
          </p:nvSpPr>
          <p:spPr>
            <a:xfrm>
              <a:off x="0" y="-9525"/>
              <a:ext cx="3251200" cy="33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Baseline Evaluation</a:t>
              </a:r>
            </a:p>
          </p:txBody>
        </p:sp>
      </p:grpSp>
      <p:grpSp>
        <p:nvGrpSpPr>
          <p:cNvPr id="91" name="Group 91">
            <a:extLst>
              <a:ext uri="{FF2B5EF4-FFF2-40B4-BE49-F238E27FC236}">
                <a16:creationId xmlns:a16="http://schemas.microsoft.com/office/drawing/2014/main" id="{2C92BE2D-0F0E-7D5F-9F3C-7654D28887A6}"/>
              </a:ext>
            </a:extLst>
          </p:cNvPr>
          <p:cNvGrpSpPr/>
          <p:nvPr/>
        </p:nvGrpSpPr>
        <p:grpSpPr>
          <a:xfrm>
            <a:off x="4333948" y="4104401"/>
            <a:ext cx="1651268" cy="883566"/>
            <a:chOff x="0" y="-9525"/>
            <a:chExt cx="3302536" cy="1767131"/>
          </a:xfrm>
        </p:grpSpPr>
        <p:sp>
          <p:nvSpPr>
            <p:cNvPr id="92" name="TextBox 92">
              <a:extLst>
                <a:ext uri="{FF2B5EF4-FFF2-40B4-BE49-F238E27FC236}">
                  <a16:creationId xmlns:a16="http://schemas.microsoft.com/office/drawing/2014/main" id="{74331C4F-79C7-4979-BB17-0CD1AA59E6D0}"/>
                </a:ext>
              </a:extLst>
            </p:cNvPr>
            <p:cNvSpPr txBox="1"/>
            <p:nvPr/>
          </p:nvSpPr>
          <p:spPr>
            <a:xfrm>
              <a:off x="51336" y="344783"/>
              <a:ext cx="3251200" cy="1412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Apply image distortions at multiple severity levels, run the selected vision tasks, and measure degradation.</a:t>
              </a:r>
            </a:p>
          </p:txBody>
        </p:sp>
        <p:sp>
          <p:nvSpPr>
            <p:cNvPr id="93" name="TextBox 93">
              <a:extLst>
                <a:ext uri="{FF2B5EF4-FFF2-40B4-BE49-F238E27FC236}">
                  <a16:creationId xmlns:a16="http://schemas.microsoft.com/office/drawing/2014/main" id="{3599929C-C112-237E-260E-C52285A84CA5}"/>
                </a:ext>
              </a:extLst>
            </p:cNvPr>
            <p:cNvSpPr txBox="1"/>
            <p:nvPr/>
          </p:nvSpPr>
          <p:spPr>
            <a:xfrm>
              <a:off x="0" y="-9525"/>
              <a:ext cx="3251200" cy="33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Robustness Testing</a:t>
              </a:r>
            </a:p>
          </p:txBody>
        </p:sp>
      </p:grpSp>
      <p:grpSp>
        <p:nvGrpSpPr>
          <p:cNvPr id="94" name="Group 94">
            <a:extLst>
              <a:ext uri="{FF2B5EF4-FFF2-40B4-BE49-F238E27FC236}">
                <a16:creationId xmlns:a16="http://schemas.microsoft.com/office/drawing/2014/main" id="{4A663FD3-44F7-FB78-0412-9C62154B88D3}"/>
              </a:ext>
            </a:extLst>
          </p:cNvPr>
          <p:cNvGrpSpPr/>
          <p:nvPr/>
        </p:nvGrpSpPr>
        <p:grpSpPr>
          <a:xfrm>
            <a:off x="6196597" y="4104401"/>
            <a:ext cx="1635788" cy="891803"/>
            <a:chOff x="-20376" y="-9525"/>
            <a:chExt cx="3271576" cy="1783605"/>
          </a:xfrm>
        </p:grpSpPr>
        <p:sp>
          <p:nvSpPr>
            <p:cNvPr id="95" name="TextBox 95">
              <a:extLst>
                <a:ext uri="{FF2B5EF4-FFF2-40B4-BE49-F238E27FC236}">
                  <a16:creationId xmlns:a16="http://schemas.microsoft.com/office/drawing/2014/main" id="{EDF6164C-7487-E47D-2EBA-DD524F490C08}"/>
                </a:ext>
              </a:extLst>
            </p:cNvPr>
            <p:cNvSpPr txBox="1"/>
            <p:nvPr/>
          </p:nvSpPr>
          <p:spPr>
            <a:xfrm>
              <a:off x="-20376" y="361257"/>
              <a:ext cx="3251200" cy="14128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Apply restoration methods to distorted images, rerun the selected vision tasks, and measure recovery.</a:t>
              </a:r>
            </a:p>
          </p:txBody>
        </p:sp>
        <p:sp>
          <p:nvSpPr>
            <p:cNvPr id="96" name="TextBox 96">
              <a:extLst>
                <a:ext uri="{FF2B5EF4-FFF2-40B4-BE49-F238E27FC236}">
                  <a16:creationId xmlns:a16="http://schemas.microsoft.com/office/drawing/2014/main" id="{5AD56B7C-C54E-CB6C-0661-524C2F86384D}"/>
                </a:ext>
              </a:extLst>
            </p:cNvPr>
            <p:cNvSpPr txBox="1"/>
            <p:nvPr/>
          </p:nvSpPr>
          <p:spPr>
            <a:xfrm>
              <a:off x="0" y="-9525"/>
              <a:ext cx="3251200" cy="33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 Recovery Evaluation</a:t>
              </a:r>
            </a:p>
          </p:txBody>
        </p:sp>
      </p:grpSp>
      <p:grpSp>
        <p:nvGrpSpPr>
          <p:cNvPr id="97" name="Group 97">
            <a:extLst>
              <a:ext uri="{FF2B5EF4-FFF2-40B4-BE49-F238E27FC236}">
                <a16:creationId xmlns:a16="http://schemas.microsoft.com/office/drawing/2014/main" id="{CF4DE079-9211-5AA5-968C-38F2EE122CE4}"/>
              </a:ext>
            </a:extLst>
          </p:cNvPr>
          <p:cNvGrpSpPr/>
          <p:nvPr/>
        </p:nvGrpSpPr>
        <p:grpSpPr>
          <a:xfrm>
            <a:off x="8066318" y="4122817"/>
            <a:ext cx="1638904" cy="736959"/>
            <a:chOff x="-26608" y="27307"/>
            <a:chExt cx="3277808" cy="1473915"/>
          </a:xfrm>
        </p:grpSpPr>
        <p:sp>
          <p:nvSpPr>
            <p:cNvPr id="98" name="TextBox 98">
              <a:extLst>
                <a:ext uri="{FF2B5EF4-FFF2-40B4-BE49-F238E27FC236}">
                  <a16:creationId xmlns:a16="http://schemas.microsoft.com/office/drawing/2014/main" id="{CDC01167-195E-7F65-EC47-8D47DFE2C08B}"/>
                </a:ext>
              </a:extLst>
            </p:cNvPr>
            <p:cNvSpPr txBox="1"/>
            <p:nvPr/>
          </p:nvSpPr>
          <p:spPr>
            <a:xfrm>
              <a:off x="-26608" y="447472"/>
              <a:ext cx="3251200" cy="10537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Fine-tune the deep learning model on distorted images and evaluate robustness.</a:t>
              </a:r>
            </a:p>
          </p:txBody>
        </p:sp>
        <p:sp>
          <p:nvSpPr>
            <p:cNvPr id="99" name="TextBox 99">
              <a:extLst>
                <a:ext uri="{FF2B5EF4-FFF2-40B4-BE49-F238E27FC236}">
                  <a16:creationId xmlns:a16="http://schemas.microsoft.com/office/drawing/2014/main" id="{EFC33A5E-BFAD-55F6-4648-BC07E92CF863}"/>
                </a:ext>
              </a:extLst>
            </p:cNvPr>
            <p:cNvSpPr txBox="1"/>
            <p:nvPr/>
          </p:nvSpPr>
          <p:spPr>
            <a:xfrm>
              <a:off x="0" y="27307"/>
              <a:ext cx="3251200" cy="3356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Model Adaptation</a:t>
              </a:r>
            </a:p>
          </p:txBody>
        </p:sp>
      </p:grpSp>
      <p:grpSp>
        <p:nvGrpSpPr>
          <p:cNvPr id="100" name="Group 100">
            <a:extLst>
              <a:ext uri="{FF2B5EF4-FFF2-40B4-BE49-F238E27FC236}">
                <a16:creationId xmlns:a16="http://schemas.microsoft.com/office/drawing/2014/main" id="{16D96FE8-248E-1CF2-D281-3B7EA30EF37C}"/>
              </a:ext>
            </a:extLst>
          </p:cNvPr>
          <p:cNvGrpSpPr/>
          <p:nvPr/>
        </p:nvGrpSpPr>
        <p:grpSpPr>
          <a:xfrm>
            <a:off x="9952459" y="4104401"/>
            <a:ext cx="1666029" cy="1062914"/>
            <a:chOff x="0" y="-9525"/>
            <a:chExt cx="3332058" cy="2125827"/>
          </a:xfrm>
        </p:grpSpPr>
        <p:sp>
          <p:nvSpPr>
            <p:cNvPr id="101" name="TextBox 101">
              <a:extLst>
                <a:ext uri="{FF2B5EF4-FFF2-40B4-BE49-F238E27FC236}">
                  <a16:creationId xmlns:a16="http://schemas.microsoft.com/office/drawing/2014/main" id="{CD8CC49C-2678-FE18-895C-E1507F451821}"/>
                </a:ext>
              </a:extLst>
            </p:cNvPr>
            <p:cNvSpPr txBox="1"/>
            <p:nvPr/>
          </p:nvSpPr>
          <p:spPr>
            <a:xfrm>
              <a:off x="80858" y="344407"/>
              <a:ext cx="3251200" cy="17718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>
                  <a:solidFill>
                    <a:srgbClr val="333333"/>
                  </a:solidFill>
                  <a:latin typeface="+mj-lt"/>
                  <a:ea typeface="Open Sans"/>
                  <a:cs typeface="Open Sans"/>
                  <a:sym typeface="Open Sans"/>
                </a:rPr>
                <a:t>Compare task performance across clean, distorted, restored, and fine-tuned images using metrics, graphs, and visual examples.</a:t>
              </a:r>
            </a:p>
          </p:txBody>
        </p:sp>
        <p:sp>
          <p:nvSpPr>
            <p:cNvPr id="102" name="TextBox 102">
              <a:extLst>
                <a:ext uri="{FF2B5EF4-FFF2-40B4-BE49-F238E27FC236}">
                  <a16:creationId xmlns:a16="http://schemas.microsoft.com/office/drawing/2014/main" id="{3580F7CA-B340-1321-46F2-78B448D94B75}"/>
                </a:ext>
              </a:extLst>
            </p:cNvPr>
            <p:cNvSpPr txBox="1"/>
            <p:nvPr/>
          </p:nvSpPr>
          <p:spPr>
            <a:xfrm>
              <a:off x="0" y="-9525"/>
              <a:ext cx="3251200" cy="3356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 defTabSz="609630">
                <a:lnSpc>
                  <a:spcPts val="1387"/>
                </a:lnSpc>
              </a:pPr>
              <a:r>
                <a:rPr lang="en-US" sz="1067" b="1">
                  <a:solidFill>
                    <a:srgbClr val="333333"/>
                  </a:solidFill>
                  <a:latin typeface="+mj-lt"/>
                  <a:ea typeface="Open Sans Bold"/>
                  <a:cs typeface="Open Sans Bold"/>
                  <a:sym typeface="Open Sans Bold"/>
                </a:rPr>
                <a:t> Final Analysis</a:t>
              </a:r>
            </a:p>
          </p:txBody>
        </p:sp>
      </p:grpSp>
      <p:sp>
        <p:nvSpPr>
          <p:cNvPr id="108" name="Freeform 71">
            <a:extLst>
              <a:ext uri="{FF2B5EF4-FFF2-40B4-BE49-F238E27FC236}">
                <a16:creationId xmlns:a16="http://schemas.microsoft.com/office/drawing/2014/main" id="{6E74158F-C263-35D5-3481-3614E578EFF6}"/>
              </a:ext>
            </a:extLst>
          </p:cNvPr>
          <p:cNvSpPr/>
          <p:nvPr/>
        </p:nvSpPr>
        <p:spPr>
          <a:xfrm>
            <a:off x="1127257" y="1536669"/>
            <a:ext cx="658194" cy="725282"/>
          </a:xfrm>
          <a:custGeom>
            <a:avLst/>
            <a:gdLst/>
            <a:ahLst/>
            <a:cxnLst/>
            <a:rect l="l" t="t" r="r" b="b"/>
            <a:pathLst>
              <a:path w="658194" h="725282">
                <a:moveTo>
                  <a:pt x="0" y="0"/>
                </a:moveTo>
                <a:lnTo>
                  <a:pt x="658194" y="0"/>
                </a:lnTo>
                <a:lnTo>
                  <a:pt x="658194" y="725282"/>
                </a:lnTo>
                <a:lnTo>
                  <a:pt x="0" y="7252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sp>
        <p:nvSpPr>
          <p:cNvPr id="110" name="Freeform 72">
            <a:extLst>
              <a:ext uri="{FF2B5EF4-FFF2-40B4-BE49-F238E27FC236}">
                <a16:creationId xmlns:a16="http://schemas.microsoft.com/office/drawing/2014/main" id="{08AF284E-6D04-A4AE-4548-FBDA0FD07759}"/>
              </a:ext>
            </a:extLst>
          </p:cNvPr>
          <p:cNvSpPr/>
          <p:nvPr/>
        </p:nvSpPr>
        <p:spPr>
          <a:xfrm>
            <a:off x="3047411" y="1637905"/>
            <a:ext cx="592389" cy="592389"/>
          </a:xfrm>
          <a:custGeom>
            <a:avLst/>
            <a:gdLst/>
            <a:ahLst/>
            <a:cxnLst/>
            <a:rect l="l" t="t" r="r" b="b"/>
            <a:pathLst>
              <a:path w="592389" h="592389">
                <a:moveTo>
                  <a:pt x="0" y="0"/>
                </a:moveTo>
                <a:lnTo>
                  <a:pt x="592389" y="0"/>
                </a:lnTo>
                <a:lnTo>
                  <a:pt x="592389" y="592388"/>
                </a:lnTo>
                <a:lnTo>
                  <a:pt x="0" y="5923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sp>
        <p:nvSpPr>
          <p:cNvPr id="112" name="Freeform 73">
            <a:extLst>
              <a:ext uri="{FF2B5EF4-FFF2-40B4-BE49-F238E27FC236}">
                <a16:creationId xmlns:a16="http://schemas.microsoft.com/office/drawing/2014/main" id="{2B73085A-5E69-3683-6B7B-FBFD5B7C35AB}"/>
              </a:ext>
            </a:extLst>
          </p:cNvPr>
          <p:cNvSpPr/>
          <p:nvPr/>
        </p:nvSpPr>
        <p:spPr>
          <a:xfrm>
            <a:off x="4894993" y="1629166"/>
            <a:ext cx="590678" cy="616896"/>
          </a:xfrm>
          <a:custGeom>
            <a:avLst/>
            <a:gdLst/>
            <a:ahLst/>
            <a:cxnLst/>
            <a:rect l="l" t="t" r="r" b="b"/>
            <a:pathLst>
              <a:path w="590678" h="616896">
                <a:moveTo>
                  <a:pt x="0" y="0"/>
                </a:moveTo>
                <a:lnTo>
                  <a:pt x="590678" y="0"/>
                </a:lnTo>
                <a:lnTo>
                  <a:pt x="590678" y="616896"/>
                </a:lnTo>
                <a:lnTo>
                  <a:pt x="0" y="616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sp>
        <p:nvSpPr>
          <p:cNvPr id="114" name="Freeform 74">
            <a:extLst>
              <a:ext uri="{FF2B5EF4-FFF2-40B4-BE49-F238E27FC236}">
                <a16:creationId xmlns:a16="http://schemas.microsoft.com/office/drawing/2014/main" id="{E884460E-0C23-838B-DE57-145AD2CD1314}"/>
              </a:ext>
            </a:extLst>
          </p:cNvPr>
          <p:cNvSpPr/>
          <p:nvPr/>
        </p:nvSpPr>
        <p:spPr>
          <a:xfrm>
            <a:off x="6689799" y="1590273"/>
            <a:ext cx="708428" cy="706656"/>
          </a:xfrm>
          <a:custGeom>
            <a:avLst/>
            <a:gdLst/>
            <a:ahLst/>
            <a:cxnLst/>
            <a:rect l="l" t="t" r="r" b="b"/>
            <a:pathLst>
              <a:path w="708428" h="706656">
                <a:moveTo>
                  <a:pt x="0" y="0"/>
                </a:moveTo>
                <a:lnTo>
                  <a:pt x="708427" y="0"/>
                </a:lnTo>
                <a:lnTo>
                  <a:pt x="708427" y="706656"/>
                </a:lnTo>
                <a:lnTo>
                  <a:pt x="0" y="70665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sp>
        <p:nvSpPr>
          <p:cNvPr id="116" name="Freeform 75">
            <a:extLst>
              <a:ext uri="{FF2B5EF4-FFF2-40B4-BE49-F238E27FC236}">
                <a16:creationId xmlns:a16="http://schemas.microsoft.com/office/drawing/2014/main" id="{AB17D81E-64EF-39DE-3D49-549B805D2E1B}"/>
              </a:ext>
            </a:extLst>
          </p:cNvPr>
          <p:cNvSpPr/>
          <p:nvPr/>
        </p:nvSpPr>
        <p:spPr>
          <a:xfrm>
            <a:off x="8539572" y="1582990"/>
            <a:ext cx="724682" cy="681189"/>
          </a:xfrm>
          <a:custGeom>
            <a:avLst/>
            <a:gdLst/>
            <a:ahLst/>
            <a:cxnLst/>
            <a:rect l="l" t="t" r="r" b="b"/>
            <a:pathLst>
              <a:path w="805862" h="778023">
                <a:moveTo>
                  <a:pt x="0" y="0"/>
                </a:moveTo>
                <a:lnTo>
                  <a:pt x="805862" y="0"/>
                </a:lnTo>
                <a:lnTo>
                  <a:pt x="805862" y="778023"/>
                </a:lnTo>
                <a:lnTo>
                  <a:pt x="0" y="77802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  <p:sp>
        <p:nvSpPr>
          <p:cNvPr id="118" name="Freeform 76">
            <a:extLst>
              <a:ext uri="{FF2B5EF4-FFF2-40B4-BE49-F238E27FC236}">
                <a16:creationId xmlns:a16="http://schemas.microsoft.com/office/drawing/2014/main" id="{B0092589-B36A-B229-4A34-2FD17880776E}"/>
              </a:ext>
            </a:extLst>
          </p:cNvPr>
          <p:cNvSpPr/>
          <p:nvPr/>
        </p:nvSpPr>
        <p:spPr>
          <a:xfrm>
            <a:off x="10479340" y="1591664"/>
            <a:ext cx="652696" cy="706187"/>
          </a:xfrm>
          <a:custGeom>
            <a:avLst/>
            <a:gdLst/>
            <a:ahLst/>
            <a:cxnLst/>
            <a:rect l="l" t="t" r="r" b="b"/>
            <a:pathLst>
              <a:path w="769615" h="717666">
                <a:moveTo>
                  <a:pt x="0" y="0"/>
                </a:moveTo>
                <a:lnTo>
                  <a:pt x="769615" y="0"/>
                </a:lnTo>
                <a:lnTo>
                  <a:pt x="769615" y="717665"/>
                </a:lnTo>
                <a:lnTo>
                  <a:pt x="0" y="7176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74673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3979" y="3439841"/>
            <a:ext cx="2985678" cy="281287"/>
          </a:xfrm>
          <a:custGeom>
            <a:avLst/>
            <a:gdLst/>
            <a:ahLst/>
            <a:cxnLst/>
            <a:rect l="l" t="t" r="r" b="b"/>
            <a:pathLst>
              <a:path w="4478517" h="421931">
                <a:moveTo>
                  <a:pt x="0" y="0"/>
                </a:moveTo>
                <a:lnTo>
                  <a:pt x="4478517" y="0"/>
                </a:lnTo>
                <a:lnTo>
                  <a:pt x="4478517" y="421931"/>
                </a:lnTo>
                <a:lnTo>
                  <a:pt x="0" y="421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r="-1816"/>
            </a:stretch>
          </a:blipFill>
        </p:spPr>
        <p:txBody>
          <a:bodyPr/>
          <a:lstStyle/>
          <a:p>
            <a:endParaRPr lang="en-IL" sz="1200">
              <a:latin typeface="+mj-lt"/>
            </a:endParaRPr>
          </a:p>
        </p:txBody>
      </p:sp>
      <p:grpSp>
        <p:nvGrpSpPr>
          <p:cNvPr id="3" name="Group 3"/>
          <p:cNvGrpSpPr/>
          <p:nvPr/>
        </p:nvGrpSpPr>
        <p:grpSpPr>
          <a:xfrm>
            <a:off x="1033979" y="1765256"/>
            <a:ext cx="3067200" cy="1818000"/>
            <a:chOff x="0" y="0"/>
            <a:chExt cx="911221" cy="533410"/>
          </a:xfrm>
          <a:solidFill>
            <a:schemeClr val="bg2"/>
          </a:solidFill>
        </p:grpSpPr>
        <p:sp>
          <p:nvSpPr>
            <p:cNvPr id="4" name="Freeform 4"/>
            <p:cNvSpPr/>
            <p:nvPr/>
          </p:nvSpPr>
          <p:spPr>
            <a:xfrm>
              <a:off x="0" y="0"/>
              <a:ext cx="911221" cy="53341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911221" cy="57151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>
                <a:latin typeface="+mj-lt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4383144" y="3464848"/>
            <a:ext cx="2985678" cy="281287"/>
          </a:xfrm>
          <a:custGeom>
            <a:avLst/>
            <a:gdLst/>
            <a:ahLst/>
            <a:cxnLst/>
            <a:rect l="l" t="t" r="r" b="b"/>
            <a:pathLst>
              <a:path w="4478517" h="421931">
                <a:moveTo>
                  <a:pt x="0" y="0"/>
                </a:moveTo>
                <a:lnTo>
                  <a:pt x="4478517" y="0"/>
                </a:lnTo>
                <a:lnTo>
                  <a:pt x="4478517" y="421931"/>
                </a:lnTo>
                <a:lnTo>
                  <a:pt x="0" y="421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r="-1816"/>
            </a:stretch>
          </a:blipFill>
        </p:spPr>
        <p:txBody>
          <a:bodyPr/>
          <a:lstStyle/>
          <a:p>
            <a:endParaRPr lang="en-IL" sz="1200">
              <a:latin typeface="+mj-lt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4383144" y="1718484"/>
            <a:ext cx="3066972" cy="1819535"/>
            <a:chOff x="0" y="0"/>
            <a:chExt cx="911221" cy="533410"/>
          </a:xfrm>
          <a:solidFill>
            <a:schemeClr val="bg2"/>
          </a:solidFill>
        </p:grpSpPr>
        <p:sp>
          <p:nvSpPr>
            <p:cNvPr id="8" name="Freeform 8"/>
            <p:cNvSpPr/>
            <p:nvPr/>
          </p:nvSpPr>
          <p:spPr>
            <a:xfrm>
              <a:off x="0" y="0"/>
              <a:ext cx="911221" cy="53341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911221" cy="57151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>
                <a:latin typeface="+mj-lt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90407" y="1327693"/>
            <a:ext cx="1540800" cy="645796"/>
            <a:chOff x="-2837" y="-38100"/>
            <a:chExt cx="815637" cy="444500"/>
          </a:xfrm>
        </p:grpSpPr>
        <p:sp>
          <p:nvSpPr>
            <p:cNvPr id="11" name="Freeform 11"/>
            <p:cNvSpPr/>
            <p:nvPr/>
          </p:nvSpPr>
          <p:spPr>
            <a:xfrm>
              <a:off x="-2837" y="-3328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7778ED"/>
            </a:solidFill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2000" b="1" cap="all" spc="30">
                  <a:solidFill>
                    <a:schemeClr val="bg1"/>
                  </a:solidFill>
                  <a:latin typeface="+mj-lt"/>
                  <a:ea typeface="+mj-ea"/>
                  <a:cs typeface="+mj-cs"/>
                  <a:sym typeface="Proxima Nova Bold"/>
                </a:rPr>
                <a:t>Dataset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254635" y="1338489"/>
            <a:ext cx="1540800" cy="590400"/>
            <a:chOff x="0" y="0"/>
            <a:chExt cx="1714029" cy="65677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714029" cy="656777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B2E4"/>
            </a:solidFill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06751" y="141444"/>
              <a:ext cx="1033741" cy="444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2000" b="1" cap="all" spc="30">
                  <a:solidFill>
                    <a:schemeClr val="bg1"/>
                  </a:solidFill>
                  <a:latin typeface="+mj-lt"/>
                  <a:sym typeface="Proxima Nova Bold"/>
                </a:rPr>
                <a:t>Vision Tasks</a:t>
              </a:r>
            </a:p>
          </p:txBody>
        </p:sp>
      </p:grpSp>
      <p:sp>
        <p:nvSpPr>
          <p:cNvPr id="16" name="Freeform 16"/>
          <p:cNvSpPr/>
          <p:nvPr/>
        </p:nvSpPr>
        <p:spPr>
          <a:xfrm>
            <a:off x="1033979" y="5560460"/>
            <a:ext cx="2985678" cy="281287"/>
          </a:xfrm>
          <a:custGeom>
            <a:avLst/>
            <a:gdLst/>
            <a:ahLst/>
            <a:cxnLst/>
            <a:rect l="l" t="t" r="r" b="b"/>
            <a:pathLst>
              <a:path w="4478517" h="421931">
                <a:moveTo>
                  <a:pt x="0" y="0"/>
                </a:moveTo>
                <a:lnTo>
                  <a:pt x="4478517" y="0"/>
                </a:lnTo>
                <a:lnTo>
                  <a:pt x="4478517" y="421931"/>
                </a:lnTo>
                <a:lnTo>
                  <a:pt x="0" y="421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r="-1816"/>
            </a:stretch>
          </a:blipFill>
        </p:spPr>
        <p:txBody>
          <a:bodyPr/>
          <a:lstStyle/>
          <a:p>
            <a:endParaRPr lang="en-IL" sz="1200">
              <a:latin typeface="+mj-lt"/>
            </a:endParaRPr>
          </a:p>
        </p:txBody>
      </p:sp>
      <p:grpSp>
        <p:nvGrpSpPr>
          <p:cNvPr id="17" name="Group 17"/>
          <p:cNvGrpSpPr/>
          <p:nvPr/>
        </p:nvGrpSpPr>
        <p:grpSpPr>
          <a:xfrm>
            <a:off x="1033979" y="3885875"/>
            <a:ext cx="3067200" cy="1818000"/>
            <a:chOff x="0" y="0"/>
            <a:chExt cx="911221" cy="533410"/>
          </a:xfrm>
          <a:solidFill>
            <a:schemeClr val="bg2"/>
          </a:solidFill>
        </p:grpSpPr>
        <p:sp>
          <p:nvSpPr>
            <p:cNvPr id="18" name="Freeform 18"/>
            <p:cNvSpPr/>
            <p:nvPr/>
          </p:nvSpPr>
          <p:spPr>
            <a:xfrm>
              <a:off x="0" y="0"/>
              <a:ext cx="911221" cy="53341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911221" cy="57151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>
                <a:latin typeface="+mj-lt"/>
              </a:endParaRPr>
            </a:p>
          </p:txBody>
        </p:sp>
      </p:grpSp>
      <p:sp>
        <p:nvSpPr>
          <p:cNvPr id="20" name="Freeform 20"/>
          <p:cNvSpPr/>
          <p:nvPr/>
        </p:nvSpPr>
        <p:spPr>
          <a:xfrm>
            <a:off x="4383144" y="5585467"/>
            <a:ext cx="2985678" cy="281287"/>
          </a:xfrm>
          <a:custGeom>
            <a:avLst/>
            <a:gdLst/>
            <a:ahLst/>
            <a:cxnLst/>
            <a:rect l="l" t="t" r="r" b="b"/>
            <a:pathLst>
              <a:path w="4478517" h="421931">
                <a:moveTo>
                  <a:pt x="0" y="0"/>
                </a:moveTo>
                <a:lnTo>
                  <a:pt x="4478517" y="0"/>
                </a:lnTo>
                <a:lnTo>
                  <a:pt x="4478517" y="421931"/>
                </a:lnTo>
                <a:lnTo>
                  <a:pt x="0" y="4219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7000"/>
            </a:blip>
            <a:stretch>
              <a:fillRect l="-1816" r="-1816"/>
            </a:stretch>
          </a:blipFill>
        </p:spPr>
        <p:txBody>
          <a:bodyPr/>
          <a:lstStyle/>
          <a:p>
            <a:endParaRPr lang="en-IL" sz="1200">
              <a:latin typeface="+mj-lt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4383144" y="3910882"/>
            <a:ext cx="3067200" cy="1818000"/>
            <a:chOff x="0" y="0"/>
            <a:chExt cx="911221" cy="533410"/>
          </a:xfrm>
          <a:solidFill>
            <a:schemeClr val="bg2"/>
          </a:solidFill>
        </p:grpSpPr>
        <p:sp>
          <p:nvSpPr>
            <p:cNvPr id="22" name="Freeform 22"/>
            <p:cNvSpPr/>
            <p:nvPr/>
          </p:nvSpPr>
          <p:spPr>
            <a:xfrm>
              <a:off x="0" y="0"/>
              <a:ext cx="911221" cy="53341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911221" cy="571510"/>
            </a:xfrm>
            <a:prstGeom prst="rect">
              <a:avLst/>
            </a:prstGeom>
            <a:grpFill/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endParaRPr sz="1200">
                <a:latin typeface="+mj-lt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840088" y="3573551"/>
            <a:ext cx="1539184" cy="624649"/>
            <a:chOff x="0" y="-38100"/>
            <a:chExt cx="1501778" cy="69487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01778" cy="656777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CCBC"/>
            </a:solidFill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812800" cy="444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endParaRPr lang="en-US" sz="1200" b="1">
                <a:solidFill>
                  <a:srgbClr val="FFFFFF"/>
                </a:solidFill>
                <a:latin typeface="+mj-lt"/>
                <a:ea typeface="Proxima Nova Bold"/>
                <a:cs typeface="Proxima Nova Bold"/>
                <a:sym typeface="Proxima Nova Bold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179739" y="3645145"/>
            <a:ext cx="1550314" cy="668668"/>
            <a:chOff x="-5019" y="0"/>
            <a:chExt cx="817819" cy="46027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5DDB78"/>
            </a:solidFill>
          </p:spPr>
          <p:txBody>
            <a:bodyPr/>
            <a:lstStyle/>
            <a:p>
              <a:endParaRPr lang="en-IL" sz="1200">
                <a:latin typeface="+mj-lt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-5019" y="15776"/>
              <a:ext cx="812800" cy="444500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  <a:spcBef>
                  <a:spcPct val="0"/>
                </a:spcBef>
              </a:pPr>
              <a:r>
                <a:rPr lang="en-US" sz="2000" b="1" cap="all" spc="30">
                  <a:solidFill>
                    <a:schemeClr val="bg1"/>
                  </a:solidFill>
                  <a:latin typeface="+mj-lt"/>
                  <a:sym typeface="Proxima Nova Bold"/>
                </a:rPr>
                <a:t>EVALUATION</a:t>
              </a:r>
              <a:endParaRPr lang="en-US" sz="1200" b="1">
                <a:solidFill>
                  <a:srgbClr val="FFFFFF"/>
                </a:solidFill>
                <a:latin typeface="+mj-lt"/>
                <a:ea typeface="Proxima Nova Bold"/>
                <a:cs typeface="Proxima Nova Bold"/>
                <a:sym typeface="Proxima Nova Bold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340801" y="2237487"/>
            <a:ext cx="2294081" cy="857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PASCAL VOC 2012 — RGB images with object labels, bounding boxes, and segmentation masks.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446923" y="2061722"/>
            <a:ext cx="3032329" cy="17359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Low-Level: Canny Edge Detection</a:t>
            </a:r>
          </a:p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Mid-Level: </a:t>
            </a:r>
            <a:r>
              <a:rPr lang="en-US" sz="1400" err="1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GrabCut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 Foreground Segmentation</a:t>
            </a:r>
          </a:p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IL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 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High Level</a:t>
            </a:r>
            <a:r>
              <a:rPr lang="he-IL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 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/</a:t>
            </a:r>
            <a:r>
              <a:rPr lang="he-IL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 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DL: Multi-Label Classification with ResNet50</a:t>
            </a:r>
            <a:br>
              <a:rPr lang="en-IL" sz="1400">
                <a:latin typeface="+mj-lt"/>
              </a:rPr>
            </a:br>
            <a:endParaRPr lang="en-US" sz="1400">
              <a:solidFill>
                <a:srgbClr val="333333"/>
              </a:solidFill>
              <a:latin typeface="+mj-lt"/>
              <a:ea typeface="Open Sans"/>
              <a:cs typeface="Open Sans"/>
              <a:sym typeface="Proxima Nova"/>
            </a:endParaRPr>
          </a:p>
          <a:p>
            <a:pPr>
              <a:lnSpc>
                <a:spcPts val="1689"/>
              </a:lnSpc>
              <a:spcBef>
                <a:spcPct val="0"/>
              </a:spcBef>
            </a:pPr>
            <a:endParaRPr lang="en-US" sz="1400">
              <a:solidFill>
                <a:srgbClr val="333333"/>
              </a:solidFill>
              <a:latin typeface="+mj-lt"/>
              <a:ea typeface="Open Sans"/>
              <a:cs typeface="Open Sans"/>
              <a:sym typeface="Proxima Nova"/>
            </a:endParaRPr>
          </a:p>
          <a:p>
            <a:pPr>
              <a:lnSpc>
                <a:spcPts val="1689"/>
              </a:lnSpc>
              <a:spcBef>
                <a:spcPct val="0"/>
              </a:spcBef>
            </a:pPr>
            <a:endParaRPr lang="en-US" sz="1400">
              <a:solidFill>
                <a:srgbClr val="333333"/>
              </a:solidFill>
              <a:latin typeface="+mj-lt"/>
              <a:ea typeface="Open Sans"/>
              <a:cs typeface="Open Sans"/>
              <a:sym typeface="Proxima Nova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340800" y="4403399"/>
            <a:ext cx="2294081" cy="6447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Salt &amp; Pepper Noise</a:t>
            </a:r>
          </a:p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Overexposure</a:t>
            </a:r>
          </a:p>
          <a:p>
            <a:pPr marL="285750" indent="-285750">
              <a:lnSpc>
                <a:spcPts val="1689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</a:rPr>
              <a:t>Motion Blur</a:t>
            </a:r>
            <a:endParaRPr lang="en-US" sz="1400">
              <a:solidFill>
                <a:srgbClr val="000000"/>
              </a:solidFill>
              <a:latin typeface="+mj-lt"/>
              <a:ea typeface="Proxima Nova"/>
              <a:cs typeface="Proxima Nova"/>
              <a:sym typeface="Proxima Nova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4655323" y="4478561"/>
            <a:ext cx="2294081" cy="10818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Task-specific metrics:</a:t>
            </a:r>
          </a:p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Edge-Map </a:t>
            </a:r>
            <a:r>
              <a:rPr lang="en-US" sz="1400" err="1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IoU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,</a:t>
            </a:r>
          </a:p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Segmentation </a:t>
            </a:r>
            <a:r>
              <a:rPr lang="en-US" sz="1400" err="1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IoU</a:t>
            </a: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,</a:t>
            </a:r>
          </a:p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Multi-Label F1 / Jaccard,</a:t>
            </a:r>
          </a:p>
          <a:p>
            <a:pPr>
              <a:lnSpc>
                <a:spcPts val="1689"/>
              </a:lnSpc>
              <a:spcBef>
                <a:spcPct val="0"/>
              </a:spcBef>
            </a:pPr>
            <a:r>
              <a:rPr lang="en-US" sz="1400">
                <a:solidFill>
                  <a:srgbClr val="333333"/>
                </a:solidFill>
                <a:latin typeface="+mj-lt"/>
                <a:ea typeface="Open Sans"/>
                <a:cs typeface="Open Sans"/>
                <a:sym typeface="Proxima Nova"/>
              </a:rPr>
              <a:t>and SNR.</a:t>
            </a:r>
          </a:p>
        </p:txBody>
      </p:sp>
      <p:sp>
        <p:nvSpPr>
          <p:cNvPr id="41" name="TextBox 83">
            <a:extLst>
              <a:ext uri="{FF2B5EF4-FFF2-40B4-BE49-F238E27FC236}">
                <a16:creationId xmlns:a16="http://schemas.microsoft.com/office/drawing/2014/main" id="{A09FB00F-3F19-356E-884F-63F42095B817}"/>
              </a:ext>
            </a:extLst>
          </p:cNvPr>
          <p:cNvSpPr txBox="1"/>
          <p:nvPr/>
        </p:nvSpPr>
        <p:spPr>
          <a:xfrm>
            <a:off x="1651000" y="392793"/>
            <a:ext cx="8890000" cy="34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kern="1200" cap="all" spc="30" baseline="0">
                <a:solidFill>
                  <a:srgbClr val="0F172A"/>
                </a:solidFill>
                <a:effectLst/>
                <a:latin typeface="+mj-lt"/>
                <a:ea typeface="+mj-ea"/>
                <a:cs typeface="+mj-cs"/>
              </a:rPr>
              <a:t>Project </a:t>
            </a:r>
            <a:r>
              <a:rPr lang="en-US" sz="3200" b="1" cap="all" spc="30">
                <a:solidFill>
                  <a:srgbClr val="0F172A"/>
                </a:solidFill>
                <a:latin typeface="+mj-lt"/>
                <a:ea typeface="+mj-ea"/>
                <a:cs typeface="+mj-cs"/>
              </a:rPr>
              <a:t>Setup</a:t>
            </a:r>
            <a:endParaRPr lang="en-US" sz="2800" b="1" spc="42">
              <a:solidFill>
                <a:srgbClr val="333333"/>
              </a:solidFill>
              <a:latin typeface="+mj-lt"/>
              <a:ea typeface="Inter Bold"/>
              <a:cs typeface="Inter Bold"/>
              <a:sym typeface="Inter Bold"/>
            </a:endParaRPr>
          </a:p>
        </p:txBody>
      </p:sp>
      <p:sp>
        <p:nvSpPr>
          <p:cNvPr id="43" name="TextBox 84">
            <a:extLst>
              <a:ext uri="{FF2B5EF4-FFF2-40B4-BE49-F238E27FC236}">
                <a16:creationId xmlns:a16="http://schemas.microsoft.com/office/drawing/2014/main" id="{C7E4F1BF-0F2F-3924-2ADF-94AD3B5A8461}"/>
              </a:ext>
            </a:extLst>
          </p:cNvPr>
          <p:cNvSpPr txBox="1"/>
          <p:nvPr/>
        </p:nvSpPr>
        <p:spPr>
          <a:xfrm>
            <a:off x="824949" y="807332"/>
            <a:ext cx="10443200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Dataset, vision tasks, distortions, and evaluation metrics selected for the robustness evaluation.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E7B2AC0-1FA7-D218-8A4E-E910D4397D3F}"/>
              </a:ext>
            </a:extLst>
          </p:cNvPr>
          <p:cNvSpPr txBox="1"/>
          <p:nvPr/>
        </p:nvSpPr>
        <p:spPr>
          <a:xfrm>
            <a:off x="-1327916" y="3812501"/>
            <a:ext cx="5875192" cy="3153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2000" b="1" cap="all" spc="30">
                <a:solidFill>
                  <a:schemeClr val="bg1"/>
                </a:solidFill>
                <a:latin typeface="+mj-lt"/>
                <a:ea typeface="+mj-ea"/>
                <a:cs typeface="+mj-cs"/>
                <a:sym typeface="Proxima Nova Bold"/>
              </a:rPr>
              <a:t>DISTORTIONS</a:t>
            </a:r>
            <a:endParaRPr lang="en-US" sz="1800" b="1" cap="all" spc="30">
              <a:solidFill>
                <a:schemeClr val="bg1"/>
              </a:solidFill>
              <a:latin typeface="+mj-lt"/>
              <a:ea typeface="+mj-ea"/>
              <a:cs typeface="+mj-cs"/>
              <a:sym typeface="Proxima Nova Bold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C42FE27-C131-5099-4F94-1AA7DA5675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4891" y="1865216"/>
            <a:ext cx="4151199" cy="33028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1F5DE88B-A665-DC5C-23E1-0705294156DF}"/>
              </a:ext>
            </a:extLst>
          </p:cNvPr>
          <p:cNvSpPr txBox="1"/>
          <p:nvPr/>
        </p:nvSpPr>
        <p:spPr>
          <a:xfrm>
            <a:off x="1651000" y="392793"/>
            <a:ext cx="8890000" cy="34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DATASET &amp; ANNOTATIONS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1422A329-56DE-6409-9077-ACAC6FE90377}"/>
              </a:ext>
            </a:extLst>
          </p:cNvPr>
          <p:cNvSpPr txBox="1"/>
          <p:nvPr/>
        </p:nvSpPr>
        <p:spPr>
          <a:xfrm>
            <a:off x="600093" y="779266"/>
            <a:ext cx="10737786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PASCAL VOC 2012 provides the labels and ground truth needed for classification and segmentation-based evaluation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50FAA73-7100-0495-28CD-8FCE7B3B40D8}"/>
              </a:ext>
            </a:extLst>
          </p:cNvPr>
          <p:cNvSpPr txBox="1"/>
          <p:nvPr/>
        </p:nvSpPr>
        <p:spPr>
          <a:xfrm>
            <a:off x="1435859" y="1113516"/>
            <a:ext cx="1927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b="1">
                <a:latin typeface="+mj-lt"/>
              </a:rPr>
              <a:t>Class Distribution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E00A3B-C4C1-E658-9936-B39C1C614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787" y="1533875"/>
            <a:ext cx="4275268" cy="23695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554BB1-954C-A348-3FF2-FEB18C5A0B9B}"/>
              </a:ext>
            </a:extLst>
          </p:cNvPr>
          <p:cNvSpPr txBox="1"/>
          <p:nvPr/>
        </p:nvSpPr>
        <p:spPr>
          <a:xfrm>
            <a:off x="-460598" y="3954433"/>
            <a:ext cx="572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Object-instance frequency per class.</a:t>
            </a:r>
          </a:p>
          <a:p>
            <a:pPr algn="ctr"/>
            <a:r>
              <a:rPr lang="en-US">
                <a:latin typeface="+mj-lt"/>
              </a:rPr>
              <a:t>Supports per-class performance analysis.</a:t>
            </a:r>
            <a:endParaRPr lang="en-IL">
              <a:latin typeface="+mj-lt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93A17-AE9B-CE96-BB36-F7178A448351}"/>
              </a:ext>
            </a:extLst>
          </p:cNvPr>
          <p:cNvSpPr txBox="1"/>
          <p:nvPr/>
        </p:nvSpPr>
        <p:spPr>
          <a:xfrm>
            <a:off x="6922725" y="1041101"/>
            <a:ext cx="2762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+mj-lt"/>
              </a:rPr>
              <a:t>Segmentation Ground Truth</a:t>
            </a:r>
            <a:endParaRPr lang="en-IL" b="1"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C96422B-BD3E-EBA3-6ACA-412CAF6CCD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8986" y="1371372"/>
            <a:ext cx="4878290" cy="40950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F107C97-3E74-DA74-5661-638697E64B92}"/>
              </a:ext>
            </a:extLst>
          </p:cNvPr>
          <p:cNvSpPr txBox="1"/>
          <p:nvPr/>
        </p:nvSpPr>
        <p:spPr>
          <a:xfrm>
            <a:off x="5548113" y="5469906"/>
            <a:ext cx="57200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VOC masks are converted to binary masks</a:t>
            </a:r>
          </a:p>
          <a:p>
            <a:pPr algn="ctr"/>
            <a:r>
              <a:rPr lang="en-US">
                <a:latin typeface="+mj-lt"/>
              </a:rPr>
              <a:t>for </a:t>
            </a:r>
            <a:r>
              <a:rPr lang="en-US" err="1">
                <a:latin typeface="+mj-lt"/>
              </a:rPr>
              <a:t>GrabCut</a:t>
            </a:r>
            <a:r>
              <a:rPr lang="en-US">
                <a:latin typeface="+mj-lt"/>
              </a:rPr>
              <a:t> </a:t>
            </a:r>
            <a:r>
              <a:rPr lang="en-US" err="1">
                <a:latin typeface="+mj-lt"/>
              </a:rPr>
              <a:t>IoU</a:t>
            </a:r>
            <a:r>
              <a:rPr lang="en-US">
                <a:latin typeface="+mj-lt"/>
              </a:rPr>
              <a:t> evaluation.</a:t>
            </a:r>
            <a:endParaRPr lang="en-IL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BF39847-5A36-539F-C96E-382077F2AEE0}"/>
              </a:ext>
            </a:extLst>
          </p:cNvPr>
          <p:cNvSpPr txBox="1"/>
          <p:nvPr/>
        </p:nvSpPr>
        <p:spPr>
          <a:xfrm>
            <a:off x="261787" y="4855178"/>
            <a:ext cx="4444181" cy="937894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The dataset supports both multi-label classification and segmentation-based evaluation.</a:t>
            </a:r>
            <a:endParaRPr lang="en-I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954811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06F87D-0024-B988-57D4-22EE13986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A0FD5270-085C-F36E-D687-F18314DB9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7B2354-5624-604A-EEC9-C706518B38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6" r="9091" b="73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C288A863-22AD-86D3-127B-EC1B3A465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5E0999-17CF-C2F9-801F-BFF86F10A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187854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6800" b="1"/>
              <a:t>CLEAN IMAGE BASELINE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39EC00-D2A6-7745-7F41-EA6DE8F54B25}"/>
              </a:ext>
            </a:extLst>
          </p:cNvPr>
          <p:cNvSpPr txBox="1"/>
          <p:nvPr/>
        </p:nvSpPr>
        <p:spPr>
          <a:xfrm>
            <a:off x="313786" y="5050632"/>
            <a:ext cx="5696596" cy="1129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2200" dirty="0">
                <a:solidFill>
                  <a:srgbClr val="FFFFFF"/>
                </a:solidFill>
                <a:latin typeface="Univers Condensed"/>
              </a:rPr>
              <a:t>Evaluating Canny, </a:t>
            </a:r>
            <a:r>
              <a:rPr lang="en-US" sz="2200" dirty="0" err="1">
                <a:solidFill>
                  <a:srgbClr val="FFFFFF"/>
                </a:solidFill>
                <a:latin typeface="Univers Condensed"/>
              </a:rPr>
              <a:t>GrabCut</a:t>
            </a:r>
            <a:r>
              <a:rPr lang="en-US" sz="2200" dirty="0">
                <a:solidFill>
                  <a:srgbClr val="FFFFFF"/>
                </a:solidFill>
                <a:latin typeface="Univers Condensed"/>
              </a:rPr>
              <a:t>, and ResNet50 on clean PASCAL VOC images.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6226AD5-2497-D0D3-3184-B09DFE038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4939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46B2FDF2-6F70-4DCD-0FD8-1B9366848F73}"/>
              </a:ext>
            </a:extLst>
          </p:cNvPr>
          <p:cNvSpPr txBox="1"/>
          <p:nvPr/>
        </p:nvSpPr>
        <p:spPr>
          <a:xfrm>
            <a:off x="1651000" y="392793"/>
            <a:ext cx="8890000" cy="34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CLEAN BASELINE: QUANTITATIVE RESULTS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DD4EF2BA-0CB7-6E29-9988-21D13FB3D7AF}"/>
              </a:ext>
            </a:extLst>
          </p:cNvPr>
          <p:cNvSpPr txBox="1"/>
          <p:nvPr/>
        </p:nvSpPr>
        <p:spPr>
          <a:xfrm>
            <a:off x="300046" y="770213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Each vision task was evaluated on clean PASCAL VOC images to establish reference performance.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95E9C7E-3AF4-61F9-5DC9-0028D88025D3}"/>
              </a:ext>
            </a:extLst>
          </p:cNvPr>
          <p:cNvSpPr/>
          <p:nvPr/>
        </p:nvSpPr>
        <p:spPr>
          <a:xfrm>
            <a:off x="1534815" y="102302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2B6CB0"/>
                </a:solidFill>
                <a:latin typeface="+mj-lt"/>
              </a:rPr>
              <a:t>9.68%</a:t>
            </a:r>
            <a:endParaRPr lang="en-US" sz="2800">
              <a:latin typeface="+mj-lt"/>
            </a:endParaRPr>
          </a:p>
        </p:txBody>
      </p:sp>
      <p:sp>
        <p:nvSpPr>
          <p:cNvPr id="19" name="Text 4">
            <a:extLst>
              <a:ext uri="{FF2B5EF4-FFF2-40B4-BE49-F238E27FC236}">
                <a16:creationId xmlns:a16="http://schemas.microsoft.com/office/drawing/2014/main" id="{971C4D40-24E6-F679-20EF-4AF71135AC7D}"/>
              </a:ext>
            </a:extLst>
          </p:cNvPr>
          <p:cNvSpPr/>
          <p:nvPr/>
        </p:nvSpPr>
        <p:spPr>
          <a:xfrm>
            <a:off x="1534815" y="128839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+mj-lt"/>
              </a:rPr>
              <a:t>Canny Mean Edge Density</a:t>
            </a:r>
            <a:endParaRPr lang="en-US" sz="1400">
              <a:latin typeface="+mj-lt"/>
            </a:endParaRPr>
          </a:p>
        </p:txBody>
      </p:sp>
      <p:sp>
        <p:nvSpPr>
          <p:cNvPr id="21" name="Text 5">
            <a:extLst>
              <a:ext uri="{FF2B5EF4-FFF2-40B4-BE49-F238E27FC236}">
                <a16:creationId xmlns:a16="http://schemas.microsoft.com/office/drawing/2014/main" id="{7BE87461-0AE1-CF2B-8C19-304975136847}"/>
              </a:ext>
            </a:extLst>
          </p:cNvPr>
          <p:cNvSpPr/>
          <p:nvPr/>
        </p:nvSpPr>
        <p:spPr>
          <a:xfrm>
            <a:off x="4506615" y="102302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16A34A"/>
                </a:solidFill>
                <a:latin typeface="+mj-lt"/>
              </a:rPr>
              <a:t>65.96%</a:t>
            </a:r>
            <a:endParaRPr lang="en-US" sz="2800">
              <a:latin typeface="+mj-lt"/>
            </a:endParaRPr>
          </a:p>
        </p:txBody>
      </p:sp>
      <p:sp>
        <p:nvSpPr>
          <p:cNvPr id="23" name="Text 6">
            <a:extLst>
              <a:ext uri="{FF2B5EF4-FFF2-40B4-BE49-F238E27FC236}">
                <a16:creationId xmlns:a16="http://schemas.microsoft.com/office/drawing/2014/main" id="{2E21CF1F-41FF-14F2-448D-DC668B9E22F1}"/>
              </a:ext>
            </a:extLst>
          </p:cNvPr>
          <p:cNvSpPr/>
          <p:nvPr/>
        </p:nvSpPr>
        <p:spPr>
          <a:xfrm>
            <a:off x="4506615" y="128839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+mj-lt"/>
              </a:rPr>
              <a:t>GrabCut Mean Segmentation IoU</a:t>
            </a:r>
            <a:endParaRPr lang="en-US" sz="1400">
              <a:latin typeface="+mj-lt"/>
            </a:endParaRPr>
          </a:p>
        </p:txBody>
      </p:sp>
      <p:sp>
        <p:nvSpPr>
          <p:cNvPr id="25" name="Text 7">
            <a:extLst>
              <a:ext uri="{FF2B5EF4-FFF2-40B4-BE49-F238E27FC236}">
                <a16:creationId xmlns:a16="http://schemas.microsoft.com/office/drawing/2014/main" id="{BCF2C910-23FF-B1DC-7283-A971744BCDD4}"/>
              </a:ext>
            </a:extLst>
          </p:cNvPr>
          <p:cNvSpPr/>
          <p:nvPr/>
        </p:nvSpPr>
        <p:spPr>
          <a:xfrm>
            <a:off x="7478415" y="1023025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>
                <a:solidFill>
                  <a:srgbClr val="F97316"/>
                </a:solidFill>
                <a:latin typeface="+mj-lt"/>
              </a:rPr>
              <a:t>57.44%</a:t>
            </a:r>
            <a:endParaRPr lang="en-US" sz="2800">
              <a:latin typeface="+mj-lt"/>
            </a:endParaRPr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ADF3CBD-8C8E-A018-1730-F828938159E6}"/>
              </a:ext>
            </a:extLst>
          </p:cNvPr>
          <p:cNvSpPr/>
          <p:nvPr/>
        </p:nvSpPr>
        <p:spPr>
          <a:xfrm>
            <a:off x="7478415" y="1288398"/>
            <a:ext cx="274320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>
                <a:solidFill>
                  <a:srgbClr val="64748B"/>
                </a:solidFill>
                <a:latin typeface="+mj-lt"/>
              </a:rPr>
              <a:t>ResNet50 Mean Jaccard / Label IoU</a:t>
            </a:r>
            <a:endParaRPr lang="en-US" sz="1400">
              <a:latin typeface="+mj-lt"/>
            </a:endParaRPr>
          </a:p>
        </p:txBody>
      </p:sp>
      <p:pic>
        <p:nvPicPr>
          <p:cNvPr id="29" name="Image 0">
            <a:extLst>
              <a:ext uri="{FF2B5EF4-FFF2-40B4-BE49-F238E27FC236}">
                <a16:creationId xmlns:a16="http://schemas.microsoft.com/office/drawing/2014/main" id="{4FD49FD4-099C-AD6D-0037-394AA7E8A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02191" y="2095442"/>
            <a:ext cx="4364681" cy="25967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1" name="Image 1" descr="/mnt/data/deck_assets/02_clean_baseline_cell4_out1.png">
            <a:extLst>
              <a:ext uri="{FF2B5EF4-FFF2-40B4-BE49-F238E27FC236}">
                <a16:creationId xmlns:a16="http://schemas.microsoft.com/office/drawing/2014/main" id="{11E71BA4-6A33-6048-EE1C-ED288E9B64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94" y="1775172"/>
            <a:ext cx="3888441" cy="307159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92DA76D-F924-E210-A337-5B12B7ECDD7E}"/>
              </a:ext>
            </a:extLst>
          </p:cNvPr>
          <p:cNvSpPr txBox="1"/>
          <p:nvPr/>
        </p:nvSpPr>
        <p:spPr>
          <a:xfrm>
            <a:off x="492101" y="4890870"/>
            <a:ext cx="4542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+mj-lt"/>
              </a:rPr>
              <a:t>Note: Metrics are task-specific and should be interpreted separately.</a:t>
            </a:r>
            <a:endParaRPr lang="he-IL" sz="1200">
              <a:latin typeface="+mj-lt"/>
            </a:endParaRPr>
          </a:p>
          <a:p>
            <a:pPr algn="ctr"/>
            <a:r>
              <a:rPr lang="en-US" sz="1200">
                <a:latin typeface="+mj-lt"/>
              </a:rPr>
              <a:t>Canny baseline uses edge density; distorted/restored results use Edge-Map </a:t>
            </a:r>
            <a:r>
              <a:rPr lang="en-US" sz="1200" err="1">
                <a:latin typeface="+mj-lt"/>
              </a:rPr>
              <a:t>IoU</a:t>
            </a:r>
            <a:r>
              <a:rPr lang="en-US" sz="1200">
                <a:latin typeface="+mj-lt"/>
              </a:rPr>
              <a:t> vs. the clean Canny reference.</a:t>
            </a:r>
            <a:endParaRPr lang="en-IL" sz="1200">
              <a:latin typeface="+mj-lt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4F09269-0FB9-BA40-9AB6-03ECD6CCE281}"/>
              </a:ext>
            </a:extLst>
          </p:cNvPr>
          <p:cNvSpPr txBox="1"/>
          <p:nvPr/>
        </p:nvSpPr>
        <p:spPr>
          <a:xfrm>
            <a:off x="870153" y="5650309"/>
            <a:ext cx="10451691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Clean baseline = reference for distorted, restored, and fine-tuned results.</a:t>
            </a:r>
            <a:endParaRPr lang="en-IL">
              <a:latin typeface="+mj-lt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CF1CC04-071F-F9E9-6B8D-3854BF37ED9D}"/>
              </a:ext>
            </a:extLst>
          </p:cNvPr>
          <p:cNvSpPr txBox="1"/>
          <p:nvPr/>
        </p:nvSpPr>
        <p:spPr>
          <a:xfrm>
            <a:off x="5878215" y="4922065"/>
            <a:ext cx="6302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latin typeface="+mj-lt"/>
              </a:rPr>
              <a:t>Training loss decreases and validation loss stabilizes,</a:t>
            </a:r>
          </a:p>
          <a:p>
            <a:pPr algn="ctr"/>
            <a:r>
              <a:rPr lang="en-US" sz="1600">
                <a:latin typeface="+mj-lt"/>
              </a:rPr>
              <a:t>supporting the ResNet50 clean-image baseline.</a:t>
            </a:r>
            <a:endParaRPr lang="en-IL" sz="1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0483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7BF748-A869-E03C-F83D-D9F7A736D72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8" r="-46" b="23972"/>
          <a:stretch>
            <a:fillRect/>
          </a:stretch>
        </p:blipFill>
        <p:spPr>
          <a:xfrm>
            <a:off x="300046" y="1468728"/>
            <a:ext cx="6175080" cy="30886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Image 1" descr="/mnt/data/pdf_extracted_images/p8_img1.png">
            <a:extLst>
              <a:ext uri="{FF2B5EF4-FFF2-40B4-BE49-F238E27FC236}">
                <a16:creationId xmlns:a16="http://schemas.microsoft.com/office/drawing/2014/main" id="{3623A6C1-6A34-A665-454C-391CAA630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6483" y="1430105"/>
            <a:ext cx="3160066" cy="1554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Image 2" descr="/mnt/data/pdf_extracted_images/p8_img2.png">
            <a:extLst>
              <a:ext uri="{FF2B5EF4-FFF2-40B4-BE49-F238E27FC236}">
                <a16:creationId xmlns:a16="http://schemas.microsoft.com/office/drawing/2014/main" id="{65EBDE5D-8E22-2A89-9779-3FDFABBC1D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6831" y="3097918"/>
            <a:ext cx="3779707" cy="1554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Image 3" descr="/mnt/data/pdf_extracted_images/p9_img1.png">
            <a:extLst>
              <a:ext uri="{FF2B5EF4-FFF2-40B4-BE49-F238E27FC236}">
                <a16:creationId xmlns:a16="http://schemas.microsoft.com/office/drawing/2014/main" id="{8E757496-FD66-2F54-67AF-9E0D897B84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6484" y="4765731"/>
            <a:ext cx="3160066" cy="15544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3" name="TextBox 83">
            <a:extLst>
              <a:ext uri="{FF2B5EF4-FFF2-40B4-BE49-F238E27FC236}">
                <a16:creationId xmlns:a16="http://schemas.microsoft.com/office/drawing/2014/main" id="{20F99072-2A15-24D7-51FA-D3201DC6A2C1}"/>
              </a:ext>
            </a:extLst>
          </p:cNvPr>
          <p:cNvSpPr txBox="1"/>
          <p:nvPr/>
        </p:nvSpPr>
        <p:spPr>
          <a:xfrm>
            <a:off x="1124715" y="402796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CLEAN BASELINE: VISUAL &amp; PER-CLASS RESULTS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5D1CC76C-057D-C6F8-7A8F-0F699958F1E2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Clean-image outputs and per-class performance highlight task behavior before distortions.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8024342-1E3F-193F-A66F-87AD35749B64}"/>
              </a:ext>
            </a:extLst>
          </p:cNvPr>
          <p:cNvSpPr txBox="1"/>
          <p:nvPr/>
        </p:nvSpPr>
        <p:spPr>
          <a:xfrm>
            <a:off x="185629" y="10993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b="1">
                <a:latin typeface="+mj-lt"/>
              </a:rPr>
              <a:t>Qualitative Task Outputs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81D83B-D07B-8EDA-55C6-28CE10230024}"/>
              </a:ext>
            </a:extLst>
          </p:cNvPr>
          <p:cNvSpPr txBox="1"/>
          <p:nvPr/>
        </p:nvSpPr>
        <p:spPr>
          <a:xfrm>
            <a:off x="-87512" y="4723318"/>
            <a:ext cx="714619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300">
                <a:latin typeface="+mj-lt"/>
              </a:rPr>
              <a:t>Original image → Canny edges → </a:t>
            </a:r>
            <a:r>
              <a:rPr lang="en-US" sz="1300" err="1">
                <a:latin typeface="+mj-lt"/>
              </a:rPr>
              <a:t>GrabCut</a:t>
            </a:r>
            <a:r>
              <a:rPr lang="en-US" sz="1300">
                <a:latin typeface="+mj-lt"/>
              </a:rPr>
              <a:t> output → ResNet50 prediction → Ground-truth mask</a:t>
            </a:r>
            <a:endParaRPr lang="en-IL" sz="1300">
              <a:latin typeface="+mj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415133-76E8-89E0-2ECD-AD078C6EA618}"/>
              </a:ext>
            </a:extLst>
          </p:cNvPr>
          <p:cNvSpPr txBox="1"/>
          <p:nvPr/>
        </p:nvSpPr>
        <p:spPr>
          <a:xfrm>
            <a:off x="7058684" y="105097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1600" b="1">
                <a:latin typeface="+mj-lt"/>
              </a:rPr>
              <a:t>Per-Class Baseline Analysis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505147D-743A-1584-3BEC-9D9218470BA8}"/>
              </a:ext>
            </a:extLst>
          </p:cNvPr>
          <p:cNvSpPr txBox="1"/>
          <p:nvPr/>
        </p:nvSpPr>
        <p:spPr>
          <a:xfrm>
            <a:off x="6475126" y="3174689"/>
            <a:ext cx="1824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latin typeface="+mj-lt"/>
              </a:rPr>
              <a:t>Per-class analysis reveals category-level differences.</a:t>
            </a:r>
            <a:endParaRPr lang="en-IL" sz="1600">
              <a:latin typeface="+mj-lt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63EA3F-2D23-78CD-45D5-D2E4D547DC6D}"/>
              </a:ext>
            </a:extLst>
          </p:cNvPr>
          <p:cNvSpPr txBox="1"/>
          <p:nvPr/>
        </p:nvSpPr>
        <p:spPr>
          <a:xfrm>
            <a:off x="185629" y="5277499"/>
            <a:ext cx="7744884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Clear object boundaries improve performance, while small or visually complex objects are more challenging.</a:t>
            </a:r>
            <a:endParaRPr lang="en-I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13540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1501CE-98AB-1EEC-5ADC-8EC91197B1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BAEE6B72-61C1-8F54-09D8-64F4CCC5F3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4C52B2-390F-612B-5715-47F2BE673D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6" r="9091" b="73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5052C61-C849-AB64-769A-E1779E72B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7991A6-B26E-F2EC-E633-6BC43CBD3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187854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6800" b="1"/>
              <a:t>ROBUSTNESS UNDER DISTORTIONS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4B92D1-E1CC-9E1A-F480-5337DE392518}"/>
              </a:ext>
            </a:extLst>
          </p:cNvPr>
          <p:cNvSpPr txBox="1"/>
          <p:nvPr/>
        </p:nvSpPr>
        <p:spPr>
          <a:xfrm>
            <a:off x="313786" y="5050632"/>
            <a:ext cx="5696596" cy="1129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2200" dirty="0">
                <a:solidFill>
                  <a:srgbClr val="FFFFFF"/>
                </a:solidFill>
                <a:latin typeface="Univers Condensed"/>
              </a:rPr>
              <a:t>Testing how Salt &amp; Pepper noise, Overexposure, and Motion Blur affect each vision task.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3E97E0C6-DA1C-ACF1-A1CC-DE6F1940B2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03119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1346F3F9-8B5A-98A3-B131-45E23955DBE1}"/>
              </a:ext>
            </a:extLst>
          </p:cNvPr>
          <p:cNvSpPr txBox="1"/>
          <p:nvPr/>
        </p:nvSpPr>
        <p:spPr>
          <a:xfrm>
            <a:off x="1124715" y="402796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DISTORTION SETUP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01F3E507-3E02-FC1C-709D-79123C6173C1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Clean images were distorted using three degradation types at multiple severity levels to test robustness.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0E56397-1451-72A0-8087-DDE94C59D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98"/>
          <a:stretch>
            <a:fillRect/>
          </a:stretch>
        </p:blipFill>
        <p:spPr>
          <a:xfrm>
            <a:off x="76200" y="1166802"/>
            <a:ext cx="9300732" cy="39610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F89D2D08-993D-DF87-9219-7E1E92B3271F}"/>
              </a:ext>
            </a:extLst>
          </p:cNvPr>
          <p:cNvGrpSpPr/>
          <p:nvPr/>
        </p:nvGrpSpPr>
        <p:grpSpPr>
          <a:xfrm>
            <a:off x="9534466" y="1230506"/>
            <a:ext cx="1895532" cy="1337660"/>
            <a:chOff x="9262956" y="1245770"/>
            <a:chExt cx="2525198" cy="1562195"/>
          </a:xfrm>
        </p:grpSpPr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id="{DA11EEAD-E06A-60EC-A73B-FD7C859AB494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84BC8CC3-C7D0-CEA7-48DC-F0D81D43C9AC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A63D0DD3-C31B-A959-8C18-F9730AA6647C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3DE2A01B-1744-7175-FE3C-6D1672CDE5D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21" name="Group 10">
              <a:extLst>
                <a:ext uri="{FF2B5EF4-FFF2-40B4-BE49-F238E27FC236}">
                  <a16:creationId xmlns:a16="http://schemas.microsoft.com/office/drawing/2014/main" id="{FDA08375-C468-E510-7ADA-6DE2E73EF0D6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D804B3DF-4CD7-0257-DEBB-CF8CA7BDE63B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6607A415-F02C-7C9E-6DBB-FD34B8E506A9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Salt</a:t>
                </a:r>
                <a:r>
                  <a:rPr lang="he-IL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&amp;</a:t>
                </a:r>
                <a:r>
                  <a:rPr lang="he-IL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pepper</a:t>
                </a: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03AF337-AA66-BA06-FB14-F1F18998C880}"/>
              </a:ext>
            </a:extLst>
          </p:cNvPr>
          <p:cNvGrpSpPr/>
          <p:nvPr/>
        </p:nvGrpSpPr>
        <p:grpSpPr>
          <a:xfrm>
            <a:off x="9534466" y="2598450"/>
            <a:ext cx="1895532" cy="1337660"/>
            <a:chOff x="9262956" y="1245770"/>
            <a:chExt cx="2525198" cy="1562195"/>
          </a:xfrm>
        </p:grpSpPr>
        <p:sp>
          <p:nvSpPr>
            <p:cNvPr id="50" name="Freeform 2">
              <a:extLst>
                <a:ext uri="{FF2B5EF4-FFF2-40B4-BE49-F238E27FC236}">
                  <a16:creationId xmlns:a16="http://schemas.microsoft.com/office/drawing/2014/main" id="{7E117CE5-3E3C-8243-4B8E-045B052EC9CD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1" name="Group 3">
              <a:extLst>
                <a:ext uri="{FF2B5EF4-FFF2-40B4-BE49-F238E27FC236}">
                  <a16:creationId xmlns:a16="http://schemas.microsoft.com/office/drawing/2014/main" id="{D19ED521-310E-FFD3-9E72-EC35C6C8BA74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55" name="Freeform 4">
                <a:extLst>
                  <a:ext uri="{FF2B5EF4-FFF2-40B4-BE49-F238E27FC236}">
                    <a16:creationId xmlns:a16="http://schemas.microsoft.com/office/drawing/2014/main" id="{1F9F52EF-BBFA-7840-2486-D8A0CA265DF8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6" name="TextBox 5">
                <a:extLst>
                  <a:ext uri="{FF2B5EF4-FFF2-40B4-BE49-F238E27FC236}">
                    <a16:creationId xmlns:a16="http://schemas.microsoft.com/office/drawing/2014/main" id="{BD214EBD-F4AE-730B-860A-EB04878A622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52" name="Group 10">
              <a:extLst>
                <a:ext uri="{FF2B5EF4-FFF2-40B4-BE49-F238E27FC236}">
                  <a16:creationId xmlns:a16="http://schemas.microsoft.com/office/drawing/2014/main" id="{48EA9871-DDAB-4160-7EFF-75FE4A19874A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EE1CB601-F55A-EDAF-8B91-48CB3040FC7C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4" name="TextBox 12">
                <a:extLst>
                  <a:ext uri="{FF2B5EF4-FFF2-40B4-BE49-F238E27FC236}">
                    <a16:creationId xmlns:a16="http://schemas.microsoft.com/office/drawing/2014/main" id="{C64C4A21-5C56-2079-D370-20F4A7F52EE0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Overexposure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783CD0D7-CD81-8053-CD16-0BEB363509A4}"/>
              </a:ext>
            </a:extLst>
          </p:cNvPr>
          <p:cNvGrpSpPr/>
          <p:nvPr/>
        </p:nvGrpSpPr>
        <p:grpSpPr>
          <a:xfrm>
            <a:off x="9554714" y="3948034"/>
            <a:ext cx="1895532" cy="1337660"/>
            <a:chOff x="9262956" y="1245770"/>
            <a:chExt cx="2525198" cy="1562195"/>
          </a:xfrm>
        </p:grpSpPr>
        <p:sp>
          <p:nvSpPr>
            <p:cNvPr id="58" name="Freeform 2">
              <a:extLst>
                <a:ext uri="{FF2B5EF4-FFF2-40B4-BE49-F238E27FC236}">
                  <a16:creationId xmlns:a16="http://schemas.microsoft.com/office/drawing/2014/main" id="{A4E6D032-9278-ADFC-E0EF-B052831701CC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9" name="Group 3">
              <a:extLst>
                <a:ext uri="{FF2B5EF4-FFF2-40B4-BE49-F238E27FC236}">
                  <a16:creationId xmlns:a16="http://schemas.microsoft.com/office/drawing/2014/main" id="{7C18B025-AEFF-BFFA-2287-B537ED82C50C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63" name="Freeform 4">
                <a:extLst>
                  <a:ext uri="{FF2B5EF4-FFF2-40B4-BE49-F238E27FC236}">
                    <a16:creationId xmlns:a16="http://schemas.microsoft.com/office/drawing/2014/main" id="{B979DFE1-562D-F5D2-15AB-EFB649AF983F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25E0A5FF-0D35-765B-D1B4-40F185422A5B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60" name="Group 10">
              <a:extLst>
                <a:ext uri="{FF2B5EF4-FFF2-40B4-BE49-F238E27FC236}">
                  <a16:creationId xmlns:a16="http://schemas.microsoft.com/office/drawing/2014/main" id="{BD18B3A7-ECEC-BFC6-1742-6C57ED8EA317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E61335E3-19C3-D335-852F-2B679B2F24C4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507E1B6C-A0F5-D1E5-0F5F-93D5F905E71F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Motion Blur</a:t>
                </a:r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2B331CFA-E5D7-0E67-551A-78DA3F5A98AC}"/>
              </a:ext>
            </a:extLst>
          </p:cNvPr>
          <p:cNvSpPr txBox="1"/>
          <p:nvPr/>
        </p:nvSpPr>
        <p:spPr>
          <a:xfrm>
            <a:off x="9798356" y="1628287"/>
            <a:ext cx="1367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+mj-lt"/>
              </a:rPr>
              <a:t>Random black/white pixels.</a:t>
            </a:r>
            <a:endParaRPr lang="he-IL" sz="1050">
              <a:latin typeface="+mj-lt"/>
            </a:endParaRPr>
          </a:p>
          <a:p>
            <a:pPr algn="ctr"/>
            <a:r>
              <a:rPr lang="en-US" sz="1050">
                <a:latin typeface="+mj-lt"/>
              </a:rPr>
              <a:t>Creates false edges and noisy regions.</a:t>
            </a:r>
            <a:endParaRPr lang="en-IL" sz="1050"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D4C1E1-59BC-B1B3-1CD3-9B8D3FF025E0}"/>
              </a:ext>
            </a:extLst>
          </p:cNvPr>
          <p:cNvSpPr txBox="1"/>
          <p:nvPr/>
        </p:nvSpPr>
        <p:spPr>
          <a:xfrm>
            <a:off x="9813179" y="3076451"/>
            <a:ext cx="13677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+mj-lt"/>
              </a:rPr>
              <a:t>Increased brightness.</a:t>
            </a:r>
          </a:p>
          <a:p>
            <a:pPr algn="ctr"/>
            <a:r>
              <a:rPr lang="en-US" sz="1050">
                <a:latin typeface="+mj-lt"/>
              </a:rPr>
              <a:t>Causes saturation and loss of detail.</a:t>
            </a:r>
            <a:endParaRPr lang="en-IL" sz="105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41AAFE-BC1C-64D1-5149-0E273A2912F7}"/>
              </a:ext>
            </a:extLst>
          </p:cNvPr>
          <p:cNvSpPr txBox="1"/>
          <p:nvPr/>
        </p:nvSpPr>
        <p:spPr>
          <a:xfrm>
            <a:off x="9845040" y="4412107"/>
            <a:ext cx="1367752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>
                <a:latin typeface="+mj-lt"/>
              </a:rPr>
              <a:t>Directional blur.</a:t>
            </a:r>
          </a:p>
          <a:p>
            <a:pPr algn="ctr"/>
            <a:r>
              <a:rPr lang="en-US" sz="1050">
                <a:latin typeface="+mj-lt"/>
              </a:rPr>
              <a:t>Removes sharp edges and boundaries.</a:t>
            </a:r>
            <a:endParaRPr lang="en-IL" sz="105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B56E05-5097-325B-5D25-2BDF1C69B9EC}"/>
              </a:ext>
            </a:extLst>
          </p:cNvPr>
          <p:cNvSpPr txBox="1"/>
          <p:nvPr/>
        </p:nvSpPr>
        <p:spPr>
          <a:xfrm>
            <a:off x="1562100" y="5506532"/>
            <a:ext cx="547116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Lower SNR indicates stronger image degradation.</a:t>
            </a:r>
            <a:endParaRPr lang="en-IL">
              <a:latin typeface="+mj-lt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459E670-9020-9FD9-029E-5E40A4F2FDDA}"/>
              </a:ext>
            </a:extLst>
          </p:cNvPr>
          <p:cNvGrpSpPr/>
          <p:nvPr/>
        </p:nvGrpSpPr>
        <p:grpSpPr>
          <a:xfrm>
            <a:off x="10418166" y="997626"/>
            <a:ext cx="1032080" cy="462978"/>
            <a:chOff x="10742055" y="1447636"/>
            <a:chExt cx="1032080" cy="462978"/>
          </a:xfrm>
        </p:grpSpPr>
        <p:sp>
          <p:nvSpPr>
            <p:cNvPr id="73" name="Rounded Rectangle 30">
              <a:extLst>
                <a:ext uri="{FF2B5EF4-FFF2-40B4-BE49-F238E27FC236}">
                  <a16:creationId xmlns:a16="http://schemas.microsoft.com/office/drawing/2014/main" id="{E5DE189D-8921-CE98-321A-92668ED35070}"/>
                </a:ext>
              </a:extLst>
            </p:cNvPr>
            <p:cNvSpPr/>
            <p:nvPr/>
          </p:nvSpPr>
          <p:spPr>
            <a:xfrm>
              <a:off x="10742055" y="1545256"/>
              <a:ext cx="253025" cy="163657"/>
            </a:xfrm>
            <a:prstGeom prst="round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D956EA14-1C35-2EAE-071E-CF700496DAD9}"/>
                </a:ext>
              </a:extLst>
            </p:cNvPr>
            <p:cNvSpPr/>
            <p:nvPr/>
          </p:nvSpPr>
          <p:spPr>
            <a:xfrm>
              <a:off x="10791254" y="1504341"/>
              <a:ext cx="84342" cy="47733"/>
            </a:xfrm>
            <a:prstGeom prst="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8A91AB88-D59E-3D98-6557-8B2F01DCB9A5}"/>
                </a:ext>
              </a:extLst>
            </p:cNvPr>
            <p:cNvSpPr/>
            <p:nvPr/>
          </p:nvSpPr>
          <p:spPr>
            <a:xfrm>
              <a:off x="10826396" y="1569122"/>
              <a:ext cx="91370" cy="88647"/>
            </a:xfrm>
            <a:prstGeom prst="ellipse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168C8389-B785-9337-5DF9-6A52087C7E19}"/>
                </a:ext>
              </a:extLst>
            </p:cNvPr>
            <p:cNvSpPr/>
            <p:nvPr/>
          </p:nvSpPr>
          <p:spPr>
            <a:xfrm>
              <a:off x="11296936" y="1476347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C0951474-C069-7E04-FF6B-D3EC33E8DFA9}"/>
                </a:ext>
              </a:extLst>
            </p:cNvPr>
            <p:cNvSpPr/>
            <p:nvPr/>
          </p:nvSpPr>
          <p:spPr>
            <a:xfrm>
              <a:off x="11444904" y="1447636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2C066F86-BA0D-D2BD-01BE-E7B38D5D7598}"/>
                </a:ext>
              </a:extLst>
            </p:cNvPr>
            <p:cNvSpPr/>
            <p:nvPr/>
          </p:nvSpPr>
          <p:spPr>
            <a:xfrm>
              <a:off x="11578077" y="1519415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4D91757C-80F4-D67D-20A3-6AB91CB440DD}"/>
                </a:ext>
              </a:extLst>
            </p:cNvPr>
            <p:cNvSpPr/>
            <p:nvPr/>
          </p:nvSpPr>
          <p:spPr>
            <a:xfrm>
              <a:off x="11348726" y="1576839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94C89CC3-B3DA-1A25-D4EE-C0CDD2931C07}"/>
                </a:ext>
              </a:extLst>
            </p:cNvPr>
            <p:cNvSpPr/>
            <p:nvPr/>
          </p:nvSpPr>
          <p:spPr>
            <a:xfrm>
              <a:off x="11518889" y="1619907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EBD5965B-FFB7-CC45-24CF-08517C59F4F5}"/>
                </a:ext>
              </a:extLst>
            </p:cNvPr>
            <p:cNvSpPr/>
            <p:nvPr/>
          </p:nvSpPr>
          <p:spPr>
            <a:xfrm>
              <a:off x="11674256" y="1591195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582ADE94-0964-5CE6-5F49-4290111A6A13}"/>
                </a:ext>
              </a:extLst>
            </p:cNvPr>
            <p:cNvSpPr/>
            <p:nvPr/>
          </p:nvSpPr>
          <p:spPr>
            <a:xfrm>
              <a:off x="11422710" y="1706042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F428E44E-E794-C2CB-A4BE-EC3932A73BEB}"/>
                </a:ext>
              </a:extLst>
            </p:cNvPr>
            <p:cNvSpPr/>
            <p:nvPr/>
          </p:nvSpPr>
          <p:spPr>
            <a:xfrm>
              <a:off x="11615068" y="1734754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BF1BE47-1122-44DD-4ADB-B3A592F8898D}"/>
                </a:ext>
              </a:extLst>
            </p:cNvPr>
            <p:cNvSpPr/>
            <p:nvPr/>
          </p:nvSpPr>
          <p:spPr>
            <a:xfrm>
              <a:off x="11740842" y="1691686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76A0309E-41DA-4160-589C-BC0EC41224F8}"/>
                </a:ext>
              </a:extLst>
            </p:cNvPr>
            <p:cNvSpPr/>
            <p:nvPr/>
          </p:nvSpPr>
          <p:spPr>
            <a:xfrm>
              <a:off x="11319132" y="1806534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016F099B-6C1B-8050-CA65-2C8447CA0F94}"/>
                </a:ext>
              </a:extLst>
            </p:cNvPr>
            <p:cNvSpPr/>
            <p:nvPr/>
          </p:nvSpPr>
          <p:spPr>
            <a:xfrm>
              <a:off x="11496693" y="1849601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EB168DF9-8958-CD8C-DE0C-C7FB3CA97582}"/>
                </a:ext>
              </a:extLst>
            </p:cNvPr>
            <p:cNvSpPr/>
            <p:nvPr/>
          </p:nvSpPr>
          <p:spPr>
            <a:xfrm>
              <a:off x="11689053" y="1878313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CE8B1275-E542-A6C2-AD55-D3A0524B0ED6}"/>
              </a:ext>
            </a:extLst>
          </p:cNvPr>
          <p:cNvGrpSpPr/>
          <p:nvPr/>
        </p:nvGrpSpPr>
        <p:grpSpPr>
          <a:xfrm>
            <a:off x="11154308" y="2489251"/>
            <a:ext cx="359564" cy="321803"/>
            <a:chOff x="6510149" y="1427151"/>
            <a:chExt cx="359564" cy="321803"/>
          </a:xfrm>
        </p:grpSpPr>
        <p:cxnSp>
          <p:nvCxnSpPr>
            <p:cNvPr id="104" name="Connector 75">
              <a:extLst>
                <a:ext uri="{FF2B5EF4-FFF2-40B4-BE49-F238E27FC236}">
                  <a16:creationId xmlns:a16="http://schemas.microsoft.com/office/drawing/2014/main" id="{05E0FF24-2D5E-531B-A220-6A4C489598D5}"/>
                </a:ext>
              </a:extLst>
            </p:cNvPr>
            <p:cNvCxnSpPr/>
            <p:nvPr/>
          </p:nvCxnSpPr>
          <p:spPr>
            <a:xfrm flipV="1">
              <a:off x="6630004" y="1427151"/>
              <a:ext cx="0" cy="98512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76">
              <a:extLst>
                <a:ext uri="{FF2B5EF4-FFF2-40B4-BE49-F238E27FC236}">
                  <a16:creationId xmlns:a16="http://schemas.microsoft.com/office/drawing/2014/main" id="{51333695-8C98-36DA-4A25-19176D47BEB5}"/>
                </a:ext>
              </a:extLst>
            </p:cNvPr>
            <p:cNvCxnSpPr/>
            <p:nvPr/>
          </p:nvCxnSpPr>
          <p:spPr>
            <a:xfrm>
              <a:off x="6630004" y="1525663"/>
              <a:ext cx="0" cy="223291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77">
              <a:extLst>
                <a:ext uri="{FF2B5EF4-FFF2-40B4-BE49-F238E27FC236}">
                  <a16:creationId xmlns:a16="http://schemas.microsoft.com/office/drawing/2014/main" id="{129D6CC2-20EA-E22C-FBC9-80391C52BB42}"/>
                </a:ext>
              </a:extLst>
            </p:cNvPr>
            <p:cNvCxnSpPr/>
            <p:nvPr/>
          </p:nvCxnSpPr>
          <p:spPr>
            <a:xfrm flipH="1">
              <a:off x="6510149" y="1525663"/>
              <a:ext cx="119855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78">
              <a:extLst>
                <a:ext uri="{FF2B5EF4-FFF2-40B4-BE49-F238E27FC236}">
                  <a16:creationId xmlns:a16="http://schemas.microsoft.com/office/drawing/2014/main" id="{D997B4D9-D3A2-0D6D-C8FB-62FDC79AC91F}"/>
                </a:ext>
              </a:extLst>
            </p:cNvPr>
            <p:cNvCxnSpPr/>
            <p:nvPr/>
          </p:nvCxnSpPr>
          <p:spPr>
            <a:xfrm>
              <a:off x="6630004" y="1525663"/>
              <a:ext cx="239709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79">
              <a:extLst>
                <a:ext uri="{FF2B5EF4-FFF2-40B4-BE49-F238E27FC236}">
                  <a16:creationId xmlns:a16="http://schemas.microsoft.com/office/drawing/2014/main" id="{53F09D69-D2E9-80B3-D296-6C37BDA8483D}"/>
                </a:ext>
              </a:extLst>
            </p:cNvPr>
            <p:cNvCxnSpPr/>
            <p:nvPr/>
          </p:nvCxnSpPr>
          <p:spPr>
            <a:xfrm flipH="1" flipV="1">
              <a:off x="6550100" y="1473124"/>
              <a:ext cx="79904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80">
              <a:extLst>
                <a:ext uri="{FF2B5EF4-FFF2-40B4-BE49-F238E27FC236}">
                  <a16:creationId xmlns:a16="http://schemas.microsoft.com/office/drawing/2014/main" id="{6FFB3364-46A3-952D-8F3E-DFE57C21090F}"/>
                </a:ext>
              </a:extLst>
            </p:cNvPr>
            <p:cNvCxnSpPr/>
            <p:nvPr/>
          </p:nvCxnSpPr>
          <p:spPr>
            <a:xfrm flipV="1">
              <a:off x="6630004" y="1473124"/>
              <a:ext cx="193099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81">
              <a:extLst>
                <a:ext uri="{FF2B5EF4-FFF2-40B4-BE49-F238E27FC236}">
                  <a16:creationId xmlns:a16="http://schemas.microsoft.com/office/drawing/2014/main" id="{15FE1D2C-2333-14E7-A709-8AD5150E0A90}"/>
                </a:ext>
              </a:extLst>
            </p:cNvPr>
            <p:cNvCxnSpPr/>
            <p:nvPr/>
          </p:nvCxnSpPr>
          <p:spPr>
            <a:xfrm flipH="1">
              <a:off x="6550100" y="1525663"/>
              <a:ext cx="79904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82">
              <a:extLst>
                <a:ext uri="{FF2B5EF4-FFF2-40B4-BE49-F238E27FC236}">
                  <a16:creationId xmlns:a16="http://schemas.microsoft.com/office/drawing/2014/main" id="{A990F455-A7E1-4AD2-DA2A-E8C6A41DABE4}"/>
                </a:ext>
              </a:extLst>
            </p:cNvPr>
            <p:cNvCxnSpPr/>
            <p:nvPr/>
          </p:nvCxnSpPr>
          <p:spPr>
            <a:xfrm>
              <a:off x="6630004" y="1525663"/>
              <a:ext cx="193099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C5FFFBB0-D52F-4DFA-DA98-09AFCE543E42}"/>
                </a:ext>
              </a:extLst>
            </p:cNvPr>
            <p:cNvSpPr/>
            <p:nvPr/>
          </p:nvSpPr>
          <p:spPr>
            <a:xfrm>
              <a:off x="6558682" y="1463147"/>
              <a:ext cx="173123" cy="170752"/>
            </a:xfrm>
            <a:prstGeom prst="ellipse">
              <a:avLst/>
            </a:prstGeom>
            <a:solidFill>
              <a:schemeClr val="bg1"/>
            </a:solidFill>
            <a:ln w="10160">
              <a:solidFill>
                <a:srgbClr val="1D202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B9F35523-743F-1AFB-9F98-C58B09BA6AE7}"/>
              </a:ext>
            </a:extLst>
          </p:cNvPr>
          <p:cNvGrpSpPr/>
          <p:nvPr/>
        </p:nvGrpSpPr>
        <p:grpSpPr>
          <a:xfrm>
            <a:off x="10728710" y="4090493"/>
            <a:ext cx="939815" cy="313798"/>
            <a:chOff x="9963991" y="1469341"/>
            <a:chExt cx="939815" cy="313798"/>
          </a:xfrm>
        </p:grpSpPr>
        <p:cxnSp>
          <p:nvCxnSpPr>
            <p:cNvPr id="114" name="Connector 19">
              <a:extLst>
                <a:ext uri="{FF2B5EF4-FFF2-40B4-BE49-F238E27FC236}">
                  <a16:creationId xmlns:a16="http://schemas.microsoft.com/office/drawing/2014/main" id="{0E98B68B-3F2F-28DF-AEEE-51357C242E25}"/>
                </a:ext>
              </a:extLst>
            </p:cNvPr>
            <p:cNvCxnSpPr/>
            <p:nvPr/>
          </p:nvCxnSpPr>
          <p:spPr>
            <a:xfrm>
              <a:off x="10704003" y="1469341"/>
              <a:ext cx="0" cy="197036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20">
              <a:extLst>
                <a:ext uri="{FF2B5EF4-FFF2-40B4-BE49-F238E27FC236}">
                  <a16:creationId xmlns:a16="http://schemas.microsoft.com/office/drawing/2014/main" id="{C057CFF9-D16C-0EC0-A875-25070DCF7FA5}"/>
                </a:ext>
              </a:extLst>
            </p:cNvPr>
            <p:cNvCxnSpPr/>
            <p:nvPr/>
          </p:nvCxnSpPr>
          <p:spPr>
            <a:xfrm>
              <a:off x="10704003" y="1666377"/>
              <a:ext cx="199803" cy="0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4">
              <a:extLst>
                <a:ext uri="{FF2B5EF4-FFF2-40B4-BE49-F238E27FC236}">
                  <a16:creationId xmlns:a16="http://schemas.microsoft.com/office/drawing/2014/main" id="{54ADFF87-5C50-3F52-20B1-61B509DD77D1}"/>
                </a:ext>
              </a:extLst>
            </p:cNvPr>
            <p:cNvCxnSpPr/>
            <p:nvPr/>
          </p:nvCxnSpPr>
          <p:spPr>
            <a:xfrm>
              <a:off x="9963991" y="162988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5">
              <a:extLst>
                <a:ext uri="{FF2B5EF4-FFF2-40B4-BE49-F238E27FC236}">
                  <a16:creationId xmlns:a16="http://schemas.microsoft.com/office/drawing/2014/main" id="{2AB0424E-62CF-A6BE-3C44-B3A2E87D019D}"/>
                </a:ext>
              </a:extLst>
            </p:cNvPr>
            <p:cNvCxnSpPr/>
            <p:nvPr/>
          </p:nvCxnSpPr>
          <p:spPr>
            <a:xfrm>
              <a:off x="9963991" y="1702865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6">
              <a:extLst>
                <a:ext uri="{FF2B5EF4-FFF2-40B4-BE49-F238E27FC236}">
                  <a16:creationId xmlns:a16="http://schemas.microsoft.com/office/drawing/2014/main" id="{0262F4B8-7A9A-8B5E-8999-5CFD43F0568E}"/>
                </a:ext>
              </a:extLst>
            </p:cNvPr>
            <p:cNvCxnSpPr/>
            <p:nvPr/>
          </p:nvCxnSpPr>
          <p:spPr>
            <a:xfrm>
              <a:off x="9963991" y="178313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ounded Rectangle 117">
              <a:extLst>
                <a:ext uri="{FF2B5EF4-FFF2-40B4-BE49-F238E27FC236}">
                  <a16:creationId xmlns:a16="http://schemas.microsoft.com/office/drawing/2014/main" id="{09B77BF6-53F3-C3D5-1DAE-F189483BA670}"/>
                </a:ext>
              </a:extLst>
            </p:cNvPr>
            <p:cNvSpPr/>
            <p:nvPr/>
          </p:nvSpPr>
          <p:spPr>
            <a:xfrm>
              <a:off x="10444999" y="1567859"/>
              <a:ext cx="450667" cy="137924"/>
            </a:xfrm>
            <a:prstGeom prst="roundRect">
              <a:avLst/>
            </a:prstGeom>
            <a:solidFill>
              <a:srgbClr val="47CD6F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0" name="Trapezoid 119">
              <a:extLst>
                <a:ext uri="{FF2B5EF4-FFF2-40B4-BE49-F238E27FC236}">
                  <a16:creationId xmlns:a16="http://schemas.microsoft.com/office/drawing/2014/main" id="{848F03C7-EC59-AB84-EDEA-78E2AD65788B}"/>
                </a:ext>
              </a:extLst>
            </p:cNvPr>
            <p:cNvSpPr/>
            <p:nvPr/>
          </p:nvSpPr>
          <p:spPr>
            <a:xfrm>
              <a:off x="10546010" y="1491234"/>
              <a:ext cx="233104" cy="130262"/>
            </a:xfrm>
            <a:prstGeom prst="trapezoid">
              <a:avLst/>
            </a:prstGeom>
            <a:solidFill>
              <a:srgbClr val="BEEBC3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F169E500-EC0C-E091-CF4D-6B63EB9F4357}"/>
                </a:ext>
              </a:extLst>
            </p:cNvPr>
            <p:cNvSpPr/>
            <p:nvPr/>
          </p:nvSpPr>
          <p:spPr>
            <a:xfrm>
              <a:off x="10530470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40CE2A8C-F952-097C-89E9-6AC99A8520AF}"/>
                </a:ext>
              </a:extLst>
            </p:cNvPr>
            <p:cNvSpPr/>
            <p:nvPr/>
          </p:nvSpPr>
          <p:spPr>
            <a:xfrm>
              <a:off x="10779114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94829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5E01A896-E427-8CD0-B339-4C46C0C565A6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ROBUSTNESS RESULTS UNDER DISTORTIONS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50FED5C0-2E8D-677E-01DB-4F4A7548C435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Performance was measured after applying each distortion at multiple severity levels.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F828C8-8A0C-32A1-127F-D44FBA978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282" y="1356011"/>
            <a:ext cx="3550238" cy="2347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1B7931A-9F56-DABA-E2A0-52352F875E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762" y="1356011"/>
            <a:ext cx="3550238" cy="2347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5A8AF4-A9DA-B963-8973-D020C22D8F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4175" y="1356011"/>
            <a:ext cx="3550238" cy="23473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B6EEEFE-EC8C-3BCC-6B1C-5812AF7DA7E7}"/>
              </a:ext>
            </a:extLst>
          </p:cNvPr>
          <p:cNvGrpSpPr/>
          <p:nvPr/>
        </p:nvGrpSpPr>
        <p:grpSpPr>
          <a:xfrm>
            <a:off x="958943" y="4048941"/>
            <a:ext cx="2875939" cy="672456"/>
            <a:chOff x="9553139" y="1393341"/>
            <a:chExt cx="1998781" cy="1414624"/>
          </a:xfrm>
        </p:grpSpPr>
        <p:sp>
          <p:nvSpPr>
            <p:cNvPr id="13" name="Freeform 2">
              <a:extLst>
                <a:ext uri="{FF2B5EF4-FFF2-40B4-BE49-F238E27FC236}">
                  <a16:creationId xmlns:a16="http://schemas.microsoft.com/office/drawing/2014/main" id="{8B812F76-D80F-9653-8EB9-BBE782C1986C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14" name="Group 3">
              <a:extLst>
                <a:ext uri="{FF2B5EF4-FFF2-40B4-BE49-F238E27FC236}">
                  <a16:creationId xmlns:a16="http://schemas.microsoft.com/office/drawing/2014/main" id="{B680EB03-1A00-DC75-F307-E98ECC8359F8}"/>
                </a:ext>
              </a:extLst>
            </p:cNvPr>
            <p:cNvGrpSpPr/>
            <p:nvPr/>
          </p:nvGrpSpPr>
          <p:grpSpPr>
            <a:xfrm>
              <a:off x="9553139" y="1393341"/>
              <a:ext cx="1998781" cy="1276396"/>
              <a:chOff x="0" y="-38100"/>
              <a:chExt cx="911221" cy="571510"/>
            </a:xfrm>
            <a:solidFill>
              <a:schemeClr val="bg2"/>
            </a:solidFill>
          </p:grpSpPr>
          <p:sp>
            <p:nvSpPr>
              <p:cNvPr id="21" name="Freeform 4">
                <a:extLst>
                  <a:ext uri="{FF2B5EF4-FFF2-40B4-BE49-F238E27FC236}">
                    <a16:creationId xmlns:a16="http://schemas.microsoft.com/office/drawing/2014/main" id="{63B4AC9E-40BC-0ACE-F666-83EAA3F33F41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39FF52F1-10B1-391D-673F-24C2050C49B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255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200">
                    <a:latin typeface="+mj-lt"/>
                  </a:rPr>
                  <a:t>Canny is the most sensitive to distortions.</a:t>
                </a:r>
                <a:endParaRPr sz="1200">
                  <a:latin typeface="+mj-lt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C6BC346A-94EA-FA6F-3DED-F4801DFE688D}"/>
              </a:ext>
            </a:extLst>
          </p:cNvPr>
          <p:cNvGrpSpPr/>
          <p:nvPr/>
        </p:nvGrpSpPr>
        <p:grpSpPr>
          <a:xfrm>
            <a:off x="8234175" y="4062225"/>
            <a:ext cx="3563686" cy="635360"/>
            <a:chOff x="8448431" y="4137164"/>
            <a:chExt cx="3563686" cy="635360"/>
          </a:xfrm>
        </p:grpSpPr>
        <p:sp>
          <p:nvSpPr>
            <p:cNvPr id="31" name="Freeform 2">
              <a:extLst>
                <a:ext uri="{FF2B5EF4-FFF2-40B4-BE49-F238E27FC236}">
                  <a16:creationId xmlns:a16="http://schemas.microsoft.com/office/drawing/2014/main" id="{95008888-FF28-E988-ED1E-F6E655AE5AEB}"/>
                </a:ext>
              </a:extLst>
            </p:cNvPr>
            <p:cNvSpPr/>
            <p:nvPr/>
          </p:nvSpPr>
          <p:spPr>
            <a:xfrm>
              <a:off x="8448431" y="4695164"/>
              <a:ext cx="3468968" cy="77360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7F8BF97F-076A-2E61-BFB4-F3A63BF8BDE9}"/>
                </a:ext>
              </a:extLst>
            </p:cNvPr>
            <p:cNvSpPr/>
            <p:nvPr/>
          </p:nvSpPr>
          <p:spPr>
            <a:xfrm>
              <a:off x="8448431" y="4137164"/>
              <a:ext cx="3563686" cy="55800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/>
                  <a:ea typeface="+mn-ea"/>
                  <a:cs typeface="+mn-cs"/>
                </a:rPr>
                <a:t>ResNet50 is more stable under mild distortions, but degrades under severe noise and blur.</a:t>
              </a:r>
            </a:p>
            <a:p>
              <a:endParaRPr lang="en-IL" sz="12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30DAC319-0E88-0922-E5C6-DF64C6D71189}"/>
              </a:ext>
            </a:extLst>
          </p:cNvPr>
          <p:cNvSpPr txBox="1"/>
          <p:nvPr/>
        </p:nvSpPr>
        <p:spPr>
          <a:xfrm>
            <a:off x="1071395" y="5393523"/>
            <a:ext cx="1034034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Stronger distortions generally reduce task performance, but the degradation pattern differs across tasks.</a:t>
            </a:r>
            <a:endParaRPr lang="en-IL">
              <a:latin typeface="+mj-lt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BAD3399F-5070-D27C-62AC-4A6B5A238179}"/>
              </a:ext>
            </a:extLst>
          </p:cNvPr>
          <p:cNvGrpSpPr/>
          <p:nvPr/>
        </p:nvGrpSpPr>
        <p:grpSpPr>
          <a:xfrm>
            <a:off x="4459722" y="4073144"/>
            <a:ext cx="3563686" cy="635360"/>
            <a:chOff x="8448431" y="4137164"/>
            <a:chExt cx="3563686" cy="635360"/>
          </a:xfrm>
        </p:grpSpPr>
        <p:sp>
          <p:nvSpPr>
            <p:cNvPr id="41" name="Freeform 2">
              <a:extLst>
                <a:ext uri="{FF2B5EF4-FFF2-40B4-BE49-F238E27FC236}">
                  <a16:creationId xmlns:a16="http://schemas.microsoft.com/office/drawing/2014/main" id="{2C3D1E05-C8FF-2871-DCBD-0F32426906A4}"/>
                </a:ext>
              </a:extLst>
            </p:cNvPr>
            <p:cNvSpPr/>
            <p:nvPr/>
          </p:nvSpPr>
          <p:spPr>
            <a:xfrm>
              <a:off x="8448431" y="4695164"/>
              <a:ext cx="3468968" cy="77360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769AB7DD-0C97-2792-F96F-363D90503D06}"/>
                </a:ext>
              </a:extLst>
            </p:cNvPr>
            <p:cNvSpPr/>
            <p:nvPr/>
          </p:nvSpPr>
          <p:spPr>
            <a:xfrm>
              <a:off x="8448431" y="4137164"/>
              <a:ext cx="3563686" cy="55800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/>
                  <a:ea typeface="+mn-ea"/>
                  <a:cs typeface="+mn-cs"/>
                </a:rPr>
                <a:t>GrabCut</a:t>
              </a:r>
              <a:r>
                <a:rPr kumimoji="0" 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Univers Condensed"/>
                  <a:ea typeface="+mn-ea"/>
                  <a:cs typeface="+mn-cs"/>
                </a:rPr>
                <a:t> drops when object boundaries or foreground/background separation are degraded.</a:t>
              </a:r>
              <a:endParaRPr lang="en-IL" sz="1200"/>
            </a:p>
          </p:txBody>
        </p:sp>
      </p:grpSp>
    </p:spTree>
    <p:extLst>
      <p:ext uri="{BB962C8B-B14F-4D97-AF65-F5344CB8AC3E}">
        <p14:creationId xmlns:p14="http://schemas.microsoft.com/office/powerpoint/2010/main" val="1398590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F43E4-2657-CD7E-A8E4-2DDED3628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AFE25074-6A6D-1156-CF8D-E16E1C48E1A9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PERFORMANCE ACROSS DISTORTION LEVELS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0F95147E-8487-A866-9D58-6BFEA46C6B20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Bar plots compare the clean reference with all distortion types and severity levels for each vision task.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FB9B284-63EC-7C4B-5F3B-A50AFD897245}"/>
              </a:ext>
            </a:extLst>
          </p:cNvPr>
          <p:cNvGrpSpPr/>
          <p:nvPr/>
        </p:nvGrpSpPr>
        <p:grpSpPr>
          <a:xfrm>
            <a:off x="562702" y="3995529"/>
            <a:ext cx="3564000" cy="672456"/>
            <a:chOff x="9553139" y="1393341"/>
            <a:chExt cx="1998781" cy="1414624"/>
          </a:xfrm>
        </p:grpSpPr>
        <p:sp>
          <p:nvSpPr>
            <p:cNvPr id="13" name="Freeform 2">
              <a:extLst>
                <a:ext uri="{FF2B5EF4-FFF2-40B4-BE49-F238E27FC236}">
                  <a16:creationId xmlns:a16="http://schemas.microsoft.com/office/drawing/2014/main" id="{2907BA13-B9DF-369A-0311-D9BEC779F07E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14" name="Group 3">
              <a:extLst>
                <a:ext uri="{FF2B5EF4-FFF2-40B4-BE49-F238E27FC236}">
                  <a16:creationId xmlns:a16="http://schemas.microsoft.com/office/drawing/2014/main" id="{31B4941C-50D4-10DA-6FD9-3F36F122CCA8}"/>
                </a:ext>
              </a:extLst>
            </p:cNvPr>
            <p:cNvGrpSpPr/>
            <p:nvPr/>
          </p:nvGrpSpPr>
          <p:grpSpPr>
            <a:xfrm>
              <a:off x="9553139" y="1393341"/>
              <a:ext cx="1998781" cy="1276396"/>
              <a:chOff x="0" y="-38100"/>
              <a:chExt cx="911221" cy="571510"/>
            </a:xfrm>
            <a:solidFill>
              <a:schemeClr val="bg2"/>
            </a:solidFill>
          </p:grpSpPr>
          <p:sp>
            <p:nvSpPr>
              <p:cNvPr id="21" name="Freeform 4">
                <a:extLst>
                  <a:ext uri="{FF2B5EF4-FFF2-40B4-BE49-F238E27FC236}">
                    <a16:creationId xmlns:a16="http://schemas.microsoft.com/office/drawing/2014/main" id="{3E3B098D-D6FA-7CE9-5720-D3CF57B7950D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3" name="TextBox 5">
                <a:extLst>
                  <a:ext uri="{FF2B5EF4-FFF2-40B4-BE49-F238E27FC236}">
                    <a16:creationId xmlns:a16="http://schemas.microsoft.com/office/drawing/2014/main" id="{E87DEF5A-A15A-DEF7-6500-77608E9E988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25593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200">
                    <a:latin typeface="+mj-lt"/>
                  </a:rPr>
                  <a:t>Canny shows the strongest degradation as distortion severity increases.</a:t>
                </a:r>
                <a:endParaRPr sz="1200">
                  <a:latin typeface="+mj-lt"/>
                </a:endParaRPr>
              </a:p>
            </p:txBody>
          </p:sp>
        </p:grp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A8532C6-80DE-3C42-3830-9B291A347C32}"/>
              </a:ext>
            </a:extLst>
          </p:cNvPr>
          <p:cNvGrpSpPr/>
          <p:nvPr/>
        </p:nvGrpSpPr>
        <p:grpSpPr>
          <a:xfrm>
            <a:off x="8356095" y="4008813"/>
            <a:ext cx="3563686" cy="635360"/>
            <a:chOff x="8448431" y="4137164"/>
            <a:chExt cx="3563686" cy="635360"/>
          </a:xfrm>
        </p:grpSpPr>
        <p:sp>
          <p:nvSpPr>
            <p:cNvPr id="31" name="Freeform 2">
              <a:extLst>
                <a:ext uri="{FF2B5EF4-FFF2-40B4-BE49-F238E27FC236}">
                  <a16:creationId xmlns:a16="http://schemas.microsoft.com/office/drawing/2014/main" id="{05052C97-312E-943C-7399-EA2CACA28800}"/>
                </a:ext>
              </a:extLst>
            </p:cNvPr>
            <p:cNvSpPr/>
            <p:nvPr/>
          </p:nvSpPr>
          <p:spPr>
            <a:xfrm>
              <a:off x="8448431" y="4695164"/>
              <a:ext cx="3468968" cy="77360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33" name="Freeform 4">
              <a:extLst>
                <a:ext uri="{FF2B5EF4-FFF2-40B4-BE49-F238E27FC236}">
                  <a16:creationId xmlns:a16="http://schemas.microsoft.com/office/drawing/2014/main" id="{B1FE2A3E-457A-EF1C-31F8-3405792E5DAF}"/>
                </a:ext>
              </a:extLst>
            </p:cNvPr>
            <p:cNvSpPr/>
            <p:nvPr/>
          </p:nvSpPr>
          <p:spPr>
            <a:xfrm>
              <a:off x="8448431" y="4137164"/>
              <a:ext cx="3563686" cy="55800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/>
            <a:lstStyle/>
            <a:p>
              <a:pPr lvl="0" algn="ctr">
                <a:lnSpc>
                  <a:spcPts val="1680"/>
                </a:lnSpc>
                <a:defRPr/>
              </a:pPr>
              <a:r>
                <a:rPr lang="en-US" sz="1200">
                  <a:solidFill>
                    <a:srgbClr val="000000"/>
                  </a:solidFill>
                  <a:latin typeface="Univers Condensed"/>
                </a:rPr>
                <a:t>ResNet50 is more robust under mild distortions, but drops under severe noise and blur.</a:t>
              </a:r>
              <a:endParaRPr lang="en-IL" sz="1200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99DDED5-152D-323C-092C-7585B6698A3D}"/>
              </a:ext>
            </a:extLst>
          </p:cNvPr>
          <p:cNvSpPr txBox="1"/>
          <p:nvPr/>
        </p:nvSpPr>
        <p:spPr>
          <a:xfrm>
            <a:off x="1071395" y="5393523"/>
            <a:ext cx="10340340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All tasks degrade with stronger distortions, but the rate of degradation differs by task.</a:t>
            </a:r>
            <a:endParaRPr lang="en-IL">
              <a:latin typeface="+mj-lt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5B95AC-B65D-34BF-11DF-81EB7A5A2C9F}"/>
              </a:ext>
            </a:extLst>
          </p:cNvPr>
          <p:cNvGrpSpPr/>
          <p:nvPr/>
        </p:nvGrpSpPr>
        <p:grpSpPr>
          <a:xfrm>
            <a:off x="4447688" y="4008813"/>
            <a:ext cx="3563686" cy="635360"/>
            <a:chOff x="8448431" y="4137164"/>
            <a:chExt cx="3563686" cy="635360"/>
          </a:xfrm>
        </p:grpSpPr>
        <p:sp>
          <p:nvSpPr>
            <p:cNvPr id="41" name="Freeform 2">
              <a:extLst>
                <a:ext uri="{FF2B5EF4-FFF2-40B4-BE49-F238E27FC236}">
                  <a16:creationId xmlns:a16="http://schemas.microsoft.com/office/drawing/2014/main" id="{7262E35E-36E1-3860-4AD7-71DC3792BD2F}"/>
                </a:ext>
              </a:extLst>
            </p:cNvPr>
            <p:cNvSpPr/>
            <p:nvPr/>
          </p:nvSpPr>
          <p:spPr>
            <a:xfrm>
              <a:off x="8448431" y="4695164"/>
              <a:ext cx="3468968" cy="77360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42" name="Freeform 4">
              <a:extLst>
                <a:ext uri="{FF2B5EF4-FFF2-40B4-BE49-F238E27FC236}">
                  <a16:creationId xmlns:a16="http://schemas.microsoft.com/office/drawing/2014/main" id="{73DEFBEA-DDD6-A8C9-8D47-707EAD95B383}"/>
                </a:ext>
              </a:extLst>
            </p:cNvPr>
            <p:cNvSpPr/>
            <p:nvPr/>
          </p:nvSpPr>
          <p:spPr>
            <a:xfrm>
              <a:off x="8448431" y="4137164"/>
              <a:ext cx="3563686" cy="558000"/>
            </a:xfrm>
            <a:custGeom>
              <a:avLst/>
              <a:gdLst/>
              <a:ahLst/>
              <a:cxnLst/>
              <a:rect l="l" t="t" r="r" b="b"/>
              <a:pathLst>
                <a:path w="911221" h="533410">
                  <a:moveTo>
                    <a:pt x="32845" y="0"/>
                  </a:moveTo>
                  <a:lnTo>
                    <a:pt x="878376" y="0"/>
                  </a:lnTo>
                  <a:cubicBezTo>
                    <a:pt x="896516" y="0"/>
                    <a:pt x="911221" y="14705"/>
                    <a:pt x="911221" y="32845"/>
                  </a:cubicBezTo>
                  <a:lnTo>
                    <a:pt x="911221" y="500566"/>
                  </a:lnTo>
                  <a:cubicBezTo>
                    <a:pt x="911221" y="518705"/>
                    <a:pt x="896516" y="533410"/>
                    <a:pt x="878376" y="533410"/>
                  </a:cubicBezTo>
                  <a:lnTo>
                    <a:pt x="32845" y="533410"/>
                  </a:lnTo>
                  <a:cubicBezTo>
                    <a:pt x="14705" y="533410"/>
                    <a:pt x="0" y="518705"/>
                    <a:pt x="0" y="500566"/>
                  </a:cubicBezTo>
                  <a:lnTo>
                    <a:pt x="0" y="32845"/>
                  </a:lnTo>
                  <a:cubicBezTo>
                    <a:pt x="0" y="14705"/>
                    <a:pt x="14705" y="0"/>
                    <a:pt x="32845" y="0"/>
                  </a:cubicBezTo>
                  <a:close/>
                </a:path>
              </a:pathLst>
            </a:custGeom>
            <a:solidFill>
              <a:schemeClr val="bg2"/>
            </a:solidFill>
          </p:spPr>
          <p:txBody>
            <a:bodyPr/>
            <a:lstStyle/>
            <a:p>
              <a:pPr lvl="0" algn="ctr">
                <a:lnSpc>
                  <a:spcPts val="1680"/>
                </a:lnSpc>
                <a:defRPr/>
              </a:pPr>
              <a:r>
                <a:rPr lang="en-US" sz="1200" err="1">
                  <a:solidFill>
                    <a:srgbClr val="000000"/>
                  </a:solidFill>
                  <a:latin typeface="Univers Condensed"/>
                </a:rPr>
                <a:t>GrabCut</a:t>
              </a:r>
              <a:r>
                <a:rPr lang="en-US" sz="1200">
                  <a:solidFill>
                    <a:srgbClr val="000000"/>
                  </a:solidFill>
                  <a:latin typeface="Univers Condensed"/>
                </a:rPr>
                <a:t> drops when object boundaries or foreground/background separation are degraded.</a:t>
              </a:r>
              <a:endParaRPr lang="en-IL" sz="120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C7E3F94-FDCA-7C24-A6C9-27BA51205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657" y="1607471"/>
            <a:ext cx="3483936" cy="207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B0414E9-53F9-8A93-95CF-902C729403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7688" y="1607471"/>
            <a:ext cx="3483936" cy="207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D6D51B-132D-DB2A-B22A-2F50B6061A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1433" y="1607471"/>
            <a:ext cx="3483937" cy="207298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911867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DDBD70BB-70E5-F81C-8D47-D279307F562D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DISTORTED IMAGE TASK OUTPUTS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4FB6F4F4-2395-9C67-3712-71F596532423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The same vision tasks were applied to distorted images to compare visual and quantitative degradation.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5AB2FB-64FB-F068-F08D-8FD5CBB38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7136" y="1057506"/>
            <a:ext cx="6644317" cy="47429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2982A499-54CF-D80D-684D-AEF2D9FF1949}"/>
              </a:ext>
            </a:extLst>
          </p:cNvPr>
          <p:cNvGrpSpPr/>
          <p:nvPr/>
        </p:nvGrpSpPr>
        <p:grpSpPr>
          <a:xfrm>
            <a:off x="887462" y="1118466"/>
            <a:ext cx="2767580" cy="1229268"/>
            <a:chOff x="9367949" y="1245770"/>
            <a:chExt cx="2316037" cy="1562195"/>
          </a:xfrm>
        </p:grpSpPr>
        <p:sp>
          <p:nvSpPr>
            <p:cNvPr id="11" name="Freeform 2">
              <a:extLst>
                <a:ext uri="{FF2B5EF4-FFF2-40B4-BE49-F238E27FC236}">
                  <a16:creationId xmlns:a16="http://schemas.microsoft.com/office/drawing/2014/main" id="{579E0E37-F851-2E85-AB5A-F9BF6CCBAB20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12" name="Group 3">
              <a:extLst>
                <a:ext uri="{FF2B5EF4-FFF2-40B4-BE49-F238E27FC236}">
                  <a16:creationId xmlns:a16="http://schemas.microsoft.com/office/drawing/2014/main" id="{D1769A9C-2127-0AA2-4C98-372DE97FCE19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16" name="Freeform 4">
                <a:extLst>
                  <a:ext uri="{FF2B5EF4-FFF2-40B4-BE49-F238E27FC236}">
                    <a16:creationId xmlns:a16="http://schemas.microsoft.com/office/drawing/2014/main" id="{424BE2AE-240B-2108-B067-A7C735CBEC21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17" name="TextBox 5">
                <a:extLst>
                  <a:ext uri="{FF2B5EF4-FFF2-40B4-BE49-F238E27FC236}">
                    <a16:creationId xmlns:a16="http://schemas.microsoft.com/office/drawing/2014/main" id="{7C5CAFD0-4F15-5D36-0848-3786F342EA6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13" name="Group 10">
              <a:extLst>
                <a:ext uri="{FF2B5EF4-FFF2-40B4-BE49-F238E27FC236}">
                  <a16:creationId xmlns:a16="http://schemas.microsoft.com/office/drawing/2014/main" id="{FF234785-F32F-34AC-38AD-CC8ED06A70D6}"/>
                </a:ext>
              </a:extLst>
            </p:cNvPr>
            <p:cNvGrpSpPr/>
            <p:nvPr/>
          </p:nvGrpSpPr>
          <p:grpSpPr>
            <a:xfrm>
              <a:off x="9367949" y="1245770"/>
              <a:ext cx="2316037" cy="423179"/>
              <a:chOff x="51765" y="29144"/>
              <a:chExt cx="1881365" cy="444500"/>
            </a:xfrm>
          </p:grpSpPr>
          <p:sp>
            <p:nvSpPr>
              <p:cNvPr id="14" name="Freeform 11">
                <a:extLst>
                  <a:ext uri="{FF2B5EF4-FFF2-40B4-BE49-F238E27FC236}">
                    <a16:creationId xmlns:a16="http://schemas.microsoft.com/office/drawing/2014/main" id="{507570C5-A5F1-0698-7E41-D4B2ADA31661}"/>
                  </a:ext>
                </a:extLst>
              </p:cNvPr>
              <p:cNvSpPr/>
              <p:nvPr/>
            </p:nvSpPr>
            <p:spPr>
              <a:xfrm>
                <a:off x="202199" y="61546"/>
                <a:ext cx="1651787" cy="3571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15" name="TextBox 12">
                <a:extLst>
                  <a:ext uri="{FF2B5EF4-FFF2-40B4-BE49-F238E27FC236}">
                    <a16:creationId xmlns:a16="http://schemas.microsoft.com/office/drawing/2014/main" id="{EB65E1E1-47B5-4C19-D672-C56BB8BF78A5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Salt</a:t>
                </a:r>
                <a:r>
                  <a:rPr lang="he-IL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&amp;</a:t>
                </a:r>
                <a:r>
                  <a:rPr lang="he-IL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pepper</a:t>
                </a:r>
              </a:p>
            </p:txBody>
          </p:sp>
        </p:grp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E9E782BF-6DC1-C348-FA1B-EF758FFF542A}"/>
              </a:ext>
            </a:extLst>
          </p:cNvPr>
          <p:cNvSpPr txBox="1"/>
          <p:nvPr/>
        </p:nvSpPr>
        <p:spPr>
          <a:xfrm>
            <a:off x="1121643" y="1591734"/>
            <a:ext cx="23249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+mj-lt"/>
              </a:rPr>
              <a:t>False edges and noisy structures</a:t>
            </a:r>
            <a:endParaRPr lang="en-IL" sz="1400">
              <a:latin typeface="+mj-lt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1C68BE4-57C5-68FA-F1BA-FA25FC7E3B7E}"/>
              </a:ext>
            </a:extLst>
          </p:cNvPr>
          <p:cNvGrpSpPr/>
          <p:nvPr/>
        </p:nvGrpSpPr>
        <p:grpSpPr>
          <a:xfrm>
            <a:off x="900347" y="2444346"/>
            <a:ext cx="2767580" cy="1229268"/>
            <a:chOff x="9367949" y="1245770"/>
            <a:chExt cx="2316037" cy="1562195"/>
          </a:xfrm>
        </p:grpSpPr>
        <p:sp>
          <p:nvSpPr>
            <p:cNvPr id="38" name="Freeform 2">
              <a:extLst>
                <a:ext uri="{FF2B5EF4-FFF2-40B4-BE49-F238E27FC236}">
                  <a16:creationId xmlns:a16="http://schemas.microsoft.com/office/drawing/2014/main" id="{F1E4EFC1-6B3A-6B3D-2892-D8C2317CA402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39" name="Group 3">
              <a:extLst>
                <a:ext uri="{FF2B5EF4-FFF2-40B4-BE49-F238E27FC236}">
                  <a16:creationId xmlns:a16="http://schemas.microsoft.com/office/drawing/2014/main" id="{C3AF6855-C9C2-E7AF-5E3C-8769C2BFC1A1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43" name="Freeform 4">
                <a:extLst>
                  <a:ext uri="{FF2B5EF4-FFF2-40B4-BE49-F238E27FC236}">
                    <a16:creationId xmlns:a16="http://schemas.microsoft.com/office/drawing/2014/main" id="{45B6B9B6-F849-8AAF-4D5C-E7F9F63119B6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44" name="TextBox 5">
                <a:extLst>
                  <a:ext uri="{FF2B5EF4-FFF2-40B4-BE49-F238E27FC236}">
                    <a16:creationId xmlns:a16="http://schemas.microsoft.com/office/drawing/2014/main" id="{91A4D43D-D883-7EB2-7908-90DBE988A210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400">
                    <a:latin typeface="+mj-lt"/>
                  </a:rPr>
                  <a:t>Washed-out regions and reduced contrast</a:t>
                </a:r>
                <a:endParaRPr sz="1400">
                  <a:latin typeface="+mj-lt"/>
                </a:endParaRPr>
              </a:p>
            </p:txBody>
          </p:sp>
        </p:grpSp>
        <p:grpSp>
          <p:nvGrpSpPr>
            <p:cNvPr id="40" name="Group 10">
              <a:extLst>
                <a:ext uri="{FF2B5EF4-FFF2-40B4-BE49-F238E27FC236}">
                  <a16:creationId xmlns:a16="http://schemas.microsoft.com/office/drawing/2014/main" id="{11FAD1E1-200B-950D-6A6A-2C08EBDD1411}"/>
                </a:ext>
              </a:extLst>
            </p:cNvPr>
            <p:cNvGrpSpPr/>
            <p:nvPr/>
          </p:nvGrpSpPr>
          <p:grpSpPr>
            <a:xfrm>
              <a:off x="9367949" y="1245770"/>
              <a:ext cx="2316037" cy="423179"/>
              <a:chOff x="51765" y="29144"/>
              <a:chExt cx="1881365" cy="444500"/>
            </a:xfrm>
          </p:grpSpPr>
          <p:sp>
            <p:nvSpPr>
              <p:cNvPr id="41" name="Freeform 11">
                <a:extLst>
                  <a:ext uri="{FF2B5EF4-FFF2-40B4-BE49-F238E27FC236}">
                    <a16:creationId xmlns:a16="http://schemas.microsoft.com/office/drawing/2014/main" id="{8CC83E21-3FD5-F2E3-74D6-E7043EDAC296}"/>
                  </a:ext>
                </a:extLst>
              </p:cNvPr>
              <p:cNvSpPr/>
              <p:nvPr/>
            </p:nvSpPr>
            <p:spPr>
              <a:xfrm>
                <a:off x="202199" y="61546"/>
                <a:ext cx="1651787" cy="3571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42" name="TextBox 12">
                <a:extLst>
                  <a:ext uri="{FF2B5EF4-FFF2-40B4-BE49-F238E27FC236}">
                    <a16:creationId xmlns:a16="http://schemas.microsoft.com/office/drawing/2014/main" id="{E9C25A65-F62A-5896-2C8B-DA46362E0F36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Overexposure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163A2EE-382F-E0AD-D01A-4B9471FDDB2E}"/>
              </a:ext>
            </a:extLst>
          </p:cNvPr>
          <p:cNvGrpSpPr/>
          <p:nvPr/>
        </p:nvGrpSpPr>
        <p:grpSpPr>
          <a:xfrm>
            <a:off x="900347" y="3770226"/>
            <a:ext cx="2767580" cy="1229268"/>
            <a:chOff x="9367949" y="1245770"/>
            <a:chExt cx="2316037" cy="1562195"/>
          </a:xfrm>
        </p:grpSpPr>
        <p:sp>
          <p:nvSpPr>
            <p:cNvPr id="46" name="Freeform 2">
              <a:extLst>
                <a:ext uri="{FF2B5EF4-FFF2-40B4-BE49-F238E27FC236}">
                  <a16:creationId xmlns:a16="http://schemas.microsoft.com/office/drawing/2014/main" id="{7F01A38E-C090-09FB-2C34-99C4C6519F62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47" name="Group 3">
              <a:extLst>
                <a:ext uri="{FF2B5EF4-FFF2-40B4-BE49-F238E27FC236}">
                  <a16:creationId xmlns:a16="http://schemas.microsoft.com/office/drawing/2014/main" id="{1DA5494C-45DB-8287-8F5E-B67E71672BB2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51" name="Freeform 4">
                <a:extLst>
                  <a:ext uri="{FF2B5EF4-FFF2-40B4-BE49-F238E27FC236}">
                    <a16:creationId xmlns:a16="http://schemas.microsoft.com/office/drawing/2014/main" id="{5FA36E8C-56F3-8502-C479-09298521C61A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2" name="TextBox 5">
                <a:extLst>
                  <a:ext uri="{FF2B5EF4-FFF2-40B4-BE49-F238E27FC236}">
                    <a16:creationId xmlns:a16="http://schemas.microsoft.com/office/drawing/2014/main" id="{61C543DC-1503-81A8-C9E1-82CF0F727F2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400">
                    <a:latin typeface="+mj-lt"/>
                  </a:rPr>
                  <a:t>Blurred boundaries and fine detail loss</a:t>
                </a:r>
                <a:endParaRPr sz="1400">
                  <a:latin typeface="+mj-lt"/>
                </a:endParaRPr>
              </a:p>
            </p:txBody>
          </p:sp>
        </p:grpSp>
        <p:grpSp>
          <p:nvGrpSpPr>
            <p:cNvPr id="48" name="Group 10">
              <a:extLst>
                <a:ext uri="{FF2B5EF4-FFF2-40B4-BE49-F238E27FC236}">
                  <a16:creationId xmlns:a16="http://schemas.microsoft.com/office/drawing/2014/main" id="{6A9557B6-7F35-3BD6-02F3-C9BDF5D51773}"/>
                </a:ext>
              </a:extLst>
            </p:cNvPr>
            <p:cNvGrpSpPr/>
            <p:nvPr/>
          </p:nvGrpSpPr>
          <p:grpSpPr>
            <a:xfrm>
              <a:off x="9367949" y="1245770"/>
              <a:ext cx="2316037" cy="423179"/>
              <a:chOff x="51765" y="29144"/>
              <a:chExt cx="1881365" cy="444500"/>
            </a:xfrm>
          </p:grpSpPr>
          <p:sp>
            <p:nvSpPr>
              <p:cNvPr id="49" name="Freeform 11">
                <a:extLst>
                  <a:ext uri="{FF2B5EF4-FFF2-40B4-BE49-F238E27FC236}">
                    <a16:creationId xmlns:a16="http://schemas.microsoft.com/office/drawing/2014/main" id="{092F1314-3870-1FE8-3EA0-8D86180C98EE}"/>
                  </a:ext>
                </a:extLst>
              </p:cNvPr>
              <p:cNvSpPr/>
              <p:nvPr/>
            </p:nvSpPr>
            <p:spPr>
              <a:xfrm>
                <a:off x="202199" y="61546"/>
                <a:ext cx="1651787" cy="35717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0" name="TextBox 12">
                <a:extLst>
                  <a:ext uri="{FF2B5EF4-FFF2-40B4-BE49-F238E27FC236}">
                    <a16:creationId xmlns:a16="http://schemas.microsoft.com/office/drawing/2014/main" id="{3651DF6D-AC18-9F23-36C7-2C509D16377C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Motion Blur</a:t>
                </a:r>
              </a:p>
            </p:txBody>
          </p:sp>
        </p:grpSp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A9B1A368-3A04-C38E-D2E1-7D4748817C64}"/>
              </a:ext>
            </a:extLst>
          </p:cNvPr>
          <p:cNvSpPr txBox="1"/>
          <p:nvPr/>
        </p:nvSpPr>
        <p:spPr>
          <a:xfrm>
            <a:off x="490547" y="5083575"/>
            <a:ext cx="4145280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Visual degradation explains the metric drop observed in the robustness curves.</a:t>
            </a:r>
            <a:endParaRPr lang="en-I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69755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2E7C0-FC7F-08DB-5F70-04E9634DF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642371F3-3728-EBBE-F1DE-CEB2E1CE2F5A}"/>
              </a:ext>
            </a:extLst>
          </p:cNvPr>
          <p:cNvSpPr txBox="1"/>
          <p:nvPr/>
        </p:nvSpPr>
        <p:spPr>
          <a:xfrm>
            <a:off x="1139955" y="385091"/>
            <a:ext cx="9721085" cy="343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28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CANNY AND GRABCUT PERFORMANCE BY TARGET CLASS</a:t>
            </a:r>
            <a:endParaRPr lang="en-US" sz="24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5D24D2AB-1227-7686-989D-17BE1D1677A8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he-IL" err="1"/>
              <a:t>Performance</a:t>
            </a:r>
            <a:r>
              <a:rPr lang="he-IL"/>
              <a:t> </a:t>
            </a:r>
            <a:r>
              <a:rPr lang="he-IL" err="1"/>
              <a:t>is</a:t>
            </a:r>
            <a:r>
              <a:rPr lang="he-IL"/>
              <a:t> </a:t>
            </a:r>
            <a:r>
              <a:rPr lang="he-IL" err="1"/>
              <a:t>grouped</a:t>
            </a:r>
            <a:r>
              <a:rPr lang="he-IL"/>
              <a:t> </a:t>
            </a:r>
            <a:r>
              <a:rPr lang="he-IL" err="1"/>
              <a:t>by</a:t>
            </a:r>
            <a:r>
              <a:rPr lang="he-IL"/>
              <a:t> </a:t>
            </a:r>
            <a:r>
              <a:rPr lang="he-IL" err="1"/>
              <a:t>the</a:t>
            </a:r>
            <a:r>
              <a:rPr lang="he-IL"/>
              <a:t> </a:t>
            </a:r>
            <a:r>
              <a:rPr lang="he-IL" err="1"/>
              <a:t>largest</a:t>
            </a:r>
            <a:r>
              <a:rPr lang="he-IL"/>
              <a:t> </a:t>
            </a:r>
            <a:r>
              <a:rPr lang="he-IL" err="1"/>
              <a:t>annotated</a:t>
            </a:r>
            <a:r>
              <a:rPr lang="he-IL"/>
              <a:t> </a:t>
            </a:r>
            <a:r>
              <a:rPr lang="he-IL" err="1"/>
              <a:t>target</a:t>
            </a:r>
            <a:r>
              <a:rPr lang="he-IL"/>
              <a:t> </a:t>
            </a:r>
            <a:r>
              <a:rPr lang="he-IL" err="1"/>
              <a:t>object</a:t>
            </a:r>
            <a:r>
              <a:rPr lang="he-IL"/>
              <a:t> </a:t>
            </a:r>
            <a:r>
              <a:rPr lang="he-IL" err="1"/>
              <a:t>in</a:t>
            </a:r>
            <a:r>
              <a:rPr lang="he-IL"/>
              <a:t> </a:t>
            </a:r>
            <a:r>
              <a:rPr lang="he-IL" err="1"/>
              <a:t>each</a:t>
            </a:r>
            <a:r>
              <a:rPr lang="he-IL"/>
              <a:t> </a:t>
            </a:r>
            <a:r>
              <a:rPr lang="he-IL" err="1"/>
              <a:t>image</a:t>
            </a:r>
            <a:r>
              <a:rPr lang="he-IL"/>
              <a:t>.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42902C5-C949-002A-B08A-C77EE573624A}"/>
              </a:ext>
            </a:extLst>
          </p:cNvPr>
          <p:cNvSpPr txBox="1"/>
          <p:nvPr/>
        </p:nvSpPr>
        <p:spPr>
          <a:xfrm>
            <a:off x="429586" y="5471785"/>
            <a:ext cx="11571913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he-IL" err="1">
                <a:latin typeface="Univers Condensed (כותרות)"/>
              </a:rPr>
              <a:t>Performance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varies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across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object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classes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because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object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size</a:t>
            </a:r>
            <a:r>
              <a:rPr lang="he-IL">
                <a:latin typeface="Univers Condensed (כותרות)"/>
              </a:rPr>
              <a:t>, </a:t>
            </a:r>
            <a:r>
              <a:rPr lang="he-IL" err="1">
                <a:latin typeface="Univers Condensed (כותרות)"/>
              </a:rPr>
              <a:t>boundary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clarity</a:t>
            </a:r>
            <a:r>
              <a:rPr lang="he-IL">
                <a:latin typeface="Univers Condensed (כותרות)"/>
              </a:rPr>
              <a:t>, </a:t>
            </a:r>
            <a:r>
              <a:rPr lang="he-IL" err="1">
                <a:latin typeface="Univers Condensed (כותרות)"/>
              </a:rPr>
              <a:t>and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foreground-background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separation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differ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between</a:t>
            </a:r>
            <a:r>
              <a:rPr lang="he-IL">
                <a:latin typeface="Univers Condensed (כותרות)"/>
              </a:rPr>
              <a:t> </a:t>
            </a:r>
            <a:r>
              <a:rPr lang="he-IL" err="1">
                <a:latin typeface="Univers Condensed (כותרות)"/>
              </a:rPr>
              <a:t>categories</a:t>
            </a:r>
            <a:r>
              <a:rPr lang="he-IL">
                <a:latin typeface="Univers Condensed (כותרות)"/>
              </a:rPr>
              <a:t>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472EB90-031F-E52E-79FB-7EA33C37D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83280" y="1567720"/>
            <a:ext cx="8618219" cy="31973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97606412-5551-D04F-E6D6-1119BDA53C2F}"/>
              </a:ext>
            </a:extLst>
          </p:cNvPr>
          <p:cNvSpPr txBox="1"/>
          <p:nvPr/>
        </p:nvSpPr>
        <p:spPr>
          <a:xfrm>
            <a:off x="-242406" y="1581542"/>
            <a:ext cx="39914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>
              <a:latin typeface="+mj-lt"/>
            </a:endParaRP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IL" sz="1400">
              <a:latin typeface="+mj-lt"/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5201968-1503-3745-C41C-8F5F30548018}"/>
              </a:ext>
            </a:extLst>
          </p:cNvPr>
          <p:cNvGrpSpPr/>
          <p:nvPr/>
        </p:nvGrpSpPr>
        <p:grpSpPr>
          <a:xfrm>
            <a:off x="732409" y="1456857"/>
            <a:ext cx="2255520" cy="853441"/>
            <a:chOff x="9553139" y="1393341"/>
            <a:chExt cx="1998781" cy="1414624"/>
          </a:xfrm>
        </p:grpSpPr>
        <p:sp>
          <p:nvSpPr>
            <p:cNvPr id="28" name="Freeform 2">
              <a:extLst>
                <a:ext uri="{FF2B5EF4-FFF2-40B4-BE49-F238E27FC236}">
                  <a16:creationId xmlns:a16="http://schemas.microsoft.com/office/drawing/2014/main" id="{59C3E0C6-896A-CFA6-6207-EF5D02CF0F87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29" name="Group 3">
              <a:extLst>
                <a:ext uri="{FF2B5EF4-FFF2-40B4-BE49-F238E27FC236}">
                  <a16:creationId xmlns:a16="http://schemas.microsoft.com/office/drawing/2014/main" id="{2DBB639B-62F8-9CE8-1888-68AF7AF47C35}"/>
                </a:ext>
              </a:extLst>
            </p:cNvPr>
            <p:cNvGrpSpPr/>
            <p:nvPr/>
          </p:nvGrpSpPr>
          <p:grpSpPr>
            <a:xfrm>
              <a:off x="9553139" y="1393341"/>
              <a:ext cx="1998781" cy="1276396"/>
              <a:chOff x="0" y="-38100"/>
              <a:chExt cx="911221" cy="571510"/>
            </a:xfrm>
            <a:solidFill>
              <a:schemeClr val="bg2"/>
            </a:solidFill>
          </p:grpSpPr>
          <p:sp>
            <p:nvSpPr>
              <p:cNvPr id="33" name="Freeform 4">
                <a:extLst>
                  <a:ext uri="{FF2B5EF4-FFF2-40B4-BE49-F238E27FC236}">
                    <a16:creationId xmlns:a16="http://schemas.microsoft.com/office/drawing/2014/main" id="{3EF815A4-FBC3-B46F-7664-F901EC787D0F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35" name="TextBox 5">
                <a:extLst>
                  <a:ext uri="{FF2B5EF4-FFF2-40B4-BE49-F238E27FC236}">
                    <a16:creationId xmlns:a16="http://schemas.microsoft.com/office/drawing/2014/main" id="{A82F15E3-FD95-28AB-5BFF-8B2B4EDDCA6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09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DEF3F117-E69D-7D37-3EC0-30963304F0A7}"/>
              </a:ext>
            </a:extLst>
          </p:cNvPr>
          <p:cNvSpPr txBox="1"/>
          <p:nvPr/>
        </p:nvSpPr>
        <p:spPr>
          <a:xfrm>
            <a:off x="743585" y="1553629"/>
            <a:ext cx="23249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latin typeface="+mj-lt"/>
              </a:rPr>
              <a:t>Canny is evaluated against the clean edge-map reference.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C59CEB3-DAEA-9974-272D-BF5BFFA7ADF3}"/>
              </a:ext>
            </a:extLst>
          </p:cNvPr>
          <p:cNvGrpSpPr/>
          <p:nvPr/>
        </p:nvGrpSpPr>
        <p:grpSpPr>
          <a:xfrm>
            <a:off x="743585" y="2424161"/>
            <a:ext cx="2255520" cy="853441"/>
            <a:chOff x="9553139" y="1393341"/>
            <a:chExt cx="1998781" cy="1414624"/>
          </a:xfrm>
        </p:grpSpPr>
        <p:sp>
          <p:nvSpPr>
            <p:cNvPr id="55" name="Freeform 2">
              <a:extLst>
                <a:ext uri="{FF2B5EF4-FFF2-40B4-BE49-F238E27FC236}">
                  <a16:creationId xmlns:a16="http://schemas.microsoft.com/office/drawing/2014/main" id="{176329CB-7462-6C7B-682A-92103759DC99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6" name="Group 3">
              <a:extLst>
                <a:ext uri="{FF2B5EF4-FFF2-40B4-BE49-F238E27FC236}">
                  <a16:creationId xmlns:a16="http://schemas.microsoft.com/office/drawing/2014/main" id="{26708E43-59A9-97E5-0D17-73A1A0ED8C00}"/>
                </a:ext>
              </a:extLst>
            </p:cNvPr>
            <p:cNvGrpSpPr/>
            <p:nvPr/>
          </p:nvGrpSpPr>
          <p:grpSpPr>
            <a:xfrm>
              <a:off x="9553139" y="1393341"/>
              <a:ext cx="1998781" cy="1276396"/>
              <a:chOff x="0" y="-38100"/>
              <a:chExt cx="911221" cy="571510"/>
            </a:xfrm>
            <a:solidFill>
              <a:schemeClr val="bg2"/>
            </a:solidFill>
          </p:grpSpPr>
          <p:sp>
            <p:nvSpPr>
              <p:cNvPr id="57" name="Freeform 4">
                <a:extLst>
                  <a:ext uri="{FF2B5EF4-FFF2-40B4-BE49-F238E27FC236}">
                    <a16:creationId xmlns:a16="http://schemas.microsoft.com/office/drawing/2014/main" id="{A7352F6B-F2B3-113D-CAF9-C20004CACCB7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8" name="TextBox 5">
                <a:extLst>
                  <a:ext uri="{FF2B5EF4-FFF2-40B4-BE49-F238E27FC236}">
                    <a16:creationId xmlns:a16="http://schemas.microsoft.com/office/drawing/2014/main" id="{98693015-CE0C-5162-C5D6-5FF1BE81450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09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400" err="1">
                    <a:latin typeface="+mj-lt"/>
                  </a:rPr>
                  <a:t>GrabCut</a:t>
                </a:r>
                <a:r>
                  <a:rPr lang="en-US" sz="1400">
                    <a:latin typeface="+mj-lt"/>
                  </a:rPr>
                  <a:t> is evaluated against the ground-truth segmentation mask.</a:t>
                </a:r>
                <a:endParaRPr sz="1200"/>
              </a:p>
            </p:txBody>
          </p:sp>
        </p:grp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719BD30-B327-0DA4-E2D7-0406A313DA39}"/>
              </a:ext>
            </a:extLst>
          </p:cNvPr>
          <p:cNvGrpSpPr/>
          <p:nvPr/>
        </p:nvGrpSpPr>
        <p:grpSpPr>
          <a:xfrm>
            <a:off x="732406" y="3341716"/>
            <a:ext cx="2255523" cy="853441"/>
            <a:chOff x="9553137" y="1393341"/>
            <a:chExt cx="1998783" cy="1414624"/>
          </a:xfrm>
        </p:grpSpPr>
        <p:sp>
          <p:nvSpPr>
            <p:cNvPr id="60" name="Freeform 2">
              <a:extLst>
                <a:ext uri="{FF2B5EF4-FFF2-40B4-BE49-F238E27FC236}">
                  <a16:creationId xmlns:a16="http://schemas.microsoft.com/office/drawing/2014/main" id="{47C2A72C-EB23-FF3D-1D4D-7EDB319E5CE9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61" name="Group 3">
              <a:extLst>
                <a:ext uri="{FF2B5EF4-FFF2-40B4-BE49-F238E27FC236}">
                  <a16:creationId xmlns:a16="http://schemas.microsoft.com/office/drawing/2014/main" id="{1159EF96-9C13-E75C-9231-C20E3D44C94E}"/>
                </a:ext>
              </a:extLst>
            </p:cNvPr>
            <p:cNvGrpSpPr/>
            <p:nvPr/>
          </p:nvGrpSpPr>
          <p:grpSpPr>
            <a:xfrm>
              <a:off x="9553137" y="1393341"/>
              <a:ext cx="1998783" cy="1276396"/>
              <a:chOff x="-1" y="-38100"/>
              <a:chExt cx="911222" cy="571510"/>
            </a:xfrm>
            <a:solidFill>
              <a:schemeClr val="bg2"/>
            </a:solidFill>
          </p:grpSpPr>
          <p:sp>
            <p:nvSpPr>
              <p:cNvPr id="62" name="Freeform 4">
                <a:extLst>
                  <a:ext uri="{FF2B5EF4-FFF2-40B4-BE49-F238E27FC236}">
                    <a16:creationId xmlns:a16="http://schemas.microsoft.com/office/drawing/2014/main" id="{C064A149-1857-229C-5B46-0FDAF35CA8AC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3" name="TextBox 5">
                <a:extLst>
                  <a:ext uri="{FF2B5EF4-FFF2-40B4-BE49-F238E27FC236}">
                    <a16:creationId xmlns:a16="http://schemas.microsoft.com/office/drawing/2014/main" id="{8F20A9CC-0B38-D3B1-C6A7-108E2609AF28}"/>
                  </a:ext>
                </a:extLst>
              </p:cNvPr>
              <p:cNvSpPr txBox="1"/>
              <p:nvPr/>
            </p:nvSpPr>
            <p:spPr>
              <a:xfrm>
                <a:off x="-1" y="-38100"/>
                <a:ext cx="911221" cy="571509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t"/>
              <a:lstStyle/>
              <a:p>
                <a:pPr algn="ctr">
                  <a:lnSpc>
                    <a:spcPts val="1680"/>
                  </a:lnSpc>
                </a:pPr>
                <a:r>
                  <a:rPr lang="he-IL" sz="1400" err="1">
                    <a:latin typeface="Univers Condensed (כותרות)"/>
                  </a:rPr>
                  <a:t>Only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classes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represented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in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the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segmentation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subset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are</a:t>
                </a:r>
                <a:r>
                  <a:rPr lang="he-IL" sz="1400">
                    <a:latin typeface="Univers Condensed (כותרות)"/>
                  </a:rPr>
                  <a:t> </a:t>
                </a:r>
                <a:r>
                  <a:rPr lang="he-IL" sz="1400" err="1">
                    <a:latin typeface="Univers Condensed (כותרות)"/>
                  </a:rPr>
                  <a:t>shown</a:t>
                </a:r>
                <a:r>
                  <a:rPr lang="he-IL" sz="1400">
                    <a:latin typeface="Univers Condensed (כותרות)"/>
                  </a:rPr>
                  <a:t>.</a:t>
                </a:r>
                <a:endParaRPr sz="1200">
                  <a:latin typeface="Univers Condensed (כותרות)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637769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F9DDE2-863B-C4CA-D146-3306D13F4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E927116-3846-D50E-CC45-9BFC9911E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91EC83-E38B-3733-1F0D-906DA6B0E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10B2548-3B18-E512-1736-C58F9D6662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A5EF72F6-F6DE-30DD-E2B7-D3A24E07569D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E3018C3-E1AF-B9FA-5084-62D38F339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407ACC7-1FE7-D203-5F9D-E70C6A2033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3">
            <a:extLst>
              <a:ext uri="{FF2B5EF4-FFF2-40B4-BE49-F238E27FC236}">
                <a16:creationId xmlns:a16="http://schemas.microsoft.com/office/drawing/2014/main" id="{A93D83F3-9C56-8212-98C8-4284D42DB25D}"/>
              </a:ext>
            </a:extLst>
          </p:cNvPr>
          <p:cNvSpPr txBox="1"/>
          <p:nvPr/>
        </p:nvSpPr>
        <p:spPr>
          <a:xfrm>
            <a:off x="1053847" y="375599"/>
            <a:ext cx="10251945" cy="356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RESNET50 CLASS-SPECIFIC ROBUSTNESS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BD1D0A7B-3D39-68FA-CE39-89AF51CF490D}"/>
              </a:ext>
            </a:extLst>
          </p:cNvPr>
          <p:cNvSpPr txBox="1"/>
          <p:nvPr/>
        </p:nvSpPr>
        <p:spPr>
          <a:xfrm>
            <a:off x="281761" y="767140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Class-specific F1 was evaluated across all six severity levels for each distortion.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1F3F0C1-0C18-F5A8-6998-72FC08FFF6F8}"/>
              </a:ext>
            </a:extLst>
          </p:cNvPr>
          <p:cNvSpPr txBox="1"/>
          <p:nvPr/>
        </p:nvSpPr>
        <p:spPr>
          <a:xfrm>
            <a:off x="1185675" y="5360841"/>
            <a:ext cx="98755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+mj-lt"/>
              </a:rPr>
              <a:t>Overexposure preserved the highest class-specific performance,</a:t>
            </a:r>
          </a:p>
          <a:p>
            <a:pPr algn="ctr"/>
            <a:r>
              <a:rPr lang="en-US">
                <a:latin typeface="+mj-lt"/>
              </a:rPr>
              <a:t>while Motion Blur caused the strongest degradation.</a:t>
            </a:r>
            <a:endParaRPr lang="en-IL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0CB41C-6155-1820-8256-B57F9A771F04}"/>
              </a:ext>
            </a:extLst>
          </p:cNvPr>
          <p:cNvSpPr txBox="1"/>
          <p:nvPr/>
        </p:nvSpPr>
        <p:spPr>
          <a:xfrm>
            <a:off x="582930" y="4063737"/>
            <a:ext cx="31775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F1: 0.652</a:t>
            </a:r>
            <a:endParaRPr lang="en-IL" sz="16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1A9A409-31A8-68E4-B119-C64110344931}"/>
              </a:ext>
            </a:extLst>
          </p:cNvPr>
          <p:cNvSpPr txBox="1"/>
          <p:nvPr/>
        </p:nvSpPr>
        <p:spPr>
          <a:xfrm>
            <a:off x="1386840" y="1531081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Salt &amp;Pepper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F1EDCF-76BE-0758-3D98-BB2E6115DB06}"/>
              </a:ext>
            </a:extLst>
          </p:cNvPr>
          <p:cNvSpPr txBox="1"/>
          <p:nvPr/>
        </p:nvSpPr>
        <p:spPr>
          <a:xfrm>
            <a:off x="5338575" y="1539455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Overexposure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26814E-3BB8-8F83-7DA4-BFE8C41C5B59}"/>
              </a:ext>
            </a:extLst>
          </p:cNvPr>
          <p:cNvSpPr txBox="1"/>
          <p:nvPr/>
        </p:nvSpPr>
        <p:spPr>
          <a:xfrm>
            <a:off x="9235440" y="1557780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Motion blur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28F9DF-3EB2-E76B-705B-1FF684E0418F}"/>
              </a:ext>
            </a:extLst>
          </p:cNvPr>
          <p:cNvSpPr txBox="1"/>
          <p:nvPr/>
        </p:nvSpPr>
        <p:spPr>
          <a:xfrm>
            <a:off x="4273682" y="4063737"/>
            <a:ext cx="3680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F1: 0.754</a:t>
            </a:r>
            <a:endParaRPr lang="en-IL" sz="160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9C1E1A-92DB-FE24-5B3D-3CF706F9CB56}"/>
              </a:ext>
            </a:extLst>
          </p:cNvPr>
          <p:cNvSpPr txBox="1"/>
          <p:nvPr/>
        </p:nvSpPr>
        <p:spPr>
          <a:xfrm>
            <a:off x="8232841" y="4063737"/>
            <a:ext cx="36804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F1: 0.635</a:t>
            </a:r>
            <a:endParaRPr lang="en-IL" sz="160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A9FAAE-BD57-827B-497E-2C5ADD00EE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7412" y="1942477"/>
            <a:ext cx="3972595" cy="168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9F0447-8EFF-83E6-EA32-805C240EF6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07419" y="1969814"/>
            <a:ext cx="4011988" cy="17050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586D9A-89F5-299C-7FCA-0412B335C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58416" y="2024140"/>
            <a:ext cx="3894574" cy="165519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859105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EF28A-91B9-BDD5-4458-84F56E2F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CC429F1C-563C-F362-B9A7-476B2D72B954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</a:rPr>
              <a:t>ROBUSTNESS KEY FINDINGS</a:t>
            </a:r>
            <a:endParaRPr kumimoji="0" lang="en-US" sz="2800" b="1" i="0" u="none" strike="noStrike" kern="1200" cap="none" spc="42" normalizeH="0" baseline="0" noProof="0">
              <a:ln>
                <a:noFill/>
              </a:ln>
              <a:solidFill>
                <a:srgbClr val="333333"/>
              </a:solidFill>
              <a:effectLst/>
              <a:uLnTx/>
              <a:uFillTx/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07578E2E-8250-89ED-A055-355DF0661394}"/>
              </a:ext>
            </a:extLst>
          </p:cNvPr>
          <p:cNvSpPr txBox="1"/>
          <p:nvPr/>
        </p:nvSpPr>
        <p:spPr>
          <a:xfrm>
            <a:off x="645036" y="825792"/>
            <a:ext cx="10901928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Univers Condensed"/>
              </a:rPr>
              <a:t>Each distortion affects the tasks differently because it damages a different visual property.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885C616-0216-CCEA-EB42-814C7D4CACD3}"/>
              </a:ext>
            </a:extLst>
          </p:cNvPr>
          <p:cNvSpPr txBox="1"/>
          <p:nvPr/>
        </p:nvSpPr>
        <p:spPr>
          <a:xfrm>
            <a:off x="822960" y="5469697"/>
            <a:ext cx="107240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>
                <a:solidFill>
                  <a:srgbClr val="000000"/>
                </a:solidFill>
                <a:latin typeface="Univers Condensed"/>
              </a:rPr>
              <a:t>Salt &amp; Pepper mainly creates false structures, Overexposure removes contrast, and Motion Blur removes fine details; therefore each task fails for a different reason.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1E00DA59-25B9-7974-8C7B-003C34C63698}"/>
              </a:ext>
            </a:extLst>
          </p:cNvPr>
          <p:cNvGrpSpPr/>
          <p:nvPr/>
        </p:nvGrpSpPr>
        <p:grpSpPr>
          <a:xfrm>
            <a:off x="1471098" y="1375856"/>
            <a:ext cx="3091069" cy="3517200"/>
            <a:chOff x="502920" y="932688"/>
            <a:chExt cx="3820372" cy="4480560"/>
          </a:xfrm>
        </p:grpSpPr>
        <p:cxnSp>
          <p:nvCxnSpPr>
            <p:cNvPr id="282" name="Connector 12">
              <a:extLst>
                <a:ext uri="{FF2B5EF4-FFF2-40B4-BE49-F238E27FC236}">
                  <a16:creationId xmlns:a16="http://schemas.microsoft.com/office/drawing/2014/main" id="{5E808998-1B86-8170-6042-F32C231A8DFA}"/>
                </a:ext>
              </a:extLst>
            </p:cNvPr>
            <p:cNvCxnSpPr/>
            <p:nvPr/>
          </p:nvCxnSpPr>
          <p:spPr>
            <a:xfrm flipV="1">
              <a:off x="502920" y="932688"/>
              <a:ext cx="731520" cy="301752"/>
            </a:xfrm>
            <a:prstGeom prst="line">
              <a:avLst/>
            </a:prstGeom>
            <a:ln w="13970">
              <a:solidFill>
                <a:srgbClr val="E4E7EA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Rounded Rectangle 27">
              <a:extLst>
                <a:ext uri="{FF2B5EF4-FFF2-40B4-BE49-F238E27FC236}">
                  <a16:creationId xmlns:a16="http://schemas.microsoft.com/office/drawing/2014/main" id="{F7397EE9-701D-4297-484B-88A84554E24F}"/>
                </a:ext>
              </a:extLst>
            </p:cNvPr>
            <p:cNvSpPr/>
            <p:nvPr/>
          </p:nvSpPr>
          <p:spPr>
            <a:xfrm>
              <a:off x="649224" y="1389888"/>
              <a:ext cx="3337560" cy="4023360"/>
            </a:xfrm>
            <a:prstGeom prst="roundRect">
              <a:avLst/>
            </a:prstGeom>
            <a:solidFill>
              <a:srgbClr val="CDD2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84" name="Rounded Rectangle 28">
              <a:extLst>
                <a:ext uri="{FF2B5EF4-FFF2-40B4-BE49-F238E27FC236}">
                  <a16:creationId xmlns:a16="http://schemas.microsoft.com/office/drawing/2014/main" id="{195CF461-4F9E-1499-F6D4-6BCB300DFCB9}"/>
                </a:ext>
              </a:extLst>
            </p:cNvPr>
            <p:cNvSpPr/>
            <p:nvPr/>
          </p:nvSpPr>
          <p:spPr>
            <a:xfrm>
              <a:off x="594360" y="1325880"/>
              <a:ext cx="3337560" cy="4023360"/>
            </a:xfrm>
            <a:prstGeom prst="roundRect">
              <a:avLst/>
            </a:prstGeom>
            <a:solidFill>
              <a:srgbClr val="E6EFF4"/>
            </a:solidFill>
            <a:ln w="9525">
              <a:solidFill>
                <a:srgbClr val="D4D9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85" name="Rounded Rectangle 29">
              <a:extLst>
                <a:ext uri="{FF2B5EF4-FFF2-40B4-BE49-F238E27FC236}">
                  <a16:creationId xmlns:a16="http://schemas.microsoft.com/office/drawing/2014/main" id="{F4657F11-0FCB-D917-E5EC-0A864FFDCD2E}"/>
                </a:ext>
              </a:extLst>
            </p:cNvPr>
            <p:cNvSpPr/>
            <p:nvPr/>
          </p:nvSpPr>
          <p:spPr>
            <a:xfrm>
              <a:off x="502920" y="1005840"/>
              <a:ext cx="1783080" cy="566928"/>
            </a:xfrm>
            <a:prstGeom prst="roundRect">
              <a:avLst/>
            </a:prstGeom>
            <a:solidFill>
              <a:srgbClr val="2DAA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" tIns="27432" rIns="27432" bIns="27432" rtlCol="0" anchor="ctr"/>
            <a:lstStyle/>
            <a:p>
              <a:pPr algn="ctr"/>
              <a:r>
                <a:rPr sz="1420" b="1">
                  <a:solidFill>
                    <a:srgbClr val="FFFFFF"/>
                  </a:solidFill>
                  <a:latin typeface="+mj-lt"/>
                </a:rPr>
                <a:t>SALT &amp; PEPPER</a:t>
              </a:r>
            </a:p>
          </p:txBody>
        </p:sp>
        <p:sp>
          <p:nvSpPr>
            <p:cNvPr id="286" name="Rounded Rectangle 30">
              <a:extLst>
                <a:ext uri="{FF2B5EF4-FFF2-40B4-BE49-F238E27FC236}">
                  <a16:creationId xmlns:a16="http://schemas.microsoft.com/office/drawing/2014/main" id="{631A3A16-F5A8-23AC-28AD-30B4384EE06A}"/>
                </a:ext>
              </a:extLst>
            </p:cNvPr>
            <p:cNvSpPr/>
            <p:nvPr/>
          </p:nvSpPr>
          <p:spPr>
            <a:xfrm>
              <a:off x="2496312" y="1148486"/>
              <a:ext cx="312724" cy="208483"/>
            </a:xfrm>
            <a:prstGeom prst="round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55C721B8-D47B-6CE1-D5A9-4CFEEEBA5818}"/>
                </a:ext>
              </a:extLst>
            </p:cNvPr>
            <p:cNvSpPr/>
            <p:nvPr/>
          </p:nvSpPr>
          <p:spPr>
            <a:xfrm>
              <a:off x="2557119" y="1096365"/>
              <a:ext cx="104241" cy="60807"/>
            </a:xfrm>
            <a:prstGeom prst="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406153E0-FE40-D416-5448-696736293E26}"/>
                </a:ext>
              </a:extLst>
            </p:cNvPr>
            <p:cNvSpPr/>
            <p:nvPr/>
          </p:nvSpPr>
          <p:spPr>
            <a:xfrm>
              <a:off x="2600553" y="1178890"/>
              <a:ext cx="112928" cy="112928"/>
            </a:xfrm>
            <a:prstGeom prst="ellipse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1F94F653-6FD6-F09B-8A4C-F19281D3C1D1}"/>
                </a:ext>
              </a:extLst>
            </p:cNvPr>
            <p:cNvSpPr/>
            <p:nvPr/>
          </p:nvSpPr>
          <p:spPr>
            <a:xfrm>
              <a:off x="3182111" y="1060704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900FFEF0-674F-483C-08FD-30FC637503C5}"/>
                </a:ext>
              </a:extLst>
            </p:cNvPr>
            <p:cNvSpPr/>
            <p:nvPr/>
          </p:nvSpPr>
          <p:spPr>
            <a:xfrm>
              <a:off x="3364991" y="102412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DE35D11A-9507-58AF-5217-0422A74D31D3}"/>
                </a:ext>
              </a:extLst>
            </p:cNvPr>
            <p:cNvSpPr/>
            <p:nvPr/>
          </p:nvSpPr>
          <p:spPr>
            <a:xfrm>
              <a:off x="3529584" y="111556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44EED29D-5990-049C-DED4-322873CD716F}"/>
                </a:ext>
              </a:extLst>
            </p:cNvPr>
            <p:cNvSpPr/>
            <p:nvPr/>
          </p:nvSpPr>
          <p:spPr>
            <a:xfrm>
              <a:off x="3246120" y="1188720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F90A06E5-120D-723D-9B5C-E1CF42990BBE}"/>
                </a:ext>
              </a:extLst>
            </p:cNvPr>
            <p:cNvSpPr/>
            <p:nvPr/>
          </p:nvSpPr>
          <p:spPr>
            <a:xfrm>
              <a:off x="3456432" y="1243584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7D91F4BE-2F5B-E902-2235-4ED82C64F52C}"/>
                </a:ext>
              </a:extLst>
            </p:cNvPr>
            <p:cNvSpPr/>
            <p:nvPr/>
          </p:nvSpPr>
          <p:spPr>
            <a:xfrm>
              <a:off x="3648456" y="120700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1BC0CD9D-C237-9F96-8E35-2DB0EDEEE48D}"/>
                </a:ext>
              </a:extLst>
            </p:cNvPr>
            <p:cNvSpPr/>
            <p:nvPr/>
          </p:nvSpPr>
          <p:spPr>
            <a:xfrm>
              <a:off x="3337560" y="1353312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70A852CC-CEE7-FD1B-6296-A34D7C295A77}"/>
                </a:ext>
              </a:extLst>
            </p:cNvPr>
            <p:cNvSpPr/>
            <p:nvPr/>
          </p:nvSpPr>
          <p:spPr>
            <a:xfrm>
              <a:off x="3575303" y="138988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EB0F6A73-D743-F680-E3C4-FC7C35EAFEFE}"/>
                </a:ext>
              </a:extLst>
            </p:cNvPr>
            <p:cNvSpPr/>
            <p:nvPr/>
          </p:nvSpPr>
          <p:spPr>
            <a:xfrm>
              <a:off x="3730752" y="1335024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832CF36-820E-898E-D69B-B32F4E651849}"/>
                </a:ext>
              </a:extLst>
            </p:cNvPr>
            <p:cNvSpPr/>
            <p:nvPr/>
          </p:nvSpPr>
          <p:spPr>
            <a:xfrm>
              <a:off x="3209544" y="148132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CD3F22C7-9C4F-C977-4FF9-DF32C3861DC5}"/>
                </a:ext>
              </a:extLst>
            </p:cNvPr>
            <p:cNvSpPr/>
            <p:nvPr/>
          </p:nvSpPr>
          <p:spPr>
            <a:xfrm>
              <a:off x="3428999" y="1536192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5F211718-654A-66E2-0E4A-58EEAC72BF26}"/>
                </a:ext>
              </a:extLst>
            </p:cNvPr>
            <p:cNvSpPr/>
            <p:nvPr/>
          </p:nvSpPr>
          <p:spPr>
            <a:xfrm>
              <a:off x="3666744" y="1572768"/>
              <a:ext cx="41148" cy="41148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1" name="Rounded Rectangle 45">
              <a:extLst>
                <a:ext uri="{FF2B5EF4-FFF2-40B4-BE49-F238E27FC236}">
                  <a16:creationId xmlns:a16="http://schemas.microsoft.com/office/drawing/2014/main" id="{6C1068A5-D349-1E44-F027-95A6DFAEFF4D}"/>
                </a:ext>
              </a:extLst>
            </p:cNvPr>
            <p:cNvSpPr/>
            <p:nvPr/>
          </p:nvSpPr>
          <p:spPr>
            <a:xfrm>
              <a:off x="1280160" y="1618488"/>
              <a:ext cx="1965960" cy="566928"/>
            </a:xfrm>
            <a:prstGeom prst="roundRect">
              <a:avLst/>
            </a:prstGeom>
            <a:solidFill>
              <a:srgbClr val="D9EEF0"/>
            </a:solidFill>
            <a:ln w="9525">
              <a:solidFill>
                <a:srgbClr val="B4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2" name="Rounded Rectangle 46">
              <a:extLst>
                <a:ext uri="{FF2B5EF4-FFF2-40B4-BE49-F238E27FC236}">
                  <a16:creationId xmlns:a16="http://schemas.microsoft.com/office/drawing/2014/main" id="{F45C222D-2609-04AD-9FBA-4AA306B515C9}"/>
                </a:ext>
              </a:extLst>
            </p:cNvPr>
            <p:cNvSpPr/>
            <p:nvPr/>
          </p:nvSpPr>
          <p:spPr>
            <a:xfrm>
              <a:off x="1435608" y="1719072"/>
              <a:ext cx="393192" cy="310896"/>
            </a:xfrm>
            <a:prstGeom prst="roundRect">
              <a:avLst/>
            </a:prstGeom>
            <a:noFill/>
            <a:ln w="10160">
              <a:solidFill>
                <a:srgbClr val="4A5E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D3881DB8-1F17-ECB8-0474-606BAC12D5C8}"/>
                </a:ext>
              </a:extLst>
            </p:cNvPr>
            <p:cNvSpPr txBox="1"/>
            <p:nvPr/>
          </p:nvSpPr>
          <p:spPr>
            <a:xfrm>
              <a:off x="1476678" y="1760009"/>
              <a:ext cx="311051" cy="21564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sz="1100" b="1" i="0">
                  <a:solidFill>
                    <a:srgbClr val="1D2027"/>
                  </a:solidFill>
                  <a:latin typeface="+mj-lt"/>
                </a:rPr>
                <a:t>SNR</a:t>
              </a:r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B96CD2AA-5D8B-3082-4B7F-FF0EBB09DFB8}"/>
                </a:ext>
              </a:extLst>
            </p:cNvPr>
            <p:cNvSpPr txBox="1"/>
            <p:nvPr/>
          </p:nvSpPr>
          <p:spPr>
            <a:xfrm>
              <a:off x="1965960" y="1709929"/>
              <a:ext cx="958907" cy="254850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000000"/>
                  </a:solidFill>
                  <a:latin typeface="+mj-lt"/>
                </a:rPr>
                <a:t>SNR: 10.660</a:t>
              </a:r>
            </a:p>
          </p:txBody>
        </p:sp>
        <p:sp>
          <p:nvSpPr>
            <p:cNvPr id="305" name="Rounded Rectangle 49">
              <a:extLst>
                <a:ext uri="{FF2B5EF4-FFF2-40B4-BE49-F238E27FC236}">
                  <a16:creationId xmlns:a16="http://schemas.microsoft.com/office/drawing/2014/main" id="{EE715490-F629-6A76-2F38-B0DB121F849E}"/>
                </a:ext>
              </a:extLst>
            </p:cNvPr>
            <p:cNvSpPr/>
            <p:nvPr/>
          </p:nvSpPr>
          <p:spPr>
            <a:xfrm>
              <a:off x="868680" y="2498140"/>
              <a:ext cx="296265" cy="197510"/>
            </a:xfrm>
            <a:prstGeom prst="roundRect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11F78D8D-6CF1-93BA-51E6-8E05050B25F1}"/>
                </a:ext>
              </a:extLst>
            </p:cNvPr>
            <p:cNvSpPr/>
            <p:nvPr/>
          </p:nvSpPr>
          <p:spPr>
            <a:xfrm>
              <a:off x="926287" y="2448763"/>
              <a:ext cx="98755" cy="57607"/>
            </a:xfrm>
            <a:prstGeom prst="rect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7" name="Oval 306">
              <a:extLst>
                <a:ext uri="{FF2B5EF4-FFF2-40B4-BE49-F238E27FC236}">
                  <a16:creationId xmlns:a16="http://schemas.microsoft.com/office/drawing/2014/main" id="{379B4FC4-FD7D-4560-3EE2-46A4C7C3C10D}"/>
                </a:ext>
              </a:extLst>
            </p:cNvPr>
            <p:cNvSpPr/>
            <p:nvPr/>
          </p:nvSpPr>
          <p:spPr>
            <a:xfrm>
              <a:off x="967435" y="2526944"/>
              <a:ext cx="106984" cy="106984"/>
            </a:xfrm>
            <a:prstGeom prst="ellipse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08" name="TextBox 307">
              <a:extLst>
                <a:ext uri="{FF2B5EF4-FFF2-40B4-BE49-F238E27FC236}">
                  <a16:creationId xmlns:a16="http://schemas.microsoft.com/office/drawing/2014/main" id="{C003DF6F-175D-F8D5-36C2-50DADAF25A88}"/>
                </a:ext>
              </a:extLst>
            </p:cNvPr>
            <p:cNvSpPr txBox="1"/>
            <p:nvPr/>
          </p:nvSpPr>
          <p:spPr>
            <a:xfrm>
              <a:off x="1380744" y="2386585"/>
              <a:ext cx="2377439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rmAutofit fontScale="92500" lnSpcReduction="10000"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+mj-lt"/>
                </a:rPr>
                <a:t>Canny: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0.201 </a:t>
              </a:r>
              <a:r>
                <a:rPr lang="en-IL" sz="1400" b="0">
                  <a:solidFill>
                    <a:srgbClr val="000000"/>
                  </a:solidFill>
                  <a:latin typeface="+mj-lt"/>
                </a:rPr>
                <a:t>-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</a:t>
              </a:r>
              <a:endParaRPr lang="he-IL" sz="1400" b="0">
                <a:solidFill>
                  <a:srgbClr val="000000"/>
                </a:solidFill>
                <a:latin typeface="+mj-lt"/>
              </a:endParaRPr>
            </a:p>
            <a:p>
              <a:pPr algn="l"/>
              <a:r>
                <a:rPr lang="en-US" sz="1400" b="0">
                  <a:solidFill>
                    <a:srgbClr val="000000"/>
                  </a:solidFill>
                  <a:latin typeface="+mj-lt"/>
                </a:rPr>
                <a:t>highly sensitive to impulse noise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.</a:t>
              </a:r>
            </a:p>
          </p:txBody>
        </p:sp>
        <p:cxnSp>
          <p:nvCxnSpPr>
            <p:cNvPr id="309" name="Connector 53">
              <a:extLst>
                <a:ext uri="{FF2B5EF4-FFF2-40B4-BE49-F238E27FC236}">
                  <a16:creationId xmlns:a16="http://schemas.microsoft.com/office/drawing/2014/main" id="{D28A1822-84F2-F70C-FDAC-3545BCF8D5AF}"/>
                </a:ext>
              </a:extLst>
            </p:cNvPr>
            <p:cNvCxnSpPr/>
            <p:nvPr/>
          </p:nvCxnSpPr>
          <p:spPr>
            <a:xfrm>
              <a:off x="850392" y="3136391"/>
              <a:ext cx="2852928" cy="0"/>
            </a:xfrm>
            <a:prstGeom prst="line">
              <a:avLst/>
            </a:prstGeom>
            <a:ln w="8255">
              <a:solidFill>
                <a:srgbClr val="B9BEC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0" name="Cloud 309">
              <a:extLst>
                <a:ext uri="{FF2B5EF4-FFF2-40B4-BE49-F238E27FC236}">
                  <a16:creationId xmlns:a16="http://schemas.microsoft.com/office/drawing/2014/main" id="{8C9D3AC5-BC10-1A52-36D9-B004074BB236}"/>
                </a:ext>
              </a:extLst>
            </p:cNvPr>
            <p:cNvSpPr/>
            <p:nvPr/>
          </p:nvSpPr>
          <p:spPr>
            <a:xfrm>
              <a:off x="850392" y="3364991"/>
              <a:ext cx="347472" cy="265176"/>
            </a:xfrm>
            <a:prstGeom prst="cloud">
              <a:avLst/>
            </a:prstGeom>
            <a:solidFill>
              <a:srgbClr val="EBF8FA"/>
            </a:solidFill>
            <a:ln w="1524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11" name="Cloud 310">
              <a:extLst>
                <a:ext uri="{FF2B5EF4-FFF2-40B4-BE49-F238E27FC236}">
                  <a16:creationId xmlns:a16="http://schemas.microsoft.com/office/drawing/2014/main" id="{19A81983-3AD0-C0DC-C08C-1D1095E6A29E}"/>
                </a:ext>
              </a:extLst>
            </p:cNvPr>
            <p:cNvSpPr/>
            <p:nvPr/>
          </p:nvSpPr>
          <p:spPr>
            <a:xfrm>
              <a:off x="996695" y="3447287"/>
              <a:ext cx="301752" cy="228600"/>
            </a:xfrm>
            <a:prstGeom prst="cloud">
              <a:avLst/>
            </a:prstGeom>
            <a:solidFill>
              <a:srgbClr val="2DAAD7"/>
            </a:solidFill>
            <a:ln w="1270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759ECF5D-9A38-ECA3-B62E-03939B67CCDF}"/>
                </a:ext>
              </a:extLst>
            </p:cNvPr>
            <p:cNvSpPr txBox="1"/>
            <p:nvPr/>
          </p:nvSpPr>
          <p:spPr>
            <a:xfrm>
              <a:off x="1380743" y="3337560"/>
              <a:ext cx="2942549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/>
              <a:r>
                <a:rPr sz="1400" b="1" err="1">
                  <a:solidFill>
                    <a:srgbClr val="000000"/>
                  </a:solidFill>
                  <a:latin typeface="+mj-lt"/>
                </a:rPr>
                <a:t>GrabCut</a:t>
              </a:r>
              <a:r>
                <a:rPr sz="1400" b="1">
                  <a:solidFill>
                    <a:srgbClr val="000000"/>
                  </a:solidFill>
                  <a:latin typeface="+mj-lt"/>
                </a:rPr>
                <a:t>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0.467 </a:t>
              </a:r>
              <a:r>
                <a:rPr lang="he-IL" sz="1400">
                  <a:solidFill>
                    <a:srgbClr val="000000"/>
                  </a:solidFill>
                  <a:latin typeface="+mj-lt"/>
                </a:rPr>
                <a:t>-</a:t>
              </a:r>
              <a:endParaRPr lang="he-IL" sz="1400" b="0">
                <a:solidFill>
                  <a:srgbClr val="000000"/>
                </a:solidFill>
                <a:latin typeface="+mj-lt"/>
              </a:endParaRPr>
            </a:p>
            <a:p>
              <a:pPr algn="l"/>
              <a:r>
                <a:rPr lang="en-US" sz="1400" b="0">
                  <a:solidFill>
                    <a:srgbClr val="000000"/>
                  </a:solidFill>
                  <a:latin typeface="+mj-lt"/>
                </a:rPr>
                <a:t>noisy object boundaries.</a:t>
              </a:r>
              <a:endParaRPr sz="1400" b="0">
                <a:solidFill>
                  <a:srgbClr val="000000"/>
                </a:solidFill>
                <a:latin typeface="+mj-lt"/>
              </a:endParaRPr>
            </a:p>
          </p:txBody>
        </p:sp>
        <p:cxnSp>
          <p:nvCxnSpPr>
            <p:cNvPr id="313" name="Connector 57">
              <a:extLst>
                <a:ext uri="{FF2B5EF4-FFF2-40B4-BE49-F238E27FC236}">
                  <a16:creationId xmlns:a16="http://schemas.microsoft.com/office/drawing/2014/main" id="{2F76E56D-F957-9483-F6F7-14EF2B033613}"/>
                </a:ext>
              </a:extLst>
            </p:cNvPr>
            <p:cNvCxnSpPr/>
            <p:nvPr/>
          </p:nvCxnSpPr>
          <p:spPr>
            <a:xfrm>
              <a:off x="850392" y="4087368"/>
              <a:ext cx="2852928" cy="0"/>
            </a:xfrm>
            <a:prstGeom prst="line">
              <a:avLst/>
            </a:prstGeom>
            <a:ln w="8255">
              <a:solidFill>
                <a:srgbClr val="B9BEC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Connector 58">
              <a:extLst>
                <a:ext uri="{FF2B5EF4-FFF2-40B4-BE49-F238E27FC236}">
                  <a16:creationId xmlns:a16="http://schemas.microsoft.com/office/drawing/2014/main" id="{1829CF87-B7F9-CFF8-5803-D9048210F103}"/>
                </a:ext>
              </a:extLst>
            </p:cNvPr>
            <p:cNvCxnSpPr/>
            <p:nvPr/>
          </p:nvCxnSpPr>
          <p:spPr>
            <a:xfrm flipV="1">
              <a:off x="896112" y="4315967"/>
              <a:ext cx="246888" cy="54864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nector 59">
              <a:extLst>
                <a:ext uri="{FF2B5EF4-FFF2-40B4-BE49-F238E27FC236}">
                  <a16:creationId xmlns:a16="http://schemas.microsoft.com/office/drawing/2014/main" id="{4AAC7241-92C1-6328-7D08-296019DA7D74}"/>
                </a:ext>
              </a:extLst>
            </p:cNvPr>
            <p:cNvCxnSpPr/>
            <p:nvPr/>
          </p:nvCxnSpPr>
          <p:spPr>
            <a:xfrm flipH="1">
              <a:off x="1106424" y="4315967"/>
              <a:ext cx="36576" cy="256032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or 60">
              <a:extLst>
                <a:ext uri="{FF2B5EF4-FFF2-40B4-BE49-F238E27FC236}">
                  <a16:creationId xmlns:a16="http://schemas.microsoft.com/office/drawing/2014/main" id="{1AAC0D5C-6FE0-A395-00AA-BF42D3DB5004}"/>
                </a:ext>
              </a:extLst>
            </p:cNvPr>
            <p:cNvCxnSpPr/>
            <p:nvPr/>
          </p:nvCxnSpPr>
          <p:spPr>
            <a:xfrm flipH="1" flipV="1">
              <a:off x="941832" y="4526279"/>
              <a:ext cx="164592" cy="45720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nector 61">
              <a:extLst>
                <a:ext uri="{FF2B5EF4-FFF2-40B4-BE49-F238E27FC236}">
                  <a16:creationId xmlns:a16="http://schemas.microsoft.com/office/drawing/2014/main" id="{5DF07F9C-3E85-B405-604B-3E3038D4AF07}"/>
                </a:ext>
              </a:extLst>
            </p:cNvPr>
            <p:cNvCxnSpPr/>
            <p:nvPr/>
          </p:nvCxnSpPr>
          <p:spPr>
            <a:xfrm>
              <a:off x="896112" y="4370831"/>
              <a:ext cx="45720" cy="155448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62">
              <a:extLst>
                <a:ext uri="{FF2B5EF4-FFF2-40B4-BE49-F238E27FC236}">
                  <a16:creationId xmlns:a16="http://schemas.microsoft.com/office/drawing/2014/main" id="{F2132C37-C479-2301-29D1-40BC007D3679}"/>
                </a:ext>
              </a:extLst>
            </p:cNvPr>
            <p:cNvCxnSpPr/>
            <p:nvPr/>
          </p:nvCxnSpPr>
          <p:spPr>
            <a:xfrm>
              <a:off x="1143000" y="4315967"/>
              <a:ext cx="73152" cy="146304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or 63">
              <a:extLst>
                <a:ext uri="{FF2B5EF4-FFF2-40B4-BE49-F238E27FC236}">
                  <a16:creationId xmlns:a16="http://schemas.microsoft.com/office/drawing/2014/main" id="{FEFA1D07-ED81-D170-ED4D-AA36B2236D69}"/>
                </a:ext>
              </a:extLst>
            </p:cNvPr>
            <p:cNvCxnSpPr/>
            <p:nvPr/>
          </p:nvCxnSpPr>
          <p:spPr>
            <a:xfrm flipH="1">
              <a:off x="1106424" y="4462271"/>
              <a:ext cx="109728" cy="109728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nector 64">
              <a:extLst>
                <a:ext uri="{FF2B5EF4-FFF2-40B4-BE49-F238E27FC236}">
                  <a16:creationId xmlns:a16="http://schemas.microsoft.com/office/drawing/2014/main" id="{E8E1080B-6195-DA2C-B218-0AAE674D858A}"/>
                </a:ext>
              </a:extLst>
            </p:cNvPr>
            <p:cNvCxnSpPr/>
            <p:nvPr/>
          </p:nvCxnSpPr>
          <p:spPr>
            <a:xfrm>
              <a:off x="896112" y="4370831"/>
              <a:ext cx="320040" cy="91440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8A0D0FA4-CAC8-9897-AD29-C932E98A362A}"/>
                </a:ext>
              </a:extLst>
            </p:cNvPr>
            <p:cNvSpPr/>
            <p:nvPr/>
          </p:nvSpPr>
          <p:spPr>
            <a:xfrm>
              <a:off x="896112" y="4370831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637B53FD-1FB3-A502-161F-FEBED489DA53}"/>
                </a:ext>
              </a:extLst>
            </p:cNvPr>
            <p:cNvSpPr/>
            <p:nvPr/>
          </p:nvSpPr>
          <p:spPr>
            <a:xfrm>
              <a:off x="1143000" y="4315967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3662F964-F292-429E-23D7-75FDFC329D53}"/>
                </a:ext>
              </a:extLst>
            </p:cNvPr>
            <p:cNvSpPr/>
            <p:nvPr/>
          </p:nvSpPr>
          <p:spPr>
            <a:xfrm>
              <a:off x="1106424" y="4571999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B099A673-0BE9-E921-EEB6-7913287EB744}"/>
                </a:ext>
              </a:extLst>
            </p:cNvPr>
            <p:cNvSpPr/>
            <p:nvPr/>
          </p:nvSpPr>
          <p:spPr>
            <a:xfrm>
              <a:off x="941832" y="4526279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C820160A-107B-B9C0-D4E7-563755CACD34}"/>
                </a:ext>
              </a:extLst>
            </p:cNvPr>
            <p:cNvSpPr/>
            <p:nvPr/>
          </p:nvSpPr>
          <p:spPr>
            <a:xfrm>
              <a:off x="1216152" y="4462271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6" name="TextBox 325">
              <a:extLst>
                <a:ext uri="{FF2B5EF4-FFF2-40B4-BE49-F238E27FC236}">
                  <a16:creationId xmlns:a16="http://schemas.microsoft.com/office/drawing/2014/main" id="{0D366356-523F-FFE2-E38E-D4CAF9A45ACE}"/>
                </a:ext>
              </a:extLst>
            </p:cNvPr>
            <p:cNvSpPr txBox="1"/>
            <p:nvPr/>
          </p:nvSpPr>
          <p:spPr>
            <a:xfrm>
              <a:off x="1380744" y="4288536"/>
              <a:ext cx="2377439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+mj-lt"/>
                </a:rPr>
                <a:t>ResNet50 F1: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0.700 - </a:t>
              </a:r>
              <a:r>
                <a:rPr lang="en-US" sz="1400" b="0">
                  <a:solidFill>
                    <a:srgbClr val="000000"/>
                  </a:solidFill>
                  <a:latin typeface="+mj-lt"/>
                </a:rPr>
                <a:t>relatively stable under noise.</a:t>
              </a:r>
              <a:endParaRPr sz="14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327" name="TextBox 326">
              <a:extLst>
                <a:ext uri="{FF2B5EF4-FFF2-40B4-BE49-F238E27FC236}">
                  <a16:creationId xmlns:a16="http://schemas.microsoft.com/office/drawing/2014/main" id="{1568D6CE-2689-E8F9-97AA-1DA37D95F282}"/>
                </a:ext>
              </a:extLst>
            </p:cNvPr>
            <p:cNvSpPr txBox="1"/>
            <p:nvPr/>
          </p:nvSpPr>
          <p:spPr>
            <a:xfrm>
              <a:off x="1074245" y="5077838"/>
              <a:ext cx="2571615" cy="20584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 b="0" i="0">
                  <a:solidFill>
                    <a:srgbClr val="000000"/>
                  </a:solidFill>
                  <a:latin typeface="+mj-lt"/>
                </a:rPr>
                <a:t>Creates false edges and noisy regions.</a:t>
              </a:r>
            </a:p>
          </p:txBody>
        </p:sp>
      </p:grpSp>
      <p:sp>
        <p:nvSpPr>
          <p:cNvPr id="329" name="Rounded Rectangle 72">
            <a:extLst>
              <a:ext uri="{FF2B5EF4-FFF2-40B4-BE49-F238E27FC236}">
                <a16:creationId xmlns:a16="http://schemas.microsoft.com/office/drawing/2014/main" id="{9520619E-B340-BA18-5A2A-7A0B1EABD1B2}"/>
              </a:ext>
            </a:extLst>
          </p:cNvPr>
          <p:cNvSpPr/>
          <p:nvPr/>
        </p:nvSpPr>
        <p:spPr>
          <a:xfrm>
            <a:off x="5050440" y="1726333"/>
            <a:ext cx="2700426" cy="3210722"/>
          </a:xfrm>
          <a:prstGeom prst="round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0" name="Rounded Rectangle 73">
            <a:extLst>
              <a:ext uri="{FF2B5EF4-FFF2-40B4-BE49-F238E27FC236}">
                <a16:creationId xmlns:a16="http://schemas.microsoft.com/office/drawing/2014/main" id="{47815C33-AF5C-8D52-DEC2-53E1B2C1DE08}"/>
              </a:ext>
            </a:extLst>
          </p:cNvPr>
          <p:cNvSpPr/>
          <p:nvPr/>
        </p:nvSpPr>
        <p:spPr>
          <a:xfrm>
            <a:off x="5006049" y="1675253"/>
            <a:ext cx="2700426" cy="3210722"/>
          </a:xfrm>
          <a:prstGeom prst="roundRect">
            <a:avLst/>
          </a:prstGeom>
          <a:solidFill>
            <a:srgbClr val="E1F0F0"/>
          </a:solidFill>
          <a:ln w="9525">
            <a:solidFill>
              <a:srgbClr val="D4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1" name="Rounded Rectangle 74">
            <a:extLst>
              <a:ext uri="{FF2B5EF4-FFF2-40B4-BE49-F238E27FC236}">
                <a16:creationId xmlns:a16="http://schemas.microsoft.com/office/drawing/2014/main" id="{5E38FCD0-503E-C225-226B-D38F992054E7}"/>
              </a:ext>
            </a:extLst>
          </p:cNvPr>
          <p:cNvSpPr/>
          <p:nvPr/>
        </p:nvSpPr>
        <p:spPr>
          <a:xfrm>
            <a:off x="4932065" y="1419855"/>
            <a:ext cx="1442693" cy="452420"/>
          </a:xfrm>
          <a:prstGeom prst="roundRect">
            <a:avLst/>
          </a:prstGeom>
          <a:solidFill>
            <a:srgbClr val="25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ctr"/>
            <a:r>
              <a:rPr sz="1420" b="1">
                <a:solidFill>
                  <a:srgbClr val="FFFFFF"/>
                </a:solidFill>
                <a:latin typeface="+mj-lt"/>
              </a:rPr>
              <a:t>OVEREXPOSURE</a:t>
            </a:r>
          </a:p>
        </p:txBody>
      </p:sp>
      <p:grpSp>
        <p:nvGrpSpPr>
          <p:cNvPr id="416" name="Group 415">
            <a:extLst>
              <a:ext uri="{FF2B5EF4-FFF2-40B4-BE49-F238E27FC236}">
                <a16:creationId xmlns:a16="http://schemas.microsoft.com/office/drawing/2014/main" id="{9257952F-7059-A3D2-636B-28A3D388BA1C}"/>
              </a:ext>
            </a:extLst>
          </p:cNvPr>
          <p:cNvGrpSpPr/>
          <p:nvPr/>
        </p:nvGrpSpPr>
        <p:grpSpPr>
          <a:xfrm>
            <a:off x="6510149" y="1427151"/>
            <a:ext cx="359564" cy="321803"/>
            <a:chOff x="6510149" y="1427151"/>
            <a:chExt cx="359564" cy="321803"/>
          </a:xfrm>
        </p:grpSpPr>
        <p:cxnSp>
          <p:nvCxnSpPr>
            <p:cNvPr id="332" name="Connector 75">
              <a:extLst>
                <a:ext uri="{FF2B5EF4-FFF2-40B4-BE49-F238E27FC236}">
                  <a16:creationId xmlns:a16="http://schemas.microsoft.com/office/drawing/2014/main" id="{94553219-F197-DE09-908D-7618BEF1ABBE}"/>
                </a:ext>
              </a:extLst>
            </p:cNvPr>
            <p:cNvCxnSpPr/>
            <p:nvPr/>
          </p:nvCxnSpPr>
          <p:spPr>
            <a:xfrm flipV="1">
              <a:off x="6630004" y="1427151"/>
              <a:ext cx="0" cy="98512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Connector 76">
              <a:extLst>
                <a:ext uri="{FF2B5EF4-FFF2-40B4-BE49-F238E27FC236}">
                  <a16:creationId xmlns:a16="http://schemas.microsoft.com/office/drawing/2014/main" id="{A4157CBD-22BB-33A6-D64B-06FEC389D376}"/>
                </a:ext>
              </a:extLst>
            </p:cNvPr>
            <p:cNvCxnSpPr/>
            <p:nvPr/>
          </p:nvCxnSpPr>
          <p:spPr>
            <a:xfrm>
              <a:off x="6630004" y="1525663"/>
              <a:ext cx="0" cy="223291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Connector 77">
              <a:extLst>
                <a:ext uri="{FF2B5EF4-FFF2-40B4-BE49-F238E27FC236}">
                  <a16:creationId xmlns:a16="http://schemas.microsoft.com/office/drawing/2014/main" id="{19F07CD8-5953-ECC8-C053-BB8965DD95A8}"/>
                </a:ext>
              </a:extLst>
            </p:cNvPr>
            <p:cNvCxnSpPr/>
            <p:nvPr/>
          </p:nvCxnSpPr>
          <p:spPr>
            <a:xfrm flipH="1">
              <a:off x="6510149" y="1525663"/>
              <a:ext cx="119855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Connector 78">
              <a:extLst>
                <a:ext uri="{FF2B5EF4-FFF2-40B4-BE49-F238E27FC236}">
                  <a16:creationId xmlns:a16="http://schemas.microsoft.com/office/drawing/2014/main" id="{2703D885-71AB-4298-C5A2-BD1F034377C8}"/>
                </a:ext>
              </a:extLst>
            </p:cNvPr>
            <p:cNvCxnSpPr/>
            <p:nvPr/>
          </p:nvCxnSpPr>
          <p:spPr>
            <a:xfrm>
              <a:off x="6630004" y="1525663"/>
              <a:ext cx="239709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Connector 79">
              <a:extLst>
                <a:ext uri="{FF2B5EF4-FFF2-40B4-BE49-F238E27FC236}">
                  <a16:creationId xmlns:a16="http://schemas.microsoft.com/office/drawing/2014/main" id="{189F1FBA-7447-C057-9C64-A60B67B018F3}"/>
                </a:ext>
              </a:extLst>
            </p:cNvPr>
            <p:cNvCxnSpPr/>
            <p:nvPr/>
          </p:nvCxnSpPr>
          <p:spPr>
            <a:xfrm flipH="1" flipV="1">
              <a:off x="6550100" y="1473124"/>
              <a:ext cx="79904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Connector 80">
              <a:extLst>
                <a:ext uri="{FF2B5EF4-FFF2-40B4-BE49-F238E27FC236}">
                  <a16:creationId xmlns:a16="http://schemas.microsoft.com/office/drawing/2014/main" id="{6C1E0A94-147C-1A43-5CDC-1DCDEDD1A507}"/>
                </a:ext>
              </a:extLst>
            </p:cNvPr>
            <p:cNvCxnSpPr/>
            <p:nvPr/>
          </p:nvCxnSpPr>
          <p:spPr>
            <a:xfrm flipV="1">
              <a:off x="6630004" y="1473124"/>
              <a:ext cx="193099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nnector 81">
              <a:extLst>
                <a:ext uri="{FF2B5EF4-FFF2-40B4-BE49-F238E27FC236}">
                  <a16:creationId xmlns:a16="http://schemas.microsoft.com/office/drawing/2014/main" id="{61F16BC3-277A-5DD9-FB3F-1E4BA0D80B01}"/>
                </a:ext>
              </a:extLst>
            </p:cNvPr>
            <p:cNvCxnSpPr/>
            <p:nvPr/>
          </p:nvCxnSpPr>
          <p:spPr>
            <a:xfrm flipH="1">
              <a:off x="6550100" y="1525663"/>
              <a:ext cx="79904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Connector 82">
              <a:extLst>
                <a:ext uri="{FF2B5EF4-FFF2-40B4-BE49-F238E27FC236}">
                  <a16:creationId xmlns:a16="http://schemas.microsoft.com/office/drawing/2014/main" id="{454EFAD6-1FFA-3953-CA1C-B368DC5B6C42}"/>
                </a:ext>
              </a:extLst>
            </p:cNvPr>
            <p:cNvCxnSpPr/>
            <p:nvPr/>
          </p:nvCxnSpPr>
          <p:spPr>
            <a:xfrm>
              <a:off x="6630004" y="1525663"/>
              <a:ext cx="193099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0" name="Oval 339">
              <a:extLst>
                <a:ext uri="{FF2B5EF4-FFF2-40B4-BE49-F238E27FC236}">
                  <a16:creationId xmlns:a16="http://schemas.microsoft.com/office/drawing/2014/main" id="{037606FA-B0F4-179C-A163-0A4C4E31AC2C}"/>
                </a:ext>
              </a:extLst>
            </p:cNvPr>
            <p:cNvSpPr/>
            <p:nvPr/>
          </p:nvSpPr>
          <p:spPr>
            <a:xfrm>
              <a:off x="6558682" y="1463147"/>
              <a:ext cx="173123" cy="170752"/>
            </a:xfrm>
            <a:prstGeom prst="ellipse">
              <a:avLst/>
            </a:prstGeom>
            <a:solidFill>
              <a:srgbClr val="25BEB4"/>
            </a:solidFill>
            <a:ln w="10160">
              <a:solidFill>
                <a:srgbClr val="1D202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sp>
        <p:nvSpPr>
          <p:cNvPr id="341" name="Rounded Rectangle 84">
            <a:extLst>
              <a:ext uri="{FF2B5EF4-FFF2-40B4-BE49-F238E27FC236}">
                <a16:creationId xmlns:a16="http://schemas.microsoft.com/office/drawing/2014/main" id="{5FC35532-162A-96CF-09ED-5396EDC0A8CC}"/>
              </a:ext>
            </a:extLst>
          </p:cNvPr>
          <p:cNvSpPr/>
          <p:nvPr/>
        </p:nvSpPr>
        <p:spPr>
          <a:xfrm>
            <a:off x="5560931" y="1908760"/>
            <a:ext cx="1590662" cy="452420"/>
          </a:xfrm>
          <a:prstGeom prst="roundRect">
            <a:avLst/>
          </a:prstGeom>
          <a:solidFill>
            <a:srgbClr val="D9EEF0"/>
          </a:solidFill>
          <a:ln w="9525">
            <a:solidFill>
              <a:srgbClr val="B4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2" name="Rounded Rectangle 85">
            <a:extLst>
              <a:ext uri="{FF2B5EF4-FFF2-40B4-BE49-F238E27FC236}">
                <a16:creationId xmlns:a16="http://schemas.microsoft.com/office/drawing/2014/main" id="{03FCEADA-541D-2164-50B9-056F5A3266A7}"/>
              </a:ext>
            </a:extLst>
          </p:cNvPr>
          <p:cNvSpPr/>
          <p:nvPr/>
        </p:nvSpPr>
        <p:spPr>
          <a:xfrm>
            <a:off x="5686704" y="1989028"/>
            <a:ext cx="318132" cy="248101"/>
          </a:xfrm>
          <a:prstGeom prst="roundRect">
            <a:avLst/>
          </a:prstGeom>
          <a:noFill/>
          <a:ln w="10160">
            <a:solidFill>
              <a:srgbClr val="4A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0959188E-684A-04A5-EB53-CD9C049ECB47}"/>
              </a:ext>
            </a:extLst>
          </p:cNvPr>
          <p:cNvSpPr txBox="1"/>
          <p:nvPr/>
        </p:nvSpPr>
        <p:spPr>
          <a:xfrm>
            <a:off x="5692140" y="2026483"/>
            <a:ext cx="2895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1D2027"/>
                </a:solidFill>
                <a:latin typeface="+mj-lt"/>
              </a:rPr>
              <a:t>SNR</a:t>
            </a:r>
            <a:endParaRPr sz="1100" b="1" i="0">
              <a:solidFill>
                <a:srgbClr val="1D2027"/>
              </a:solidFill>
              <a:latin typeface="+mj-lt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B14AE81B-37F9-5FF6-AD01-70506E93C515}"/>
              </a:ext>
            </a:extLst>
          </p:cNvPr>
          <p:cNvSpPr txBox="1"/>
          <p:nvPr/>
        </p:nvSpPr>
        <p:spPr>
          <a:xfrm>
            <a:off x="6115813" y="1981731"/>
            <a:ext cx="702115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+mj-lt"/>
              </a:rPr>
              <a:t>SNR: 5.164</a:t>
            </a:r>
          </a:p>
        </p:txBody>
      </p:sp>
      <p:sp>
        <p:nvSpPr>
          <p:cNvPr id="345" name="Rounded Rectangle 88">
            <a:extLst>
              <a:ext uri="{FF2B5EF4-FFF2-40B4-BE49-F238E27FC236}">
                <a16:creationId xmlns:a16="http://schemas.microsoft.com/office/drawing/2014/main" id="{F22BD68B-7D73-814A-5C33-49006EB480A8}"/>
              </a:ext>
            </a:extLst>
          </p:cNvPr>
          <p:cNvSpPr/>
          <p:nvPr/>
        </p:nvSpPr>
        <p:spPr>
          <a:xfrm>
            <a:off x="5228002" y="2610740"/>
            <a:ext cx="239709" cy="157617"/>
          </a:xfrm>
          <a:prstGeom prst="round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F6E25388-F15C-77C6-F119-2E29FA1E2E1B}"/>
              </a:ext>
            </a:extLst>
          </p:cNvPr>
          <p:cNvSpPr/>
          <p:nvPr/>
        </p:nvSpPr>
        <p:spPr>
          <a:xfrm>
            <a:off x="5274612" y="2571337"/>
            <a:ext cx="79903" cy="45972"/>
          </a:xfrm>
          <a:prstGeom prst="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BE90BAF6-176F-1718-1382-AD079A655854}"/>
              </a:ext>
            </a:extLst>
          </p:cNvPr>
          <p:cNvSpPr/>
          <p:nvPr/>
        </p:nvSpPr>
        <p:spPr>
          <a:xfrm>
            <a:off x="5307905" y="2633727"/>
            <a:ext cx="86561" cy="85375"/>
          </a:xfrm>
          <a:prstGeom prst="ellipse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3F8DC0C0-465E-C308-262B-216910ABACD8}"/>
              </a:ext>
            </a:extLst>
          </p:cNvPr>
          <p:cNvSpPr txBox="1"/>
          <p:nvPr/>
        </p:nvSpPr>
        <p:spPr>
          <a:xfrm>
            <a:off x="5525730" y="2521716"/>
            <a:ext cx="2192595" cy="5837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+mj-lt"/>
              </a:rPr>
              <a:t>Canny:</a:t>
            </a:r>
            <a:r>
              <a:rPr sz="1400" b="0">
                <a:solidFill>
                  <a:srgbClr val="000000"/>
                </a:solidFill>
                <a:latin typeface="+mj-lt"/>
              </a:rPr>
              <a:t> 0.527 </a:t>
            </a:r>
            <a:r>
              <a:rPr lang="he-IL" sz="1400">
                <a:solidFill>
                  <a:srgbClr val="000000"/>
                </a:solidFill>
                <a:latin typeface="+mj-lt"/>
              </a:rPr>
              <a:t>-</a:t>
            </a:r>
            <a:r>
              <a:rPr lang="en-US" sz="1400" b="0">
                <a:solidFill>
                  <a:srgbClr val="000000"/>
                </a:solidFill>
                <a:latin typeface="+mj-lt"/>
              </a:rPr>
              <a:t> </a:t>
            </a:r>
            <a:endParaRPr lang="he-IL" sz="1400" b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1400" b="0">
                <a:solidFill>
                  <a:srgbClr val="000000"/>
                </a:solidFill>
                <a:latin typeface="+mj-lt"/>
              </a:rPr>
              <a:t>weakened edge information.</a:t>
            </a:r>
            <a:endParaRPr sz="1400" b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349" name="Connector 92">
            <a:extLst>
              <a:ext uri="{FF2B5EF4-FFF2-40B4-BE49-F238E27FC236}">
                <a16:creationId xmlns:a16="http://schemas.microsoft.com/office/drawing/2014/main" id="{A517352D-377E-30D4-8036-81B5259947EC}"/>
              </a:ext>
            </a:extLst>
          </p:cNvPr>
          <p:cNvCxnSpPr/>
          <p:nvPr/>
        </p:nvCxnSpPr>
        <p:spPr>
          <a:xfrm>
            <a:off x="5213205" y="3120077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Cloud 349">
            <a:extLst>
              <a:ext uri="{FF2B5EF4-FFF2-40B4-BE49-F238E27FC236}">
                <a16:creationId xmlns:a16="http://schemas.microsoft.com/office/drawing/2014/main" id="{0B5A6BB5-73DB-B5F7-FA12-3EDE17E3772D}"/>
              </a:ext>
            </a:extLst>
          </p:cNvPr>
          <p:cNvSpPr/>
          <p:nvPr/>
        </p:nvSpPr>
        <p:spPr>
          <a:xfrm>
            <a:off x="5213205" y="3302505"/>
            <a:ext cx="281140" cy="211616"/>
          </a:xfrm>
          <a:prstGeom prst="cloud">
            <a:avLst/>
          </a:prstGeom>
          <a:solidFill>
            <a:srgbClr val="EBF8FA"/>
          </a:solidFill>
          <a:ln w="1524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1" name="Cloud 350">
            <a:extLst>
              <a:ext uri="{FF2B5EF4-FFF2-40B4-BE49-F238E27FC236}">
                <a16:creationId xmlns:a16="http://schemas.microsoft.com/office/drawing/2014/main" id="{A0DEDEC6-B558-92E0-9AAF-70ACBA97FE97}"/>
              </a:ext>
            </a:extLst>
          </p:cNvPr>
          <p:cNvSpPr/>
          <p:nvPr/>
        </p:nvSpPr>
        <p:spPr>
          <a:xfrm>
            <a:off x="5331580" y="3368179"/>
            <a:ext cx="244148" cy="182427"/>
          </a:xfrm>
          <a:prstGeom prst="cloud">
            <a:avLst/>
          </a:prstGeom>
          <a:solidFill>
            <a:srgbClr val="25BEB4"/>
          </a:solidFill>
          <a:ln w="1270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8D16ECFC-C3A9-F74D-FE23-7925115BE145}"/>
              </a:ext>
            </a:extLst>
          </p:cNvPr>
          <p:cNvSpPr txBox="1"/>
          <p:nvPr/>
        </p:nvSpPr>
        <p:spPr>
          <a:xfrm>
            <a:off x="5652145" y="3137116"/>
            <a:ext cx="2105508" cy="583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1" err="1">
                <a:solidFill>
                  <a:srgbClr val="000000"/>
                </a:solidFill>
                <a:latin typeface="+mj-lt"/>
              </a:rPr>
              <a:t>GrabCut</a:t>
            </a:r>
            <a:r>
              <a:rPr sz="1400" b="1">
                <a:solidFill>
                  <a:srgbClr val="000000"/>
                </a:solidFill>
                <a:latin typeface="+mj-lt"/>
              </a:rPr>
              <a:t>:</a:t>
            </a:r>
            <a:r>
              <a:rPr sz="1400" b="0">
                <a:solidFill>
                  <a:srgbClr val="000000"/>
                </a:solidFill>
                <a:latin typeface="+mj-lt"/>
              </a:rPr>
              <a:t> 0.561 </a:t>
            </a:r>
            <a:r>
              <a:rPr lang="he-IL" sz="1400">
                <a:solidFill>
                  <a:srgbClr val="000000"/>
                </a:solidFill>
                <a:latin typeface="+mj-lt"/>
              </a:rPr>
              <a:t>-</a:t>
            </a:r>
            <a:endParaRPr lang="he-IL" sz="1400" b="0">
              <a:solidFill>
                <a:srgbClr val="000000"/>
              </a:solidFill>
              <a:latin typeface="+mj-lt"/>
            </a:endParaRPr>
          </a:p>
          <a:p>
            <a:pPr algn="l"/>
            <a:r>
              <a:rPr lang="en-US" sz="1400" b="0">
                <a:solidFill>
                  <a:srgbClr val="000000"/>
                </a:solidFill>
                <a:latin typeface="+mj-lt"/>
              </a:rPr>
              <a:t>affected by unclear boundaries.</a:t>
            </a:r>
            <a:endParaRPr sz="1400" b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353" name="Connector 96">
            <a:extLst>
              <a:ext uri="{FF2B5EF4-FFF2-40B4-BE49-F238E27FC236}">
                <a16:creationId xmlns:a16="http://schemas.microsoft.com/office/drawing/2014/main" id="{183FE954-B3A1-7C00-CA28-8F208168F351}"/>
              </a:ext>
            </a:extLst>
          </p:cNvPr>
          <p:cNvCxnSpPr/>
          <p:nvPr/>
        </p:nvCxnSpPr>
        <p:spPr>
          <a:xfrm>
            <a:off x="5213205" y="3878976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4" name="Connector 97">
            <a:extLst>
              <a:ext uri="{FF2B5EF4-FFF2-40B4-BE49-F238E27FC236}">
                <a16:creationId xmlns:a16="http://schemas.microsoft.com/office/drawing/2014/main" id="{18F8374D-ABD5-EB2A-E6BA-312BC185C53D}"/>
              </a:ext>
            </a:extLst>
          </p:cNvPr>
          <p:cNvCxnSpPr/>
          <p:nvPr/>
        </p:nvCxnSpPr>
        <p:spPr>
          <a:xfrm flipV="1">
            <a:off x="5250197" y="4061403"/>
            <a:ext cx="199758" cy="43783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98">
            <a:extLst>
              <a:ext uri="{FF2B5EF4-FFF2-40B4-BE49-F238E27FC236}">
                <a16:creationId xmlns:a16="http://schemas.microsoft.com/office/drawing/2014/main" id="{FE4325E9-4874-3C85-5941-F8F9B27D1796}"/>
              </a:ext>
            </a:extLst>
          </p:cNvPr>
          <p:cNvCxnSpPr/>
          <p:nvPr/>
        </p:nvCxnSpPr>
        <p:spPr>
          <a:xfrm flipH="1">
            <a:off x="5420361" y="4061403"/>
            <a:ext cx="29594" cy="204319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99">
            <a:extLst>
              <a:ext uri="{FF2B5EF4-FFF2-40B4-BE49-F238E27FC236}">
                <a16:creationId xmlns:a16="http://schemas.microsoft.com/office/drawing/2014/main" id="{889A556F-E70B-2C30-03E2-3198C7ABD0F0}"/>
              </a:ext>
            </a:extLst>
          </p:cNvPr>
          <p:cNvCxnSpPr/>
          <p:nvPr/>
        </p:nvCxnSpPr>
        <p:spPr>
          <a:xfrm flipH="1" flipV="1">
            <a:off x="5287189" y="4229236"/>
            <a:ext cx="133172" cy="36485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100">
            <a:extLst>
              <a:ext uri="{FF2B5EF4-FFF2-40B4-BE49-F238E27FC236}">
                <a16:creationId xmlns:a16="http://schemas.microsoft.com/office/drawing/2014/main" id="{3FFA74E5-46C6-2C92-91EB-5F48BC94D9F0}"/>
              </a:ext>
            </a:extLst>
          </p:cNvPr>
          <p:cNvCxnSpPr/>
          <p:nvPr/>
        </p:nvCxnSpPr>
        <p:spPr>
          <a:xfrm>
            <a:off x="5250197" y="4105185"/>
            <a:ext cx="36992" cy="124051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101">
            <a:extLst>
              <a:ext uri="{FF2B5EF4-FFF2-40B4-BE49-F238E27FC236}">
                <a16:creationId xmlns:a16="http://schemas.microsoft.com/office/drawing/2014/main" id="{2F41F4FB-9978-7A02-ADF1-DEEC8B4901AE}"/>
              </a:ext>
            </a:extLst>
          </p:cNvPr>
          <p:cNvCxnSpPr/>
          <p:nvPr/>
        </p:nvCxnSpPr>
        <p:spPr>
          <a:xfrm>
            <a:off x="5449955" y="4061403"/>
            <a:ext cx="59187" cy="116754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9" name="Connector 102">
            <a:extLst>
              <a:ext uri="{FF2B5EF4-FFF2-40B4-BE49-F238E27FC236}">
                <a16:creationId xmlns:a16="http://schemas.microsoft.com/office/drawing/2014/main" id="{7A4F4CF3-977D-3EDF-B608-F02654050223}"/>
              </a:ext>
            </a:extLst>
          </p:cNvPr>
          <p:cNvCxnSpPr/>
          <p:nvPr/>
        </p:nvCxnSpPr>
        <p:spPr>
          <a:xfrm flipH="1">
            <a:off x="5420361" y="4178156"/>
            <a:ext cx="88781" cy="87565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0" name="Connector 103">
            <a:extLst>
              <a:ext uri="{FF2B5EF4-FFF2-40B4-BE49-F238E27FC236}">
                <a16:creationId xmlns:a16="http://schemas.microsoft.com/office/drawing/2014/main" id="{A8758D81-4CF8-3F6D-B776-6237BBB5253A}"/>
              </a:ext>
            </a:extLst>
          </p:cNvPr>
          <p:cNvCxnSpPr/>
          <p:nvPr/>
        </p:nvCxnSpPr>
        <p:spPr>
          <a:xfrm>
            <a:off x="5250197" y="4105185"/>
            <a:ext cx="258945" cy="72971"/>
          </a:xfrm>
          <a:prstGeom prst="line">
            <a:avLst/>
          </a:prstGeom>
          <a:ln w="12700">
            <a:solidFill>
              <a:srgbClr val="25BE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1" name="Oval 360">
            <a:extLst>
              <a:ext uri="{FF2B5EF4-FFF2-40B4-BE49-F238E27FC236}">
                <a16:creationId xmlns:a16="http://schemas.microsoft.com/office/drawing/2014/main" id="{8AF545C0-4E3F-1195-9FC6-A79050A93795}"/>
              </a:ext>
            </a:extLst>
          </p:cNvPr>
          <p:cNvSpPr/>
          <p:nvPr/>
        </p:nvSpPr>
        <p:spPr>
          <a:xfrm>
            <a:off x="5250197" y="4105185"/>
            <a:ext cx="55488" cy="54728"/>
          </a:xfrm>
          <a:prstGeom prst="ellipse">
            <a:avLst/>
          </a:prstGeom>
          <a:solidFill>
            <a:srgbClr val="ECF8FA"/>
          </a:solidFill>
          <a:ln w="1016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2" name="Oval 361">
            <a:extLst>
              <a:ext uri="{FF2B5EF4-FFF2-40B4-BE49-F238E27FC236}">
                <a16:creationId xmlns:a16="http://schemas.microsoft.com/office/drawing/2014/main" id="{2882755F-55B5-90D6-CA29-DAE02AD1B848}"/>
              </a:ext>
            </a:extLst>
          </p:cNvPr>
          <p:cNvSpPr/>
          <p:nvPr/>
        </p:nvSpPr>
        <p:spPr>
          <a:xfrm>
            <a:off x="5449955" y="4061403"/>
            <a:ext cx="55488" cy="54728"/>
          </a:xfrm>
          <a:prstGeom prst="ellipse">
            <a:avLst/>
          </a:prstGeom>
          <a:solidFill>
            <a:srgbClr val="ECF8FA"/>
          </a:solidFill>
          <a:ln w="1016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3" name="Oval 362">
            <a:extLst>
              <a:ext uri="{FF2B5EF4-FFF2-40B4-BE49-F238E27FC236}">
                <a16:creationId xmlns:a16="http://schemas.microsoft.com/office/drawing/2014/main" id="{06F12580-D8B0-674F-BD28-D7F87E56E90F}"/>
              </a:ext>
            </a:extLst>
          </p:cNvPr>
          <p:cNvSpPr/>
          <p:nvPr/>
        </p:nvSpPr>
        <p:spPr>
          <a:xfrm>
            <a:off x="5420361" y="4265721"/>
            <a:ext cx="55488" cy="54728"/>
          </a:xfrm>
          <a:prstGeom prst="ellipse">
            <a:avLst/>
          </a:prstGeom>
          <a:solidFill>
            <a:srgbClr val="ECF8FA"/>
          </a:solidFill>
          <a:ln w="1016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4" name="Oval 363">
            <a:extLst>
              <a:ext uri="{FF2B5EF4-FFF2-40B4-BE49-F238E27FC236}">
                <a16:creationId xmlns:a16="http://schemas.microsoft.com/office/drawing/2014/main" id="{7FE23499-73DC-DC55-263E-C75E943E7051}"/>
              </a:ext>
            </a:extLst>
          </p:cNvPr>
          <p:cNvSpPr/>
          <p:nvPr/>
        </p:nvSpPr>
        <p:spPr>
          <a:xfrm>
            <a:off x="5287189" y="4229236"/>
            <a:ext cx="55488" cy="54728"/>
          </a:xfrm>
          <a:prstGeom prst="ellipse">
            <a:avLst/>
          </a:prstGeom>
          <a:solidFill>
            <a:srgbClr val="ECF8FA"/>
          </a:solidFill>
          <a:ln w="1016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5" name="Oval 364">
            <a:extLst>
              <a:ext uri="{FF2B5EF4-FFF2-40B4-BE49-F238E27FC236}">
                <a16:creationId xmlns:a16="http://schemas.microsoft.com/office/drawing/2014/main" id="{2515B0EF-9176-B4C5-984C-96E569159DC8}"/>
              </a:ext>
            </a:extLst>
          </p:cNvPr>
          <p:cNvSpPr/>
          <p:nvPr/>
        </p:nvSpPr>
        <p:spPr>
          <a:xfrm>
            <a:off x="5509142" y="4178156"/>
            <a:ext cx="55488" cy="54728"/>
          </a:xfrm>
          <a:prstGeom prst="ellipse">
            <a:avLst/>
          </a:prstGeom>
          <a:solidFill>
            <a:srgbClr val="ECF8FA"/>
          </a:solidFill>
          <a:ln w="1016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66" name="TextBox 365">
            <a:extLst>
              <a:ext uri="{FF2B5EF4-FFF2-40B4-BE49-F238E27FC236}">
                <a16:creationId xmlns:a16="http://schemas.microsoft.com/office/drawing/2014/main" id="{E900403E-3B8A-00DE-34BF-914B8E2D0163}"/>
              </a:ext>
            </a:extLst>
          </p:cNvPr>
          <p:cNvSpPr txBox="1"/>
          <p:nvPr/>
        </p:nvSpPr>
        <p:spPr>
          <a:xfrm>
            <a:off x="5642314" y="4039512"/>
            <a:ext cx="2056344" cy="583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+mj-lt"/>
              </a:rPr>
              <a:t>ResNet50 F1:</a:t>
            </a:r>
            <a:r>
              <a:rPr sz="1400" b="0">
                <a:solidFill>
                  <a:srgbClr val="000000"/>
                </a:solidFill>
                <a:latin typeface="+mj-lt"/>
              </a:rPr>
              <a:t> 0.819 - </a:t>
            </a:r>
            <a:r>
              <a:rPr lang="en-US" sz="1400" b="0">
                <a:solidFill>
                  <a:srgbClr val="000000"/>
                </a:solidFill>
                <a:latin typeface="+mj-lt"/>
              </a:rPr>
              <a:t>moderately robust</a:t>
            </a:r>
            <a:r>
              <a:rPr sz="1400" b="0">
                <a:solidFill>
                  <a:srgbClr val="000000"/>
                </a:solidFill>
                <a:latin typeface="+mj-lt"/>
              </a:rPr>
              <a:t>.</a:t>
            </a: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156B0078-3363-BE21-BA63-8E0AFB0B246F}"/>
              </a:ext>
            </a:extLst>
          </p:cNvPr>
          <p:cNvSpPr txBox="1"/>
          <p:nvPr/>
        </p:nvSpPr>
        <p:spPr>
          <a:xfrm>
            <a:off x="5338998" y="4573243"/>
            <a:ext cx="2093522" cy="16158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050" b="0" i="0">
                <a:solidFill>
                  <a:srgbClr val="000000"/>
                </a:solidFill>
                <a:latin typeface="+mj-lt"/>
              </a:rPr>
              <a:t>Causes saturation and loss of contrast.</a:t>
            </a:r>
          </a:p>
        </p:txBody>
      </p:sp>
      <p:grpSp>
        <p:nvGrpSpPr>
          <p:cNvPr id="368" name="Group 367">
            <a:extLst>
              <a:ext uri="{FF2B5EF4-FFF2-40B4-BE49-F238E27FC236}">
                <a16:creationId xmlns:a16="http://schemas.microsoft.com/office/drawing/2014/main" id="{B43ECFBE-D97F-D459-197D-0D4B9C768E01}"/>
              </a:ext>
            </a:extLst>
          </p:cNvPr>
          <p:cNvGrpSpPr/>
          <p:nvPr/>
        </p:nvGrpSpPr>
        <p:grpSpPr>
          <a:xfrm>
            <a:off x="8461767" y="1454746"/>
            <a:ext cx="2819445" cy="3517451"/>
            <a:chOff x="8366760" y="1005840"/>
            <a:chExt cx="3483864" cy="4407408"/>
          </a:xfrm>
        </p:grpSpPr>
        <p:cxnSp>
          <p:nvCxnSpPr>
            <p:cNvPr id="369" name="Connector 19">
              <a:extLst>
                <a:ext uri="{FF2B5EF4-FFF2-40B4-BE49-F238E27FC236}">
                  <a16:creationId xmlns:a16="http://schemas.microsoft.com/office/drawing/2014/main" id="{D42EF4B2-F7E4-2C0B-1C61-7527855198B6}"/>
                </a:ext>
              </a:extLst>
            </p:cNvPr>
            <p:cNvCxnSpPr/>
            <p:nvPr/>
          </p:nvCxnSpPr>
          <p:spPr>
            <a:xfrm>
              <a:off x="11137392" y="1024128"/>
              <a:ext cx="0" cy="246888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nector 20">
              <a:extLst>
                <a:ext uri="{FF2B5EF4-FFF2-40B4-BE49-F238E27FC236}">
                  <a16:creationId xmlns:a16="http://schemas.microsoft.com/office/drawing/2014/main" id="{445B785A-99A7-A6FE-58E5-025B991B8225}"/>
                </a:ext>
              </a:extLst>
            </p:cNvPr>
            <p:cNvCxnSpPr/>
            <p:nvPr/>
          </p:nvCxnSpPr>
          <p:spPr>
            <a:xfrm>
              <a:off x="11137392" y="1271016"/>
              <a:ext cx="246888" cy="0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1" name="Rounded Rectangle 111">
              <a:extLst>
                <a:ext uri="{FF2B5EF4-FFF2-40B4-BE49-F238E27FC236}">
                  <a16:creationId xmlns:a16="http://schemas.microsoft.com/office/drawing/2014/main" id="{D3345F0B-6ABA-91C1-7A42-9F7D3EA7A860}"/>
                </a:ext>
              </a:extLst>
            </p:cNvPr>
            <p:cNvSpPr/>
            <p:nvPr/>
          </p:nvSpPr>
          <p:spPr>
            <a:xfrm>
              <a:off x="8513064" y="1389888"/>
              <a:ext cx="3337560" cy="4023360"/>
            </a:xfrm>
            <a:prstGeom prst="roundRect">
              <a:avLst/>
            </a:prstGeom>
            <a:solidFill>
              <a:srgbClr val="CDD2D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2" name="Rounded Rectangle 112">
              <a:extLst>
                <a:ext uri="{FF2B5EF4-FFF2-40B4-BE49-F238E27FC236}">
                  <a16:creationId xmlns:a16="http://schemas.microsoft.com/office/drawing/2014/main" id="{A77EA7B8-35FE-4E4A-3F9F-F26A6895A762}"/>
                </a:ext>
              </a:extLst>
            </p:cNvPr>
            <p:cNvSpPr/>
            <p:nvPr/>
          </p:nvSpPr>
          <p:spPr>
            <a:xfrm>
              <a:off x="8458200" y="1325881"/>
              <a:ext cx="3337560" cy="4023360"/>
            </a:xfrm>
            <a:prstGeom prst="roundRect">
              <a:avLst/>
            </a:prstGeom>
            <a:solidFill>
              <a:srgbClr val="E7F1E5"/>
            </a:solidFill>
            <a:ln w="9525">
              <a:solidFill>
                <a:srgbClr val="D4D9D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3" name="Rounded Rectangle 113">
              <a:extLst>
                <a:ext uri="{FF2B5EF4-FFF2-40B4-BE49-F238E27FC236}">
                  <a16:creationId xmlns:a16="http://schemas.microsoft.com/office/drawing/2014/main" id="{BD136979-CF18-9B2E-320E-EBEB1B35085A}"/>
                </a:ext>
              </a:extLst>
            </p:cNvPr>
            <p:cNvSpPr/>
            <p:nvPr/>
          </p:nvSpPr>
          <p:spPr>
            <a:xfrm>
              <a:off x="8366760" y="1005840"/>
              <a:ext cx="1783080" cy="566928"/>
            </a:xfrm>
            <a:prstGeom prst="roundRect">
              <a:avLst/>
            </a:prstGeom>
            <a:solidFill>
              <a:srgbClr val="48CD7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27432" tIns="27432" rIns="27432" bIns="27432" rtlCol="0" anchor="ctr"/>
            <a:lstStyle/>
            <a:p>
              <a:pPr algn="ctr"/>
              <a:r>
                <a:rPr sz="1420" b="1">
                  <a:solidFill>
                    <a:srgbClr val="FFFFFF"/>
                  </a:solidFill>
                  <a:latin typeface="+mj-lt"/>
                </a:rPr>
                <a:t>MOTION BLUR</a:t>
              </a:r>
            </a:p>
          </p:txBody>
        </p:sp>
        <p:cxnSp>
          <p:nvCxnSpPr>
            <p:cNvPr id="374" name="Connector 114">
              <a:extLst>
                <a:ext uri="{FF2B5EF4-FFF2-40B4-BE49-F238E27FC236}">
                  <a16:creationId xmlns:a16="http://schemas.microsoft.com/office/drawing/2014/main" id="{19A3724C-1B4B-DC06-4AA7-6E60496245F4}"/>
                </a:ext>
              </a:extLst>
            </p:cNvPr>
            <p:cNvCxnSpPr/>
            <p:nvPr/>
          </p:nvCxnSpPr>
          <p:spPr>
            <a:xfrm>
              <a:off x="10222992" y="1225296"/>
              <a:ext cx="566928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or 115">
              <a:extLst>
                <a:ext uri="{FF2B5EF4-FFF2-40B4-BE49-F238E27FC236}">
                  <a16:creationId xmlns:a16="http://schemas.microsoft.com/office/drawing/2014/main" id="{0B2B0EFD-443B-983F-E0F4-6167FBCCABAA}"/>
                </a:ext>
              </a:extLst>
            </p:cNvPr>
            <p:cNvCxnSpPr/>
            <p:nvPr/>
          </p:nvCxnSpPr>
          <p:spPr>
            <a:xfrm>
              <a:off x="10222992" y="1316736"/>
              <a:ext cx="566928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116">
              <a:extLst>
                <a:ext uri="{FF2B5EF4-FFF2-40B4-BE49-F238E27FC236}">
                  <a16:creationId xmlns:a16="http://schemas.microsoft.com/office/drawing/2014/main" id="{9EC7EFBF-6F83-511C-F55D-96F7099849A4}"/>
                </a:ext>
              </a:extLst>
            </p:cNvPr>
            <p:cNvCxnSpPr/>
            <p:nvPr/>
          </p:nvCxnSpPr>
          <p:spPr>
            <a:xfrm>
              <a:off x="10222992" y="1417320"/>
              <a:ext cx="566928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Rounded Rectangle 117">
              <a:extLst>
                <a:ext uri="{FF2B5EF4-FFF2-40B4-BE49-F238E27FC236}">
                  <a16:creationId xmlns:a16="http://schemas.microsoft.com/office/drawing/2014/main" id="{6A01EEB7-8B5D-C355-04A4-F410468DF8AB}"/>
                </a:ext>
              </a:extLst>
            </p:cNvPr>
            <p:cNvSpPr/>
            <p:nvPr/>
          </p:nvSpPr>
          <p:spPr>
            <a:xfrm>
              <a:off x="10817352" y="1147572"/>
              <a:ext cx="556869" cy="172821"/>
            </a:xfrm>
            <a:prstGeom prst="roundRect">
              <a:avLst/>
            </a:prstGeom>
            <a:solidFill>
              <a:srgbClr val="47CD6F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8" name="Trapezoid 377">
              <a:extLst>
                <a:ext uri="{FF2B5EF4-FFF2-40B4-BE49-F238E27FC236}">
                  <a16:creationId xmlns:a16="http://schemas.microsoft.com/office/drawing/2014/main" id="{A128B173-1EE3-6C3C-F6E8-9D006034732C}"/>
                </a:ext>
              </a:extLst>
            </p:cNvPr>
            <p:cNvSpPr/>
            <p:nvPr/>
          </p:nvSpPr>
          <p:spPr>
            <a:xfrm>
              <a:off x="10942167" y="1051560"/>
              <a:ext cx="288036" cy="163220"/>
            </a:xfrm>
            <a:prstGeom prst="trapezoid">
              <a:avLst/>
            </a:prstGeom>
            <a:solidFill>
              <a:srgbClr val="BEEBC3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381EEC6C-68A8-13D2-9B7D-7128CEDC88CB}"/>
                </a:ext>
              </a:extLst>
            </p:cNvPr>
            <p:cNvSpPr/>
            <p:nvPr/>
          </p:nvSpPr>
          <p:spPr>
            <a:xfrm>
              <a:off x="10922965" y="1272387"/>
              <a:ext cx="115214" cy="115214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83A15881-43F6-FE69-C7DC-955703113543}"/>
                </a:ext>
              </a:extLst>
            </p:cNvPr>
            <p:cNvSpPr/>
            <p:nvPr/>
          </p:nvSpPr>
          <p:spPr>
            <a:xfrm>
              <a:off x="11230203" y="1272387"/>
              <a:ext cx="115214" cy="115214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1" name="Rounded Rectangle 121">
              <a:extLst>
                <a:ext uri="{FF2B5EF4-FFF2-40B4-BE49-F238E27FC236}">
                  <a16:creationId xmlns:a16="http://schemas.microsoft.com/office/drawing/2014/main" id="{A06EE903-A6D1-98E4-B340-9298A501B50A}"/>
                </a:ext>
              </a:extLst>
            </p:cNvPr>
            <p:cNvSpPr/>
            <p:nvPr/>
          </p:nvSpPr>
          <p:spPr>
            <a:xfrm>
              <a:off x="9144000" y="1618488"/>
              <a:ext cx="1965960" cy="566928"/>
            </a:xfrm>
            <a:prstGeom prst="roundRect">
              <a:avLst/>
            </a:prstGeom>
            <a:solidFill>
              <a:srgbClr val="D9EEF0"/>
            </a:solidFill>
            <a:ln w="9525">
              <a:solidFill>
                <a:srgbClr val="B4D2D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2" name="Rounded Rectangle 122">
              <a:extLst>
                <a:ext uri="{FF2B5EF4-FFF2-40B4-BE49-F238E27FC236}">
                  <a16:creationId xmlns:a16="http://schemas.microsoft.com/office/drawing/2014/main" id="{08489E31-85F4-A343-2E31-63F9D0D3D93F}"/>
                </a:ext>
              </a:extLst>
            </p:cNvPr>
            <p:cNvSpPr/>
            <p:nvPr/>
          </p:nvSpPr>
          <p:spPr>
            <a:xfrm>
              <a:off x="9299448" y="1719072"/>
              <a:ext cx="393192" cy="310896"/>
            </a:xfrm>
            <a:prstGeom prst="roundRect">
              <a:avLst/>
            </a:prstGeom>
            <a:noFill/>
            <a:ln w="10160">
              <a:solidFill>
                <a:srgbClr val="4A5E69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63139C88-FFD9-B758-2613-CF4B320BCBEA}"/>
                </a:ext>
              </a:extLst>
            </p:cNvPr>
            <p:cNvSpPr txBox="1"/>
            <p:nvPr/>
          </p:nvSpPr>
          <p:spPr>
            <a:xfrm>
              <a:off x="9233847" y="1787706"/>
              <a:ext cx="533803" cy="21210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100" b="1" i="0">
                  <a:solidFill>
                    <a:srgbClr val="1D2027"/>
                  </a:solidFill>
                  <a:latin typeface="+mj-lt"/>
                </a:rPr>
                <a:t>SNR</a:t>
              </a:r>
            </a:p>
          </p:txBody>
        </p:sp>
        <p:sp>
          <p:nvSpPr>
            <p:cNvPr id="384" name="TextBox 383">
              <a:extLst>
                <a:ext uri="{FF2B5EF4-FFF2-40B4-BE49-F238E27FC236}">
                  <a16:creationId xmlns:a16="http://schemas.microsoft.com/office/drawing/2014/main" id="{983F92CE-3AB9-64CE-DC42-C58B3C4BD2DB}"/>
                </a:ext>
              </a:extLst>
            </p:cNvPr>
            <p:cNvSpPr txBox="1"/>
            <p:nvPr/>
          </p:nvSpPr>
          <p:spPr>
            <a:xfrm>
              <a:off x="9829800" y="1709927"/>
              <a:ext cx="958687" cy="25067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/>
              <a:r>
                <a:rPr sz="1300" b="1" i="0">
                  <a:solidFill>
                    <a:srgbClr val="000000"/>
                  </a:solidFill>
                  <a:latin typeface="+mj-lt"/>
                </a:rPr>
                <a:t>SNR: 17.219</a:t>
              </a:r>
            </a:p>
          </p:txBody>
        </p:sp>
        <p:sp>
          <p:nvSpPr>
            <p:cNvPr id="385" name="Rounded Rectangle 125">
              <a:extLst>
                <a:ext uri="{FF2B5EF4-FFF2-40B4-BE49-F238E27FC236}">
                  <a16:creationId xmlns:a16="http://schemas.microsoft.com/office/drawing/2014/main" id="{7DBC9487-4888-500D-3CA8-FBDC45CCBDA3}"/>
                </a:ext>
              </a:extLst>
            </p:cNvPr>
            <p:cNvSpPr/>
            <p:nvPr/>
          </p:nvSpPr>
          <p:spPr>
            <a:xfrm>
              <a:off x="8732520" y="2498140"/>
              <a:ext cx="296265" cy="197510"/>
            </a:xfrm>
            <a:prstGeom prst="roundRect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6" name="Rectangle 385">
              <a:extLst>
                <a:ext uri="{FF2B5EF4-FFF2-40B4-BE49-F238E27FC236}">
                  <a16:creationId xmlns:a16="http://schemas.microsoft.com/office/drawing/2014/main" id="{51D65317-CCB8-B3FE-546E-E25680E50DBB}"/>
                </a:ext>
              </a:extLst>
            </p:cNvPr>
            <p:cNvSpPr/>
            <p:nvPr/>
          </p:nvSpPr>
          <p:spPr>
            <a:xfrm>
              <a:off x="8790127" y="2448763"/>
              <a:ext cx="98755" cy="57607"/>
            </a:xfrm>
            <a:prstGeom prst="rect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7" name="Oval 386">
              <a:extLst>
                <a:ext uri="{FF2B5EF4-FFF2-40B4-BE49-F238E27FC236}">
                  <a16:creationId xmlns:a16="http://schemas.microsoft.com/office/drawing/2014/main" id="{666C3B98-BC02-A2D7-5DB1-2A5CC6FC905C}"/>
                </a:ext>
              </a:extLst>
            </p:cNvPr>
            <p:cNvSpPr/>
            <p:nvPr/>
          </p:nvSpPr>
          <p:spPr>
            <a:xfrm>
              <a:off x="8831275" y="2526944"/>
              <a:ext cx="106984" cy="106984"/>
            </a:xfrm>
            <a:prstGeom prst="ellipse">
              <a:avLst/>
            </a:prstGeom>
            <a:noFill/>
            <a:ln w="12700">
              <a:solidFill>
                <a:srgbClr val="34485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8" name="TextBox 387">
              <a:extLst>
                <a:ext uri="{FF2B5EF4-FFF2-40B4-BE49-F238E27FC236}">
                  <a16:creationId xmlns:a16="http://schemas.microsoft.com/office/drawing/2014/main" id="{FB376E59-E4FB-1E8C-8742-3635A6D489E7}"/>
                </a:ext>
              </a:extLst>
            </p:cNvPr>
            <p:cNvSpPr txBox="1"/>
            <p:nvPr/>
          </p:nvSpPr>
          <p:spPr>
            <a:xfrm>
              <a:off x="9235168" y="2329296"/>
              <a:ext cx="2377439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+mj-lt"/>
                </a:rPr>
                <a:t>Canny: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0.136</a:t>
              </a:r>
              <a:r>
                <a:rPr lang="en-US" sz="1400" b="0">
                  <a:solidFill>
                    <a:srgbClr val="000000"/>
                  </a:solidFill>
                  <a:latin typeface="+mj-lt"/>
                </a:rPr>
                <a:t> </a:t>
              </a:r>
              <a:r>
                <a:rPr lang="he-IL" sz="1400" b="0">
                  <a:solidFill>
                    <a:srgbClr val="000000"/>
                  </a:solidFill>
                  <a:latin typeface="+mj-lt"/>
                </a:rPr>
                <a:t>-</a:t>
              </a:r>
              <a:r>
                <a:rPr lang="en-US" sz="1400" b="0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400">
                <a:solidFill>
                  <a:srgbClr val="000000"/>
                </a:solidFill>
                <a:latin typeface="+mj-lt"/>
              </a:endParaRPr>
            </a:p>
            <a:p>
              <a:pPr algn="l"/>
              <a:r>
                <a:rPr sz="1400" b="0">
                  <a:solidFill>
                    <a:srgbClr val="000000"/>
                  </a:solidFill>
                  <a:latin typeface="+mj-lt"/>
                </a:rPr>
                <a:t> </a:t>
              </a:r>
              <a:r>
                <a:rPr lang="en-US" sz="1400" b="0">
                  <a:solidFill>
                    <a:srgbClr val="000000"/>
                  </a:solidFill>
                  <a:latin typeface="+mj-lt"/>
                </a:rPr>
                <a:t>strongly affected by edge smoothing.</a:t>
              </a:r>
              <a:endParaRPr sz="1400" b="0">
                <a:solidFill>
                  <a:srgbClr val="000000"/>
                </a:solidFill>
                <a:latin typeface="+mj-lt"/>
              </a:endParaRPr>
            </a:p>
          </p:txBody>
        </p:sp>
        <p:cxnSp>
          <p:nvCxnSpPr>
            <p:cNvPr id="389" name="Connector 129">
              <a:extLst>
                <a:ext uri="{FF2B5EF4-FFF2-40B4-BE49-F238E27FC236}">
                  <a16:creationId xmlns:a16="http://schemas.microsoft.com/office/drawing/2014/main" id="{57E0D2EC-B214-5FC1-C2E2-1BA5D3C6622C}"/>
                </a:ext>
              </a:extLst>
            </p:cNvPr>
            <p:cNvCxnSpPr/>
            <p:nvPr/>
          </p:nvCxnSpPr>
          <p:spPr>
            <a:xfrm>
              <a:off x="8714232" y="3136391"/>
              <a:ext cx="2852928" cy="0"/>
            </a:xfrm>
            <a:prstGeom prst="line">
              <a:avLst/>
            </a:prstGeom>
            <a:ln w="8255">
              <a:solidFill>
                <a:srgbClr val="B9BEC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0" name="Cloud 389">
              <a:extLst>
                <a:ext uri="{FF2B5EF4-FFF2-40B4-BE49-F238E27FC236}">
                  <a16:creationId xmlns:a16="http://schemas.microsoft.com/office/drawing/2014/main" id="{4FD28C41-840D-507C-DC4E-1DF60DA9DEFF}"/>
                </a:ext>
              </a:extLst>
            </p:cNvPr>
            <p:cNvSpPr/>
            <p:nvPr/>
          </p:nvSpPr>
          <p:spPr>
            <a:xfrm>
              <a:off x="8714232" y="3364991"/>
              <a:ext cx="347472" cy="265176"/>
            </a:xfrm>
            <a:prstGeom prst="cloud">
              <a:avLst/>
            </a:prstGeom>
            <a:solidFill>
              <a:srgbClr val="EBF8FA"/>
            </a:solidFill>
            <a:ln w="1524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91" name="Cloud 390">
              <a:extLst>
                <a:ext uri="{FF2B5EF4-FFF2-40B4-BE49-F238E27FC236}">
                  <a16:creationId xmlns:a16="http://schemas.microsoft.com/office/drawing/2014/main" id="{19290887-AC7B-6181-45A4-EF4680881A84}"/>
                </a:ext>
              </a:extLst>
            </p:cNvPr>
            <p:cNvSpPr/>
            <p:nvPr/>
          </p:nvSpPr>
          <p:spPr>
            <a:xfrm>
              <a:off x="8860536" y="3447287"/>
              <a:ext cx="301752" cy="228600"/>
            </a:xfrm>
            <a:prstGeom prst="cloud">
              <a:avLst/>
            </a:prstGeom>
            <a:solidFill>
              <a:srgbClr val="48CD70"/>
            </a:solidFill>
            <a:ln w="1270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92" name="TextBox 391">
              <a:extLst>
                <a:ext uri="{FF2B5EF4-FFF2-40B4-BE49-F238E27FC236}">
                  <a16:creationId xmlns:a16="http://schemas.microsoft.com/office/drawing/2014/main" id="{1601DC87-A7A4-038C-0811-9781D334EB1E}"/>
                </a:ext>
              </a:extLst>
            </p:cNvPr>
            <p:cNvSpPr txBox="1"/>
            <p:nvPr/>
          </p:nvSpPr>
          <p:spPr>
            <a:xfrm>
              <a:off x="9244584" y="3251628"/>
              <a:ext cx="2377439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/>
              <a:r>
                <a:rPr sz="1400" b="1" err="1">
                  <a:solidFill>
                    <a:srgbClr val="000000"/>
                  </a:solidFill>
                  <a:latin typeface="+mj-lt"/>
                </a:rPr>
                <a:t>GrabCut</a:t>
              </a:r>
              <a:r>
                <a:rPr sz="1400" b="1">
                  <a:solidFill>
                    <a:srgbClr val="000000"/>
                  </a:solidFill>
                  <a:latin typeface="+mj-lt"/>
                </a:rPr>
                <a:t>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0.578 </a:t>
              </a:r>
              <a:r>
                <a:rPr lang="en-IL" sz="1400" b="0">
                  <a:solidFill>
                    <a:srgbClr val="000000"/>
                  </a:solidFill>
                  <a:latin typeface="+mj-lt"/>
                </a:rPr>
                <a:t>–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</a:t>
              </a:r>
              <a:endParaRPr lang="en-US" sz="1400" b="0">
                <a:solidFill>
                  <a:srgbClr val="000000"/>
                </a:solidFill>
                <a:latin typeface="+mj-lt"/>
              </a:endParaRPr>
            </a:p>
            <a:p>
              <a:pPr algn="l"/>
              <a:r>
                <a:rPr lang="en-US" sz="1400" b="0">
                  <a:solidFill>
                    <a:srgbClr val="000000"/>
                  </a:solidFill>
                  <a:latin typeface="+mj-lt"/>
                </a:rPr>
                <a:t>less accurate boundary localization.</a:t>
              </a:r>
              <a:endParaRPr sz="1400" b="0">
                <a:solidFill>
                  <a:srgbClr val="000000"/>
                </a:solidFill>
                <a:latin typeface="+mj-lt"/>
              </a:endParaRPr>
            </a:p>
          </p:txBody>
        </p:sp>
        <p:cxnSp>
          <p:nvCxnSpPr>
            <p:cNvPr id="393" name="Connector 133">
              <a:extLst>
                <a:ext uri="{FF2B5EF4-FFF2-40B4-BE49-F238E27FC236}">
                  <a16:creationId xmlns:a16="http://schemas.microsoft.com/office/drawing/2014/main" id="{38EA1B7A-8BDB-D3FD-60C8-7104D79F2705}"/>
                </a:ext>
              </a:extLst>
            </p:cNvPr>
            <p:cNvCxnSpPr/>
            <p:nvPr/>
          </p:nvCxnSpPr>
          <p:spPr>
            <a:xfrm>
              <a:off x="8714232" y="4087368"/>
              <a:ext cx="2852928" cy="0"/>
            </a:xfrm>
            <a:prstGeom prst="line">
              <a:avLst/>
            </a:prstGeom>
            <a:ln w="8255">
              <a:solidFill>
                <a:srgbClr val="B9BEC3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Connector 134">
              <a:extLst>
                <a:ext uri="{FF2B5EF4-FFF2-40B4-BE49-F238E27FC236}">
                  <a16:creationId xmlns:a16="http://schemas.microsoft.com/office/drawing/2014/main" id="{F27A10AA-FE8B-1C15-3EB4-C2BD74C0C81D}"/>
                </a:ext>
              </a:extLst>
            </p:cNvPr>
            <p:cNvCxnSpPr/>
            <p:nvPr/>
          </p:nvCxnSpPr>
          <p:spPr>
            <a:xfrm flipV="1">
              <a:off x="8759952" y="4315967"/>
              <a:ext cx="246888" cy="54864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 135">
              <a:extLst>
                <a:ext uri="{FF2B5EF4-FFF2-40B4-BE49-F238E27FC236}">
                  <a16:creationId xmlns:a16="http://schemas.microsoft.com/office/drawing/2014/main" id="{FAC196EE-41FE-302A-BA1F-232E370B0272}"/>
                </a:ext>
              </a:extLst>
            </p:cNvPr>
            <p:cNvCxnSpPr/>
            <p:nvPr/>
          </p:nvCxnSpPr>
          <p:spPr>
            <a:xfrm flipH="1">
              <a:off x="8970264" y="4315967"/>
              <a:ext cx="36576" cy="256032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ctor 136">
              <a:extLst>
                <a:ext uri="{FF2B5EF4-FFF2-40B4-BE49-F238E27FC236}">
                  <a16:creationId xmlns:a16="http://schemas.microsoft.com/office/drawing/2014/main" id="{21D30BB6-3C3D-5424-3DF0-8CF4B202E551}"/>
                </a:ext>
              </a:extLst>
            </p:cNvPr>
            <p:cNvCxnSpPr/>
            <p:nvPr/>
          </p:nvCxnSpPr>
          <p:spPr>
            <a:xfrm flipH="1" flipV="1">
              <a:off x="8805672" y="4526279"/>
              <a:ext cx="164592" cy="45720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137">
              <a:extLst>
                <a:ext uri="{FF2B5EF4-FFF2-40B4-BE49-F238E27FC236}">
                  <a16:creationId xmlns:a16="http://schemas.microsoft.com/office/drawing/2014/main" id="{02E343D9-3F96-48A4-C103-01439A6F9DC2}"/>
                </a:ext>
              </a:extLst>
            </p:cNvPr>
            <p:cNvCxnSpPr/>
            <p:nvPr/>
          </p:nvCxnSpPr>
          <p:spPr>
            <a:xfrm>
              <a:off x="8759952" y="4370831"/>
              <a:ext cx="45720" cy="155448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ctor 138">
              <a:extLst>
                <a:ext uri="{FF2B5EF4-FFF2-40B4-BE49-F238E27FC236}">
                  <a16:creationId xmlns:a16="http://schemas.microsoft.com/office/drawing/2014/main" id="{5419A885-3784-1575-61B9-B67225B9619F}"/>
                </a:ext>
              </a:extLst>
            </p:cNvPr>
            <p:cNvCxnSpPr/>
            <p:nvPr/>
          </p:nvCxnSpPr>
          <p:spPr>
            <a:xfrm>
              <a:off x="9006840" y="4315967"/>
              <a:ext cx="73152" cy="146304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ctor 139">
              <a:extLst>
                <a:ext uri="{FF2B5EF4-FFF2-40B4-BE49-F238E27FC236}">
                  <a16:creationId xmlns:a16="http://schemas.microsoft.com/office/drawing/2014/main" id="{9F53FE7D-7DB3-96C2-EE8C-F2DCA206890D}"/>
                </a:ext>
              </a:extLst>
            </p:cNvPr>
            <p:cNvCxnSpPr/>
            <p:nvPr/>
          </p:nvCxnSpPr>
          <p:spPr>
            <a:xfrm flipH="1">
              <a:off x="8970264" y="4462271"/>
              <a:ext cx="109728" cy="109728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40">
              <a:extLst>
                <a:ext uri="{FF2B5EF4-FFF2-40B4-BE49-F238E27FC236}">
                  <a16:creationId xmlns:a16="http://schemas.microsoft.com/office/drawing/2014/main" id="{5540DB90-441B-B0E7-9533-17F5D86E72CF}"/>
                </a:ext>
              </a:extLst>
            </p:cNvPr>
            <p:cNvCxnSpPr/>
            <p:nvPr/>
          </p:nvCxnSpPr>
          <p:spPr>
            <a:xfrm>
              <a:off x="8759952" y="4370831"/>
              <a:ext cx="320040" cy="91440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2A1F7330-A038-1947-FD1F-B0210999E6DD}"/>
                </a:ext>
              </a:extLst>
            </p:cNvPr>
            <p:cNvSpPr/>
            <p:nvPr/>
          </p:nvSpPr>
          <p:spPr>
            <a:xfrm>
              <a:off x="8759952" y="4370831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5EF06F7B-F616-3581-9976-D5D9E5CEBCB4}"/>
                </a:ext>
              </a:extLst>
            </p:cNvPr>
            <p:cNvSpPr/>
            <p:nvPr/>
          </p:nvSpPr>
          <p:spPr>
            <a:xfrm>
              <a:off x="9006840" y="4315967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A22B1E74-D28A-B240-C824-F381C9B8BC5C}"/>
                </a:ext>
              </a:extLst>
            </p:cNvPr>
            <p:cNvSpPr/>
            <p:nvPr/>
          </p:nvSpPr>
          <p:spPr>
            <a:xfrm>
              <a:off x="8970264" y="4571999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C4DA8118-0DE4-B3BE-9FB6-D9701BA3A32E}"/>
                </a:ext>
              </a:extLst>
            </p:cNvPr>
            <p:cNvSpPr/>
            <p:nvPr/>
          </p:nvSpPr>
          <p:spPr>
            <a:xfrm>
              <a:off x="8805672" y="4526279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5B9A49EB-5842-AAB6-EF51-E4EBA70BEFA7}"/>
                </a:ext>
              </a:extLst>
            </p:cNvPr>
            <p:cNvSpPr/>
            <p:nvPr/>
          </p:nvSpPr>
          <p:spPr>
            <a:xfrm>
              <a:off x="9079992" y="4462271"/>
              <a:ext cx="68580" cy="68580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6" name="TextBox 405">
              <a:extLst>
                <a:ext uri="{FF2B5EF4-FFF2-40B4-BE49-F238E27FC236}">
                  <a16:creationId xmlns:a16="http://schemas.microsoft.com/office/drawing/2014/main" id="{CEF2639C-D577-B981-B4C7-399ECEFADFA7}"/>
                </a:ext>
              </a:extLst>
            </p:cNvPr>
            <p:cNvSpPr txBox="1"/>
            <p:nvPr/>
          </p:nvSpPr>
          <p:spPr>
            <a:xfrm>
              <a:off x="9244584" y="4288536"/>
              <a:ext cx="2375600" cy="731520"/>
            </a:xfrm>
            <a:prstGeom prst="rect">
              <a:avLst/>
            </a:prstGeom>
            <a:noFill/>
          </p:spPr>
          <p:txBody>
            <a:bodyPr wrap="square" lIns="0" tIns="0" rIns="0" bIns="0">
              <a:noAutofit/>
            </a:bodyPr>
            <a:lstStyle/>
            <a:p>
              <a:pPr algn="l"/>
              <a:r>
                <a:rPr sz="1400" b="1">
                  <a:solidFill>
                    <a:srgbClr val="000000"/>
                  </a:solidFill>
                  <a:latin typeface="+mj-lt"/>
                </a:rPr>
                <a:t>ResNet50 F1:</a:t>
              </a:r>
              <a:r>
                <a:rPr sz="1400" b="0">
                  <a:solidFill>
                    <a:srgbClr val="000000"/>
                  </a:solidFill>
                  <a:latin typeface="+mj-lt"/>
                </a:rPr>
                <a:t> 0.677 - </a:t>
              </a:r>
              <a:r>
                <a:rPr lang="en-US" sz="1400" b="0">
                  <a:solidFill>
                    <a:srgbClr val="000000"/>
                  </a:solidFill>
                  <a:latin typeface="+mj-lt"/>
                </a:rPr>
                <a:t>affected by blurred appearance.</a:t>
              </a:r>
              <a:endParaRPr sz="1400" b="0">
                <a:solidFill>
                  <a:srgbClr val="000000"/>
                </a:solidFill>
                <a:latin typeface="+mj-lt"/>
              </a:endParaRPr>
            </a:p>
          </p:txBody>
        </p:sp>
        <p:sp>
          <p:nvSpPr>
            <p:cNvPr id="407" name="TextBox 406">
              <a:extLst>
                <a:ext uri="{FF2B5EF4-FFF2-40B4-BE49-F238E27FC236}">
                  <a16:creationId xmlns:a16="http://schemas.microsoft.com/office/drawing/2014/main" id="{057F4B3C-F6CE-1FB4-B31A-7200E2E97DED}"/>
                </a:ext>
              </a:extLst>
            </p:cNvPr>
            <p:cNvSpPr txBox="1"/>
            <p:nvPr/>
          </p:nvSpPr>
          <p:spPr>
            <a:xfrm>
              <a:off x="8977247" y="5078714"/>
              <a:ext cx="2563104" cy="202465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50" b="0" i="0">
                  <a:solidFill>
                    <a:srgbClr val="000000"/>
                  </a:solidFill>
                  <a:latin typeface="+mj-lt"/>
                </a:rPr>
                <a:t>Removes sharp edges and fine details.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22325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C58BA8-00BA-B9F0-EBC1-6D1DAD9DF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40020414-00F7-3D9B-10A3-939801C31C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915B8E-1E34-3B09-01A1-900DD4B4CB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6" r="9091" b="73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84D5E898-27CA-170E-C8B3-C0BEBB8E2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17DEC1-E308-186C-C035-FBDC6EA58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439314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6800" b="1"/>
              <a:t>IMAGE RESTORATION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9467C6-E3A3-80DB-617C-D028696A0AFE}"/>
              </a:ext>
            </a:extLst>
          </p:cNvPr>
          <p:cNvSpPr txBox="1"/>
          <p:nvPr/>
        </p:nvSpPr>
        <p:spPr>
          <a:xfrm>
            <a:off x="313786" y="5050632"/>
            <a:ext cx="5696596" cy="1129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2200" dirty="0">
                <a:solidFill>
                  <a:srgbClr val="FFFFFF"/>
                </a:solidFill>
                <a:latin typeface="Univers Condensed"/>
              </a:rPr>
              <a:t>Applying distortion-specific restoration methods and measuring downstream recovery.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E9C352-2C73-188C-E521-955263D159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34314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144089E2-F8B2-8F4C-C484-A3B8E8D0750E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IMAGE RESTORATION SETUP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5D8358CE-38E3-7ACB-F65C-EB66D9558366}"/>
              </a:ext>
            </a:extLst>
          </p:cNvPr>
          <p:cNvSpPr txBox="1"/>
          <p:nvPr/>
        </p:nvSpPr>
        <p:spPr>
          <a:xfrm>
            <a:off x="300046" y="85618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Distorted images were enhanced with distortion-specific restoration methods, then evaluated again.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555FE21F-E319-EEAB-C7F4-3CE2237372FA}"/>
              </a:ext>
            </a:extLst>
          </p:cNvPr>
          <p:cNvGrpSpPr/>
          <p:nvPr/>
        </p:nvGrpSpPr>
        <p:grpSpPr>
          <a:xfrm>
            <a:off x="1139955" y="1714545"/>
            <a:ext cx="3195482" cy="2407646"/>
            <a:chOff x="4254634" y="1338489"/>
            <a:chExt cx="3195482" cy="2407646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9D74E54B-DF59-FB74-9B9E-1941706DA799}"/>
                </a:ext>
              </a:extLst>
            </p:cNvPr>
            <p:cNvSpPr/>
            <p:nvPr/>
          </p:nvSpPr>
          <p:spPr>
            <a:xfrm>
              <a:off x="4383144" y="3464848"/>
              <a:ext cx="2985678" cy="281287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27" name="Group 7">
              <a:extLst>
                <a:ext uri="{FF2B5EF4-FFF2-40B4-BE49-F238E27FC236}">
                  <a16:creationId xmlns:a16="http://schemas.microsoft.com/office/drawing/2014/main" id="{60A06FB4-693B-6AFC-9EC1-3AF6428D09B0}"/>
                </a:ext>
              </a:extLst>
            </p:cNvPr>
            <p:cNvGrpSpPr/>
            <p:nvPr/>
          </p:nvGrpSpPr>
          <p:grpSpPr>
            <a:xfrm>
              <a:off x="4383144" y="1718484"/>
              <a:ext cx="3066972" cy="1819535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28" name="Freeform 8">
                <a:extLst>
                  <a:ext uri="{FF2B5EF4-FFF2-40B4-BE49-F238E27FC236}">
                    <a16:creationId xmlns:a16="http://schemas.microsoft.com/office/drawing/2014/main" id="{89C33ABF-B3C1-38FA-C6D0-D1CD6B0B7BC7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9" name="TextBox 9">
                <a:extLst>
                  <a:ext uri="{FF2B5EF4-FFF2-40B4-BE49-F238E27FC236}">
                    <a16:creationId xmlns:a16="http://schemas.microsoft.com/office/drawing/2014/main" id="{6EE41790-3D8B-46A3-6D14-72A01D75670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US" sz="1400" b="1">
                    <a:latin typeface="+mj-lt"/>
                  </a:rPr>
                  <a:t>Restoration:</a:t>
                </a:r>
                <a:endParaRPr lang="he-IL" sz="1400" b="1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r>
                  <a:rPr lang="he-IL" sz="1400">
                    <a:latin typeface="+mj-lt"/>
                  </a:rPr>
                  <a:t> </a:t>
                </a:r>
                <a:r>
                  <a:rPr lang="en-US" sz="1400">
                    <a:latin typeface="+mj-lt"/>
                  </a:rPr>
                  <a:t>Median</a:t>
                </a:r>
                <a:r>
                  <a:rPr lang="he-IL" sz="1400">
                    <a:latin typeface="+mj-lt"/>
                  </a:rPr>
                  <a:t> </a:t>
                </a:r>
                <a:r>
                  <a:rPr lang="en-US" sz="1400">
                    <a:latin typeface="+mj-lt"/>
                  </a:rPr>
                  <a:t>Filtering</a:t>
                </a:r>
                <a:endParaRPr lang="he-IL" sz="1400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endParaRPr lang="he-IL" sz="1400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r>
                  <a:rPr lang="en-US" sz="1400" b="1">
                    <a:latin typeface="+mj-lt"/>
                  </a:rPr>
                  <a:t>Goal:</a:t>
                </a:r>
                <a:r>
                  <a:rPr lang="he-IL" sz="1400" b="1">
                    <a:latin typeface="+mj-lt"/>
                  </a:rPr>
                  <a:t> </a:t>
                </a:r>
              </a:p>
              <a:p>
                <a:pPr algn="ctr">
                  <a:lnSpc>
                    <a:spcPts val="1680"/>
                  </a:lnSpc>
                </a:pPr>
                <a:r>
                  <a:rPr lang="en-US" sz="1400">
                    <a:latin typeface="+mj-lt"/>
                  </a:rPr>
                  <a:t>Remove impulse noise while preserving object boundaries.</a:t>
                </a:r>
                <a:endParaRPr sz="1400">
                  <a:latin typeface="+mj-lt"/>
                </a:endParaRPr>
              </a:p>
            </p:txBody>
          </p:sp>
        </p:grpSp>
        <p:grpSp>
          <p:nvGrpSpPr>
            <p:cNvPr id="30" name="Group 13">
              <a:extLst>
                <a:ext uri="{FF2B5EF4-FFF2-40B4-BE49-F238E27FC236}">
                  <a16:creationId xmlns:a16="http://schemas.microsoft.com/office/drawing/2014/main" id="{EE397039-3C5A-B75B-A6F1-20C2A0DE7253}"/>
                </a:ext>
              </a:extLst>
            </p:cNvPr>
            <p:cNvGrpSpPr/>
            <p:nvPr/>
          </p:nvGrpSpPr>
          <p:grpSpPr>
            <a:xfrm>
              <a:off x="4254634" y="1338489"/>
              <a:ext cx="1937879" cy="590400"/>
              <a:chOff x="-1" y="0"/>
              <a:chExt cx="2155751" cy="656777"/>
            </a:xfrm>
          </p:grpSpPr>
          <p:sp>
            <p:nvSpPr>
              <p:cNvPr id="31" name="Freeform 14">
                <a:extLst>
                  <a:ext uri="{FF2B5EF4-FFF2-40B4-BE49-F238E27FC236}">
                    <a16:creationId xmlns:a16="http://schemas.microsoft.com/office/drawing/2014/main" id="{043E63EE-0CC9-43E2-4337-71E2BF45AD5E}"/>
                  </a:ext>
                </a:extLst>
              </p:cNvPr>
              <p:cNvSpPr/>
              <p:nvPr/>
            </p:nvSpPr>
            <p:spPr>
              <a:xfrm>
                <a:off x="-1" y="0"/>
                <a:ext cx="2155751" cy="65677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2B2E4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32" name="TextBox 15">
                <a:extLst>
                  <a:ext uri="{FF2B5EF4-FFF2-40B4-BE49-F238E27FC236}">
                    <a16:creationId xmlns:a16="http://schemas.microsoft.com/office/drawing/2014/main" id="{BD0A0004-59F9-4FB0-FE10-2C465F80C304}"/>
                  </a:ext>
                </a:extLst>
              </p:cNvPr>
              <p:cNvSpPr txBox="1"/>
              <p:nvPr/>
            </p:nvSpPr>
            <p:spPr>
              <a:xfrm>
                <a:off x="34815" y="141444"/>
                <a:ext cx="2027529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20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sym typeface="Proxima Nova Bold"/>
                  </a:rPr>
                  <a:t>SALT &amp; PEPPER</a:t>
                </a:r>
              </a:p>
            </p:txBody>
          </p:sp>
        </p:grp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DA33B40-C6DC-B9CF-1EC4-C3E4B4E078BA}"/>
              </a:ext>
            </a:extLst>
          </p:cNvPr>
          <p:cNvGrpSpPr/>
          <p:nvPr/>
        </p:nvGrpSpPr>
        <p:grpSpPr>
          <a:xfrm>
            <a:off x="4732516" y="1706973"/>
            <a:ext cx="3195481" cy="2407646"/>
            <a:chOff x="4254635" y="1338489"/>
            <a:chExt cx="3195481" cy="2407646"/>
          </a:xfrm>
        </p:grpSpPr>
        <p:sp>
          <p:nvSpPr>
            <p:cNvPr id="51" name="Freeform 6">
              <a:extLst>
                <a:ext uri="{FF2B5EF4-FFF2-40B4-BE49-F238E27FC236}">
                  <a16:creationId xmlns:a16="http://schemas.microsoft.com/office/drawing/2014/main" id="{9A7E7E97-C3B2-AAC9-AA0C-BD7E5357928D}"/>
                </a:ext>
              </a:extLst>
            </p:cNvPr>
            <p:cNvSpPr/>
            <p:nvPr/>
          </p:nvSpPr>
          <p:spPr>
            <a:xfrm>
              <a:off x="4383144" y="3464848"/>
              <a:ext cx="2985678" cy="281287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2" name="Group 7">
              <a:extLst>
                <a:ext uri="{FF2B5EF4-FFF2-40B4-BE49-F238E27FC236}">
                  <a16:creationId xmlns:a16="http://schemas.microsoft.com/office/drawing/2014/main" id="{04896EFC-9C8E-30BD-B02C-14F2B7FD29F2}"/>
                </a:ext>
              </a:extLst>
            </p:cNvPr>
            <p:cNvGrpSpPr/>
            <p:nvPr/>
          </p:nvGrpSpPr>
          <p:grpSpPr>
            <a:xfrm>
              <a:off x="4383144" y="1588519"/>
              <a:ext cx="3066972" cy="1949499"/>
              <a:chOff x="0" y="-38100"/>
              <a:chExt cx="911221" cy="571510"/>
            </a:xfrm>
            <a:solidFill>
              <a:schemeClr val="bg2"/>
            </a:solidFill>
          </p:grpSpPr>
          <p:sp>
            <p:nvSpPr>
              <p:cNvPr id="56" name="Freeform 8">
                <a:extLst>
                  <a:ext uri="{FF2B5EF4-FFF2-40B4-BE49-F238E27FC236}">
                    <a16:creationId xmlns:a16="http://schemas.microsoft.com/office/drawing/2014/main" id="{5EA511F7-CD2A-3704-8EF4-21883E64D582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7" name="TextBox 9">
                <a:extLst>
                  <a:ext uri="{FF2B5EF4-FFF2-40B4-BE49-F238E27FC236}">
                    <a16:creationId xmlns:a16="http://schemas.microsoft.com/office/drawing/2014/main" id="{62965342-B70F-8580-9B18-E78D254BAB0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r>
                  <a:rPr lang="en-IL" sz="1400" b="1">
                    <a:latin typeface="+mj-lt"/>
                  </a:rPr>
                  <a:t>Restoration</a:t>
                </a:r>
                <a:r>
                  <a:rPr lang="en-IL" sz="1400">
                    <a:latin typeface="+mj-lt"/>
                  </a:rPr>
                  <a:t>:</a:t>
                </a:r>
                <a:br>
                  <a:rPr lang="en-IL" sz="1400">
                    <a:latin typeface="+mj-lt"/>
                  </a:rPr>
                </a:br>
                <a:r>
                  <a:rPr lang="en-IL" sz="1400">
                    <a:latin typeface="+mj-lt"/>
                  </a:rPr>
                  <a:t>Inverse Brightness Correction + CLAHE</a:t>
                </a:r>
                <a:br>
                  <a:rPr lang="en-IL" sz="1400">
                    <a:latin typeface="+mj-lt"/>
                  </a:rPr>
                </a:br>
                <a:br>
                  <a:rPr lang="en-IL" sz="1400">
                    <a:latin typeface="+mj-lt"/>
                  </a:rPr>
                </a:br>
                <a:r>
                  <a:rPr lang="en-IL" sz="1400" b="1">
                    <a:latin typeface="+mj-lt"/>
                  </a:rPr>
                  <a:t>Goal:</a:t>
                </a:r>
                <a:br>
                  <a:rPr lang="en-IL" sz="1400">
                    <a:latin typeface="+mj-lt"/>
                  </a:rPr>
                </a:br>
                <a:r>
                  <a:rPr lang="en-IL" sz="1400">
                    <a:latin typeface="+mj-lt"/>
                  </a:rPr>
                  <a:t>Reduce saturation and recover local contrast.</a:t>
                </a:r>
                <a:endParaRPr lang="he-IL" sz="1400">
                  <a:latin typeface="+mj-lt"/>
                </a:endParaRPr>
              </a:p>
            </p:txBody>
          </p:sp>
        </p:grpSp>
        <p:grpSp>
          <p:nvGrpSpPr>
            <p:cNvPr id="53" name="Group 13">
              <a:extLst>
                <a:ext uri="{FF2B5EF4-FFF2-40B4-BE49-F238E27FC236}">
                  <a16:creationId xmlns:a16="http://schemas.microsoft.com/office/drawing/2014/main" id="{48A0D028-F3CE-679B-FA1C-8CE796840658}"/>
                </a:ext>
              </a:extLst>
            </p:cNvPr>
            <p:cNvGrpSpPr/>
            <p:nvPr/>
          </p:nvGrpSpPr>
          <p:grpSpPr>
            <a:xfrm>
              <a:off x="4254635" y="1338489"/>
              <a:ext cx="1937878" cy="590400"/>
              <a:chOff x="0" y="0"/>
              <a:chExt cx="2155750" cy="656777"/>
            </a:xfrm>
          </p:grpSpPr>
          <p:sp>
            <p:nvSpPr>
              <p:cNvPr id="54" name="Freeform 14">
                <a:extLst>
                  <a:ext uri="{FF2B5EF4-FFF2-40B4-BE49-F238E27FC236}">
                    <a16:creationId xmlns:a16="http://schemas.microsoft.com/office/drawing/2014/main" id="{9C3B094F-A70A-C91C-5001-40CDFA81AEDD}"/>
                  </a:ext>
                </a:extLst>
              </p:cNvPr>
              <p:cNvSpPr/>
              <p:nvPr/>
            </p:nvSpPr>
            <p:spPr>
              <a:xfrm>
                <a:off x="0" y="0"/>
                <a:ext cx="2155750" cy="65677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00CCBC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5" name="TextBox 15">
                <a:extLst>
                  <a:ext uri="{FF2B5EF4-FFF2-40B4-BE49-F238E27FC236}">
                    <a16:creationId xmlns:a16="http://schemas.microsoft.com/office/drawing/2014/main" id="{92FFA512-32A6-6C69-0213-8E615EDCA243}"/>
                  </a:ext>
                </a:extLst>
              </p:cNvPr>
              <p:cNvSpPr txBox="1"/>
              <p:nvPr/>
            </p:nvSpPr>
            <p:spPr>
              <a:xfrm>
                <a:off x="50825" y="149867"/>
                <a:ext cx="2054101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20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sym typeface="Proxima Nova Bold"/>
                  </a:rPr>
                  <a:t>OVEREXPOSURE</a:t>
                </a:r>
              </a:p>
            </p:txBody>
          </p:sp>
        </p:grp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563BF851-0947-BD72-396D-B895B99DFA93}"/>
              </a:ext>
            </a:extLst>
          </p:cNvPr>
          <p:cNvGrpSpPr/>
          <p:nvPr/>
        </p:nvGrpSpPr>
        <p:grpSpPr>
          <a:xfrm>
            <a:off x="8112370" y="1696875"/>
            <a:ext cx="3195481" cy="2407646"/>
            <a:chOff x="4254635" y="1338489"/>
            <a:chExt cx="3195481" cy="2407646"/>
          </a:xfrm>
        </p:grpSpPr>
        <p:sp>
          <p:nvSpPr>
            <p:cNvPr id="59" name="Freeform 6">
              <a:extLst>
                <a:ext uri="{FF2B5EF4-FFF2-40B4-BE49-F238E27FC236}">
                  <a16:creationId xmlns:a16="http://schemas.microsoft.com/office/drawing/2014/main" id="{305CB356-5EE9-00A1-0A14-0AF5BE441D5D}"/>
                </a:ext>
              </a:extLst>
            </p:cNvPr>
            <p:cNvSpPr/>
            <p:nvPr/>
          </p:nvSpPr>
          <p:spPr>
            <a:xfrm>
              <a:off x="4383144" y="3464848"/>
              <a:ext cx="2985678" cy="281287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60" name="Group 7">
              <a:extLst>
                <a:ext uri="{FF2B5EF4-FFF2-40B4-BE49-F238E27FC236}">
                  <a16:creationId xmlns:a16="http://schemas.microsoft.com/office/drawing/2014/main" id="{01027223-F5BF-E292-1E46-578D9293C01F}"/>
                </a:ext>
              </a:extLst>
            </p:cNvPr>
            <p:cNvGrpSpPr/>
            <p:nvPr/>
          </p:nvGrpSpPr>
          <p:grpSpPr>
            <a:xfrm>
              <a:off x="4383144" y="1718484"/>
              <a:ext cx="3066972" cy="1819535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64" name="Freeform 8">
                <a:extLst>
                  <a:ext uri="{FF2B5EF4-FFF2-40B4-BE49-F238E27FC236}">
                    <a16:creationId xmlns:a16="http://schemas.microsoft.com/office/drawing/2014/main" id="{1B7AE45C-EBEB-0D1D-9F60-AC7D5794BE5B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5" name="TextBox 9">
                <a:extLst>
                  <a:ext uri="{FF2B5EF4-FFF2-40B4-BE49-F238E27FC236}">
                    <a16:creationId xmlns:a16="http://schemas.microsoft.com/office/drawing/2014/main" id="{B5CE49FA-F49E-5A54-21FB-2B80F6300BA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lang="he-IL" sz="1400" b="1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endParaRPr lang="he-IL" sz="1400" b="1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r>
                  <a:rPr lang="en-US" sz="1400" b="1">
                    <a:latin typeface="+mj-lt"/>
                  </a:rPr>
                  <a:t>Restoration:</a:t>
                </a:r>
                <a:br>
                  <a:rPr lang="en-US" sz="1400">
                    <a:latin typeface="+mj-lt"/>
                  </a:rPr>
                </a:br>
                <a:r>
                  <a:rPr lang="en-US" sz="1400">
                    <a:latin typeface="+mj-lt"/>
                  </a:rPr>
                  <a:t>Richardson-Lucy Deblurring + Artifact Reduction</a:t>
                </a:r>
                <a:endParaRPr lang="he-IL" sz="1400">
                  <a:latin typeface="+mj-lt"/>
                </a:endParaRPr>
              </a:p>
              <a:p>
                <a:pPr algn="ctr">
                  <a:lnSpc>
                    <a:spcPts val="1680"/>
                  </a:lnSpc>
                </a:pPr>
                <a:br>
                  <a:rPr lang="en-US" sz="1400">
                    <a:latin typeface="+mj-lt"/>
                  </a:rPr>
                </a:br>
                <a:r>
                  <a:rPr lang="en-US" sz="1400" b="1">
                    <a:latin typeface="+mj-lt"/>
                  </a:rPr>
                  <a:t>Goal:</a:t>
                </a:r>
                <a:br>
                  <a:rPr lang="en-US" sz="1400">
                    <a:latin typeface="+mj-lt"/>
                  </a:rPr>
                </a:br>
                <a:r>
                  <a:rPr lang="en-US" sz="1400">
                    <a:latin typeface="+mj-lt"/>
                  </a:rPr>
                  <a:t>Recover blurred edges while controlling artifacts.</a:t>
                </a:r>
              </a:p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61" name="Group 13">
              <a:extLst>
                <a:ext uri="{FF2B5EF4-FFF2-40B4-BE49-F238E27FC236}">
                  <a16:creationId xmlns:a16="http://schemas.microsoft.com/office/drawing/2014/main" id="{D4BA3773-EA6B-6D53-61AF-33BD97B5AE30}"/>
                </a:ext>
              </a:extLst>
            </p:cNvPr>
            <p:cNvGrpSpPr/>
            <p:nvPr/>
          </p:nvGrpSpPr>
          <p:grpSpPr>
            <a:xfrm>
              <a:off x="4254635" y="1338489"/>
              <a:ext cx="1936800" cy="590400"/>
              <a:chOff x="0" y="0"/>
              <a:chExt cx="2154550" cy="656777"/>
            </a:xfrm>
          </p:grpSpPr>
          <p:sp>
            <p:nvSpPr>
              <p:cNvPr id="62" name="Freeform 14">
                <a:extLst>
                  <a:ext uri="{FF2B5EF4-FFF2-40B4-BE49-F238E27FC236}">
                    <a16:creationId xmlns:a16="http://schemas.microsoft.com/office/drawing/2014/main" id="{FDC3DF88-D2ED-B42B-952B-AAB8AD6E15CE}"/>
                  </a:ext>
                </a:extLst>
              </p:cNvPr>
              <p:cNvSpPr/>
              <p:nvPr/>
            </p:nvSpPr>
            <p:spPr>
              <a:xfrm>
                <a:off x="0" y="0"/>
                <a:ext cx="2154550" cy="656777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5DDB78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3" name="TextBox 15">
                <a:extLst>
                  <a:ext uri="{FF2B5EF4-FFF2-40B4-BE49-F238E27FC236}">
                    <a16:creationId xmlns:a16="http://schemas.microsoft.com/office/drawing/2014/main" id="{5C50859C-022C-E35F-4AE6-FBE559293D12}"/>
                  </a:ext>
                </a:extLst>
              </p:cNvPr>
              <p:cNvSpPr txBox="1"/>
              <p:nvPr/>
            </p:nvSpPr>
            <p:spPr>
              <a:xfrm>
                <a:off x="142958" y="132317"/>
                <a:ext cx="1867096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2000" b="1" cap="all" spc="30">
                    <a:solidFill>
                      <a:schemeClr val="bg1"/>
                    </a:solidFill>
                    <a:latin typeface="Univers Condensed" panose="020B0506020202050204" pitchFamily="34" charset="0"/>
                    <a:sym typeface="Proxima Nova Bold"/>
                  </a:rPr>
                  <a:t>Motion Blur</a:t>
                </a:r>
              </a:p>
            </p:txBody>
          </p:sp>
        </p:grp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EB8C9F76-E962-00D6-AF80-85ABCB7C5E3B}"/>
              </a:ext>
            </a:extLst>
          </p:cNvPr>
          <p:cNvSpPr txBox="1"/>
          <p:nvPr/>
        </p:nvSpPr>
        <p:spPr>
          <a:xfrm>
            <a:off x="571500" y="4960620"/>
            <a:ext cx="1145285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Distorted vs restored images were compared using the same metrics:</a:t>
            </a:r>
          </a:p>
          <a:p>
            <a:pPr algn="ctr"/>
            <a:r>
              <a:rPr lang="en-US">
                <a:latin typeface="+mj-lt"/>
              </a:rPr>
              <a:t>Edge-Map </a:t>
            </a:r>
            <a:r>
              <a:rPr lang="en-US" err="1">
                <a:latin typeface="+mj-lt"/>
              </a:rPr>
              <a:t>IoU</a:t>
            </a:r>
            <a:r>
              <a:rPr lang="en-US">
                <a:latin typeface="+mj-lt"/>
              </a:rPr>
              <a:t>, Segmentation </a:t>
            </a:r>
            <a:r>
              <a:rPr lang="en-US" err="1">
                <a:latin typeface="+mj-lt"/>
              </a:rPr>
              <a:t>IoU</a:t>
            </a:r>
            <a:r>
              <a:rPr lang="en-US">
                <a:latin typeface="+mj-lt"/>
              </a:rPr>
              <a:t>, Multi-Label F1-Score, and SNR.</a:t>
            </a:r>
            <a:endParaRPr lang="en-IL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879393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1438F-A971-B4F4-7C8C-F9E871AD1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DA4D2135-6DBC-92B8-1024-FD43F5EF3CF8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VISUAL RESTORATION EXAMPLES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D5F98BA9-4E98-922C-5399-DEFA4569BB2D}"/>
              </a:ext>
            </a:extLst>
          </p:cNvPr>
          <p:cNvSpPr txBox="1"/>
          <p:nvPr/>
        </p:nvSpPr>
        <p:spPr>
          <a:xfrm>
            <a:off x="300046" y="766413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Each distorted image was enhanced using a restoration method matched to its degradation type.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2" name="TextBox 15">
            <a:extLst>
              <a:ext uri="{FF2B5EF4-FFF2-40B4-BE49-F238E27FC236}">
                <a16:creationId xmlns:a16="http://schemas.microsoft.com/office/drawing/2014/main" id="{058BCC3C-747A-6E8E-2781-E44374BDC100}"/>
              </a:ext>
            </a:extLst>
          </p:cNvPr>
          <p:cNvSpPr txBox="1"/>
          <p:nvPr/>
        </p:nvSpPr>
        <p:spPr>
          <a:xfrm>
            <a:off x="8636474" y="1211078"/>
            <a:ext cx="1821601" cy="399577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algn="ctr">
              <a:lnSpc>
                <a:spcPts val="1680"/>
              </a:lnSpc>
              <a:spcBef>
                <a:spcPct val="0"/>
              </a:spcBef>
            </a:pPr>
            <a:r>
              <a:rPr lang="en-US" sz="2000" b="1" cap="all" spc="30">
                <a:solidFill>
                  <a:schemeClr val="bg1"/>
                </a:solidFill>
                <a:latin typeface="Univers Condensed" panose="020B0506020202050204" pitchFamily="34" charset="0"/>
                <a:sym typeface="Proxima Nova Bold"/>
              </a:rPr>
              <a:t>SALT &amp; PEPPER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144D3D6-4583-FCE4-DA36-4C426BDAF977}"/>
              </a:ext>
            </a:extLst>
          </p:cNvPr>
          <p:cNvSpPr txBox="1"/>
          <p:nvPr/>
        </p:nvSpPr>
        <p:spPr>
          <a:xfrm>
            <a:off x="300045" y="5364647"/>
            <a:ext cx="1182120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Visual recovery is strongest for Salt &amp; Pepper noise and Overexposure.</a:t>
            </a:r>
            <a:endParaRPr lang="en-IL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5749F-F8B0-987A-98E0-D408FE051B5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2485" r="160"/>
          <a:stretch>
            <a:fillRect/>
          </a:stretch>
        </p:blipFill>
        <p:spPr>
          <a:xfrm>
            <a:off x="8376097" y="1480405"/>
            <a:ext cx="3755644" cy="209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803E402-5A64-2863-408C-54CE8E5039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861" r="373"/>
          <a:stretch>
            <a:fillRect/>
          </a:stretch>
        </p:blipFill>
        <p:spPr>
          <a:xfrm>
            <a:off x="4436695" y="1472914"/>
            <a:ext cx="3809214" cy="2092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20BF49-084D-2A3C-114E-C655E7322A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4007" r="231"/>
          <a:stretch>
            <a:fillRect/>
          </a:stretch>
        </p:blipFill>
        <p:spPr>
          <a:xfrm>
            <a:off x="392058" y="1486235"/>
            <a:ext cx="3808800" cy="208577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C56D4C-3693-B9F7-D453-2097C1483B07}"/>
              </a:ext>
            </a:extLst>
          </p:cNvPr>
          <p:cNvSpPr txBox="1"/>
          <p:nvPr/>
        </p:nvSpPr>
        <p:spPr>
          <a:xfrm>
            <a:off x="941826" y="1058150"/>
            <a:ext cx="222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Motion Blur</a:t>
            </a:r>
            <a:endParaRPr lang="en-IL" b="1"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54C25D-3B4D-3B58-5846-27F9B3B6325E}"/>
              </a:ext>
            </a:extLst>
          </p:cNvPr>
          <p:cNvSpPr txBox="1"/>
          <p:nvPr/>
        </p:nvSpPr>
        <p:spPr>
          <a:xfrm>
            <a:off x="4949946" y="1043412"/>
            <a:ext cx="222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Overexposure</a:t>
            </a:r>
            <a:endParaRPr lang="en-IL" b="1"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5D8E3B-F5AA-71F5-3812-DF249BDF6B26}"/>
              </a:ext>
            </a:extLst>
          </p:cNvPr>
          <p:cNvSpPr txBox="1"/>
          <p:nvPr/>
        </p:nvSpPr>
        <p:spPr>
          <a:xfrm>
            <a:off x="8958066" y="1057940"/>
            <a:ext cx="2228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Salt &amp; Pepper</a:t>
            </a:r>
            <a:endParaRPr lang="en-IL" b="1">
              <a:latin typeface="+mj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6ED794-1BE0-B306-253B-1F6D43E3CD77}"/>
              </a:ext>
            </a:extLst>
          </p:cNvPr>
          <p:cNvSpPr txBox="1"/>
          <p:nvPr/>
        </p:nvSpPr>
        <p:spPr>
          <a:xfrm>
            <a:off x="392058" y="3663238"/>
            <a:ext cx="380880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Deblurring recovers some edge sharpness.</a:t>
            </a:r>
            <a:endParaRPr lang="en-IL" sz="1600">
              <a:latin typeface="+mj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BFC8AD-5E7D-3EB9-87A4-92EE2261C02A}"/>
              </a:ext>
            </a:extLst>
          </p:cNvPr>
          <p:cNvSpPr txBox="1"/>
          <p:nvPr/>
        </p:nvSpPr>
        <p:spPr>
          <a:xfrm>
            <a:off x="4436695" y="3663238"/>
            <a:ext cx="3809214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IL" sz="1600">
                <a:latin typeface="+mj-lt"/>
              </a:rPr>
              <a:t>Brightness correction restores contrast.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866BEB-04D7-431F-F6D9-25BBBA583135}"/>
              </a:ext>
            </a:extLst>
          </p:cNvPr>
          <p:cNvSpPr txBox="1"/>
          <p:nvPr/>
        </p:nvSpPr>
        <p:spPr>
          <a:xfrm>
            <a:off x="8376096" y="3663238"/>
            <a:ext cx="3745153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Median filtering removes impulse noise.</a:t>
            </a:r>
          </a:p>
        </p:txBody>
      </p:sp>
    </p:spTree>
    <p:extLst>
      <p:ext uri="{BB962C8B-B14F-4D97-AF65-F5344CB8AC3E}">
        <p14:creationId xmlns:p14="http://schemas.microsoft.com/office/powerpoint/2010/main" val="12705760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477412-461C-3E21-450C-3EA3AD56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5587F9BA-160F-7C7B-13B1-1EDB6C64E9B2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RESTORATION: QUANTITATIVE RESULTS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29277622-D960-440B-CF70-E2E155EC446D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Distorted and restored images were compared using the same task-specific metrics.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E693D0C-4F48-4074-AEF0-FA13BAB24622}"/>
              </a:ext>
            </a:extLst>
          </p:cNvPr>
          <p:cNvSpPr txBox="1"/>
          <p:nvPr/>
        </p:nvSpPr>
        <p:spPr>
          <a:xfrm>
            <a:off x="733031" y="5717776"/>
            <a:ext cx="10725935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Restoration improves Salt &amp; Pepper and Overexposure most clearly, while Motion Blur remains harder to recover.</a:t>
            </a:r>
            <a:endParaRPr lang="en-IL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0BAE6B0-0732-236B-0424-3D94431BE2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543" y="1037215"/>
            <a:ext cx="3257084" cy="21534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00CE540-9294-9E88-0628-7B90E2F666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198" y="1075401"/>
            <a:ext cx="3256049" cy="21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25EEDC-F4C5-6B1C-760E-C61754DBB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2282" y="3377192"/>
            <a:ext cx="3258000" cy="2154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40B606-A48D-BC3E-C50F-DDA069DBCC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318" y="3377239"/>
            <a:ext cx="3605819" cy="21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6D0DD97F-F460-ED00-D524-99AB488EA4ED}"/>
              </a:ext>
            </a:extLst>
          </p:cNvPr>
          <p:cNvGrpSpPr/>
          <p:nvPr/>
        </p:nvGrpSpPr>
        <p:grpSpPr>
          <a:xfrm>
            <a:off x="1037554" y="1998020"/>
            <a:ext cx="2310492" cy="610868"/>
            <a:chOff x="1268465" y="1964576"/>
            <a:chExt cx="3066972" cy="2157615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37BC56F7-8B8D-8BA4-A2FB-8F77B9127F7D}"/>
                </a:ext>
              </a:extLst>
            </p:cNvPr>
            <p:cNvSpPr/>
            <p:nvPr/>
          </p:nvSpPr>
          <p:spPr>
            <a:xfrm>
              <a:off x="1268465" y="3840904"/>
              <a:ext cx="2985678" cy="281287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27" name="TextBox 9">
              <a:extLst>
                <a:ext uri="{FF2B5EF4-FFF2-40B4-BE49-F238E27FC236}">
                  <a16:creationId xmlns:a16="http://schemas.microsoft.com/office/drawing/2014/main" id="{E3E1C26D-1D3E-0C04-C6ED-B6175275E020}"/>
                </a:ext>
              </a:extLst>
            </p:cNvPr>
            <p:cNvSpPr txBox="1"/>
            <p:nvPr/>
          </p:nvSpPr>
          <p:spPr>
            <a:xfrm>
              <a:off x="1268465" y="1964576"/>
              <a:ext cx="3066972" cy="1949499"/>
            </a:xfrm>
            <a:prstGeom prst="rect">
              <a:avLst/>
            </a:prstGeom>
            <a:solidFill>
              <a:schemeClr val="bg2"/>
            </a:solidFill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latin typeface="+mj-lt"/>
                </a:rPr>
                <a:t>Higher values indicate better recovery.</a:t>
              </a:r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F3A58FF-9B50-BB68-AC95-774FA664C5BD}"/>
              </a:ext>
            </a:extLst>
          </p:cNvPr>
          <p:cNvGrpSpPr/>
          <p:nvPr/>
        </p:nvGrpSpPr>
        <p:grpSpPr>
          <a:xfrm>
            <a:off x="1037554" y="3046431"/>
            <a:ext cx="2310492" cy="942043"/>
            <a:chOff x="1201438" y="1925249"/>
            <a:chExt cx="3066972" cy="3327343"/>
          </a:xfrm>
        </p:grpSpPr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CFEA1D06-F6AB-E013-C30F-BDF3077C3F01}"/>
                </a:ext>
              </a:extLst>
            </p:cNvPr>
            <p:cNvSpPr/>
            <p:nvPr/>
          </p:nvSpPr>
          <p:spPr>
            <a:xfrm>
              <a:off x="1268466" y="4888759"/>
              <a:ext cx="2920426" cy="36383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sp>
          <p:nvSpPr>
            <p:cNvPr id="32" name="TextBox 9">
              <a:extLst>
                <a:ext uri="{FF2B5EF4-FFF2-40B4-BE49-F238E27FC236}">
                  <a16:creationId xmlns:a16="http://schemas.microsoft.com/office/drawing/2014/main" id="{F1924985-1122-BA11-D630-2A900C50AC6D}"/>
                </a:ext>
              </a:extLst>
            </p:cNvPr>
            <p:cNvSpPr txBox="1"/>
            <p:nvPr/>
          </p:nvSpPr>
          <p:spPr>
            <a:xfrm>
              <a:off x="1201438" y="1925249"/>
              <a:ext cx="3066972" cy="2963507"/>
            </a:xfrm>
            <a:prstGeom prst="rect">
              <a:avLst/>
            </a:prstGeom>
            <a:solidFill>
              <a:schemeClr val="bg2"/>
            </a:solidFill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680"/>
                </a:lnSpc>
              </a:pPr>
              <a:r>
                <a:rPr lang="en-US" sz="1400" b="1">
                  <a:latin typeface="+mj-lt"/>
                </a:rPr>
                <a:t>Restored results are compared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1">
                  <a:latin typeface="+mj-lt"/>
                </a:rPr>
                <a:t>against distorted inputs</a:t>
              </a:r>
            </a:p>
            <a:p>
              <a:pPr algn="ctr">
                <a:lnSpc>
                  <a:spcPts val="1680"/>
                </a:lnSpc>
              </a:pPr>
              <a:r>
                <a:rPr lang="en-US" sz="1400" b="1">
                  <a:latin typeface="+mj-lt"/>
                </a:rPr>
                <a:t>and the clean reference.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42681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513D7A52-15F5-BCAE-AEE2-700CB3392388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TASK OUTPUTS AFTER RESTORATION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61814BD7-4B5C-9114-D3FB-E2294AA39BFD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Canny, </a:t>
            </a:r>
            <a:r>
              <a:rPr lang="en-US" err="1">
                <a:solidFill>
                  <a:srgbClr val="000000"/>
                </a:solidFill>
                <a:latin typeface="+mj-lt"/>
              </a:rPr>
              <a:t>GrabCut</a:t>
            </a:r>
            <a:r>
              <a:rPr lang="en-US">
                <a:solidFill>
                  <a:srgbClr val="000000"/>
                </a:solidFill>
                <a:latin typeface="+mj-lt"/>
              </a:rPr>
              <a:t>, and ResNet50 were re-run on clean, distorted, and restored images to evaluate downstream recovery.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E0CD25-B8B1-BB07-0C7F-61AFC0EEC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333" y="1081691"/>
            <a:ext cx="3398607" cy="3297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A4F57B-5926-A50D-6968-EEA65A9144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6696" y="1081691"/>
            <a:ext cx="3398607" cy="3297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64A1D17-7A73-89A2-2E96-A8C697023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16" y="1081691"/>
            <a:ext cx="3398607" cy="329981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0BB09AF-A5AA-C910-4A31-8F724A30226A}"/>
              </a:ext>
            </a:extLst>
          </p:cNvPr>
          <p:cNvSpPr txBox="1"/>
          <p:nvPr/>
        </p:nvSpPr>
        <p:spPr>
          <a:xfrm>
            <a:off x="540955" y="4450465"/>
            <a:ext cx="3703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Cleaner edge maps and fewer false edges.</a:t>
            </a:r>
            <a:endParaRPr lang="en-IL" sz="1600">
              <a:latin typeface="+mj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A73075-14D4-B436-8948-A1D7E5910091}"/>
              </a:ext>
            </a:extLst>
          </p:cNvPr>
          <p:cNvSpPr txBox="1"/>
          <p:nvPr/>
        </p:nvSpPr>
        <p:spPr>
          <a:xfrm>
            <a:off x="4396695" y="4450465"/>
            <a:ext cx="339860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Better object boundary recovery.</a:t>
            </a:r>
            <a:endParaRPr lang="en-IL" sz="160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EE24484-AECE-1470-D5B1-F6F218BC8325}"/>
              </a:ext>
            </a:extLst>
          </p:cNvPr>
          <p:cNvSpPr txBox="1"/>
          <p:nvPr/>
        </p:nvSpPr>
        <p:spPr>
          <a:xfrm>
            <a:off x="8031480" y="4450465"/>
            <a:ext cx="379482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More stable predictions after enhancement.</a:t>
            </a:r>
            <a:endParaRPr lang="en-IL" sz="1600">
              <a:latin typeface="+mj-lt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6393C49-E1B8-05D3-407C-06A998697C0F}"/>
              </a:ext>
            </a:extLst>
          </p:cNvPr>
          <p:cNvSpPr txBox="1"/>
          <p:nvPr/>
        </p:nvSpPr>
        <p:spPr>
          <a:xfrm>
            <a:off x="733030" y="5389517"/>
            <a:ext cx="10725935" cy="646331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+mj-lt"/>
              </a:rPr>
              <a:t>Restoration is most visually effective for Salt &amp; Pepper noise, with clear recovery in Canny and </a:t>
            </a:r>
            <a:r>
              <a:rPr lang="en-US" err="1">
                <a:latin typeface="+mj-lt"/>
              </a:rPr>
              <a:t>GrabCut</a:t>
            </a:r>
            <a:r>
              <a:rPr lang="en-US">
                <a:latin typeface="+mj-lt"/>
              </a:rPr>
              <a:t>, while Motion Blur remains the hardest case and ResNet50 improves only when object appearance is preserved.</a:t>
            </a:r>
          </a:p>
        </p:txBody>
      </p:sp>
    </p:spTree>
    <p:extLst>
      <p:ext uri="{BB962C8B-B14F-4D97-AF65-F5344CB8AC3E}">
        <p14:creationId xmlns:p14="http://schemas.microsoft.com/office/powerpoint/2010/main" val="28823671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3C5AEA0-F3D5-4C00-996B-F05AF2D4B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98A3BA20-454B-ACC7-A60F-0946605D5A50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9106CD6-FEEC-42CF-942F-A572AFB83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1ED9291-0FF0-A262-C01B-B9F99E6A9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41" y="1905521"/>
            <a:ext cx="3278878" cy="1623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6424C2-3ADD-43AE-A71E-77221037E6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4472" y="1905521"/>
            <a:ext cx="3278878" cy="16230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C97AD4-5F17-1FE1-261E-8A74C7D6B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54139" y="1932201"/>
            <a:ext cx="3805803" cy="17620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5988BA8A-48D5-4F69-BF14-3C1F56EA14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3">
            <a:extLst>
              <a:ext uri="{FF2B5EF4-FFF2-40B4-BE49-F238E27FC236}">
                <a16:creationId xmlns:a16="http://schemas.microsoft.com/office/drawing/2014/main" id="{02DFA44E-D9DA-3FC7-5D80-AA2D9F4ABBC5}"/>
              </a:ext>
            </a:extLst>
          </p:cNvPr>
          <p:cNvSpPr txBox="1"/>
          <p:nvPr/>
        </p:nvSpPr>
        <p:spPr>
          <a:xfrm>
            <a:off x="1139955" y="366918"/>
            <a:ext cx="1025194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PER-CLASS PERFORMANCE: SALT &amp; PEPPER RESTORATION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5A432B46-7064-E3E8-72B3-9CF09C16063B}"/>
              </a:ext>
            </a:extLst>
          </p:cNvPr>
          <p:cNvSpPr txBox="1"/>
          <p:nvPr/>
        </p:nvSpPr>
        <p:spPr>
          <a:xfrm>
            <a:off x="281761" y="767140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Median filtering improves class-level performance after Salt &amp; Pepper degradation.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2891B3-28CC-DCB9-10DE-A661CED0DFE0}"/>
              </a:ext>
            </a:extLst>
          </p:cNvPr>
          <p:cNvSpPr txBox="1"/>
          <p:nvPr/>
        </p:nvSpPr>
        <p:spPr>
          <a:xfrm>
            <a:off x="800099" y="5360841"/>
            <a:ext cx="10591801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+mj-lt"/>
              </a:rPr>
              <a:t>Salt &amp; Pepper restoration shows the strongest class-level recovery,</a:t>
            </a:r>
          </a:p>
          <a:p>
            <a:pPr algn="ctr"/>
            <a:r>
              <a:rPr lang="en-US">
                <a:latin typeface="+mj-lt"/>
              </a:rPr>
              <a:t>with clear improvement in </a:t>
            </a:r>
            <a:r>
              <a:rPr lang="en-US" err="1">
                <a:latin typeface="+mj-lt"/>
              </a:rPr>
              <a:t>GrabCut</a:t>
            </a:r>
            <a:r>
              <a:rPr lang="en-US">
                <a:latin typeface="+mj-lt"/>
              </a:rPr>
              <a:t> segmentation and ResNet50 classification.</a:t>
            </a:r>
            <a:endParaRPr lang="en-IL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3B7EB7-84DC-DCF7-3DB4-9DF02CF869B0}"/>
              </a:ext>
            </a:extLst>
          </p:cNvPr>
          <p:cNvSpPr txBox="1"/>
          <p:nvPr/>
        </p:nvSpPr>
        <p:spPr>
          <a:xfrm>
            <a:off x="613410" y="3609451"/>
            <a:ext cx="3177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Noise removal reduces false edge responses.</a:t>
            </a:r>
            <a:endParaRPr lang="en-IL" sz="16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E3841-5781-909C-72B7-E28F73E90826}"/>
              </a:ext>
            </a:extLst>
          </p:cNvPr>
          <p:cNvSpPr txBox="1"/>
          <p:nvPr/>
        </p:nvSpPr>
        <p:spPr>
          <a:xfrm>
            <a:off x="1386840" y="1531081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Canny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7EEBDC-3920-D711-70F3-062006954CF9}"/>
              </a:ext>
            </a:extLst>
          </p:cNvPr>
          <p:cNvSpPr txBox="1"/>
          <p:nvPr/>
        </p:nvSpPr>
        <p:spPr>
          <a:xfrm>
            <a:off x="5394960" y="1537889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err="1">
                <a:latin typeface="+mj-lt"/>
              </a:rPr>
              <a:t>GrabCut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BB53878-4488-BD0B-BCDC-5DFA2517E1BB}"/>
              </a:ext>
            </a:extLst>
          </p:cNvPr>
          <p:cNvSpPr txBox="1"/>
          <p:nvPr/>
        </p:nvSpPr>
        <p:spPr>
          <a:xfrm>
            <a:off x="9281926" y="1554189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ResNet50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3914AA6-3461-C9F6-B125-458506A8FF18}"/>
              </a:ext>
            </a:extLst>
          </p:cNvPr>
          <p:cNvSpPr txBox="1"/>
          <p:nvPr/>
        </p:nvSpPr>
        <p:spPr>
          <a:xfrm>
            <a:off x="4273683" y="3609451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1600">
                <a:latin typeface="+mj-lt"/>
              </a:rPr>
              <a:t>Boundary recovery improves segmentation for clearer objects.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726EF99-992E-539F-8698-C1C68A41CF56}"/>
              </a:ext>
            </a:extLst>
          </p:cNvPr>
          <p:cNvSpPr txBox="1"/>
          <p:nvPr/>
        </p:nvSpPr>
        <p:spPr>
          <a:xfrm>
            <a:off x="8293233" y="3702840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class-specific F1 improves: 0.673 → 0.759</a:t>
            </a:r>
            <a:endParaRPr lang="en-IL" sz="16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00887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3AAD4-98C4-AF79-67A5-C7CC90A2DE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BF5F67-9E61-C92E-E5B4-344DF09B9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8D1BC7-CFEA-453E-9AA2-840D5244EE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FE2223F-7D5D-75E7-8EEC-330C70A78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AAC20BA6-8A60-A63F-8FAD-C5F1FA38E9DC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D43B881-5ED0-BEBA-3213-C882E2E295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6DAC735-128F-D886-9F8B-DDB40E4E3B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3">
            <a:extLst>
              <a:ext uri="{FF2B5EF4-FFF2-40B4-BE49-F238E27FC236}">
                <a16:creationId xmlns:a16="http://schemas.microsoft.com/office/drawing/2014/main" id="{4947B9AC-35F4-1035-1CFE-447667733361}"/>
              </a:ext>
            </a:extLst>
          </p:cNvPr>
          <p:cNvSpPr txBox="1"/>
          <p:nvPr/>
        </p:nvSpPr>
        <p:spPr>
          <a:xfrm>
            <a:off x="1053847" y="375599"/>
            <a:ext cx="1025194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PER-CLASS PERFORMANCE: OVEREXPOSURE RESTORATION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C5A40B0B-0C46-A56D-7F11-8BFA5CA51C21}"/>
              </a:ext>
            </a:extLst>
          </p:cNvPr>
          <p:cNvSpPr txBox="1"/>
          <p:nvPr/>
        </p:nvSpPr>
        <p:spPr>
          <a:xfrm>
            <a:off x="281761" y="767140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Brightness correction and CLAHE improve class-level performance after overexposure degradation.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EFD05-0313-556C-7A22-88F783FC5E3D}"/>
              </a:ext>
            </a:extLst>
          </p:cNvPr>
          <p:cNvSpPr txBox="1"/>
          <p:nvPr/>
        </p:nvSpPr>
        <p:spPr>
          <a:xfrm>
            <a:off x="1185675" y="5360841"/>
            <a:ext cx="98755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+mj-lt"/>
              </a:rPr>
              <a:t>Overexposure restoration mainly improves contrast-related performance, with moderate recovery in Canny and </a:t>
            </a:r>
            <a:r>
              <a:rPr lang="en-US" err="1">
                <a:latin typeface="+mj-lt"/>
              </a:rPr>
              <a:t>GrabCut</a:t>
            </a:r>
            <a:r>
              <a:rPr lang="en-US">
                <a:latin typeface="+mj-lt"/>
              </a:rPr>
              <a:t> and a slight improvement in ResNet50.</a:t>
            </a:r>
            <a:endParaRPr lang="en-IL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FB22F8F-1A89-76E9-C591-F493D697B508}"/>
              </a:ext>
            </a:extLst>
          </p:cNvPr>
          <p:cNvSpPr txBox="1"/>
          <p:nvPr/>
        </p:nvSpPr>
        <p:spPr>
          <a:xfrm>
            <a:off x="613410" y="3609451"/>
            <a:ext cx="3177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Contrast recovery improves edge-map similarity.</a:t>
            </a:r>
            <a:endParaRPr lang="en-IL" sz="16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12A90CE-16E1-80E8-3D90-42A9255A9C5C}"/>
              </a:ext>
            </a:extLst>
          </p:cNvPr>
          <p:cNvSpPr txBox="1"/>
          <p:nvPr/>
        </p:nvSpPr>
        <p:spPr>
          <a:xfrm>
            <a:off x="1386840" y="1531081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Canny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DBF1FE-6FD4-AC12-E68F-178724E298AD}"/>
              </a:ext>
            </a:extLst>
          </p:cNvPr>
          <p:cNvSpPr txBox="1"/>
          <p:nvPr/>
        </p:nvSpPr>
        <p:spPr>
          <a:xfrm>
            <a:off x="5338575" y="1539455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err="1">
                <a:latin typeface="+mj-lt"/>
              </a:rPr>
              <a:t>GrabCut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4002DE-BB59-E436-8EA8-FBC67E8BBC29}"/>
              </a:ext>
            </a:extLst>
          </p:cNvPr>
          <p:cNvSpPr txBox="1"/>
          <p:nvPr/>
        </p:nvSpPr>
        <p:spPr>
          <a:xfrm>
            <a:off x="9235440" y="1557780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ResNet50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751276C-4583-7606-0585-959CBC4C1CF5}"/>
              </a:ext>
            </a:extLst>
          </p:cNvPr>
          <p:cNvSpPr txBox="1"/>
          <p:nvPr/>
        </p:nvSpPr>
        <p:spPr>
          <a:xfrm>
            <a:off x="4273683" y="3609451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Restored contrast helps foreground/background separation.</a:t>
            </a:r>
            <a:endParaRPr lang="en-IL" sz="160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150271-6C33-A4BC-9E9C-9B8D9052D674}"/>
              </a:ext>
            </a:extLst>
          </p:cNvPr>
          <p:cNvSpPr txBox="1"/>
          <p:nvPr/>
        </p:nvSpPr>
        <p:spPr>
          <a:xfrm>
            <a:off x="7989467" y="3695505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class-specific F1 improves slightly:0.810 → 0.823</a:t>
            </a:r>
            <a:endParaRPr lang="en-IL" sz="160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86CC8D-067E-9185-0113-97F1D5578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562" y="1984390"/>
            <a:ext cx="3259489" cy="16114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1E5461-3BFB-F069-3919-A3DBC0D11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0259" y="1969814"/>
            <a:ext cx="3258000" cy="1610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4054D75-A356-D013-22F3-FDB12B1EAB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89467" y="1940943"/>
            <a:ext cx="3680456" cy="17040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07539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AD49EE-A7EE-1A67-A78D-41996AA5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24A11A-2D86-1B68-A4E2-D2CBB10DD0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21AA6C3-CE40-4632-5F30-2BEECD45A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3696DA5E-79A4-57C6-59FE-B733095A68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33217666-9337-0F44-CA0A-8FEFFE7D69E3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E87A452-221E-641E-6566-EA88FD6C4B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84E010B-9005-1CD4-29DE-FFACC9FBA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3">
            <a:extLst>
              <a:ext uri="{FF2B5EF4-FFF2-40B4-BE49-F238E27FC236}">
                <a16:creationId xmlns:a16="http://schemas.microsoft.com/office/drawing/2014/main" id="{5AC67718-DCB1-8083-CF36-6A8D4A795314}"/>
              </a:ext>
            </a:extLst>
          </p:cNvPr>
          <p:cNvSpPr txBox="1"/>
          <p:nvPr/>
        </p:nvSpPr>
        <p:spPr>
          <a:xfrm>
            <a:off x="1053847" y="375599"/>
            <a:ext cx="1025194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PER-CLASS PERFORMANCE: MOTION BLUR RESTORATION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D90E77A2-0DAA-5387-C72C-9EC8C6BD9080}"/>
              </a:ext>
            </a:extLst>
          </p:cNvPr>
          <p:cNvSpPr txBox="1"/>
          <p:nvPr/>
        </p:nvSpPr>
        <p:spPr>
          <a:xfrm>
            <a:off x="281761" y="767140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Richardson-Lucy deblurring provides only partial class-level recovery after Motion Blur degradation.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F4B0A4-F295-BA3D-477A-9A415F40FDD3}"/>
              </a:ext>
            </a:extLst>
          </p:cNvPr>
          <p:cNvSpPr txBox="1"/>
          <p:nvPr/>
        </p:nvSpPr>
        <p:spPr>
          <a:xfrm>
            <a:off x="1185675" y="5360841"/>
            <a:ext cx="98755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+mj-lt"/>
              </a:rPr>
              <a:t>Motion Blur remains the hardest distortion to recover, with partial improvement in Canny and </a:t>
            </a:r>
            <a:r>
              <a:rPr lang="en-US" err="1">
                <a:latin typeface="+mj-lt"/>
              </a:rPr>
              <a:t>GrabCut</a:t>
            </a:r>
            <a:r>
              <a:rPr lang="en-US">
                <a:latin typeface="+mj-lt"/>
              </a:rPr>
              <a:t> and only a slight gain in ResNet50.</a:t>
            </a:r>
            <a:endParaRPr lang="en-IL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4C75BDD-9C48-76E1-40D3-853CBAAE676D}"/>
              </a:ext>
            </a:extLst>
          </p:cNvPr>
          <p:cNvSpPr txBox="1"/>
          <p:nvPr/>
        </p:nvSpPr>
        <p:spPr>
          <a:xfrm>
            <a:off x="613410" y="3609451"/>
            <a:ext cx="3177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Deblurring partially restores edge structure.</a:t>
            </a:r>
            <a:endParaRPr lang="en-IL" sz="16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9D64E29-8549-E13B-D064-7EE64695062D}"/>
              </a:ext>
            </a:extLst>
          </p:cNvPr>
          <p:cNvSpPr txBox="1"/>
          <p:nvPr/>
        </p:nvSpPr>
        <p:spPr>
          <a:xfrm>
            <a:off x="1386840" y="1531081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Canny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CAAF7C7-F7F6-AAE2-FA51-5B0C790134A6}"/>
              </a:ext>
            </a:extLst>
          </p:cNvPr>
          <p:cNvSpPr txBox="1"/>
          <p:nvPr/>
        </p:nvSpPr>
        <p:spPr>
          <a:xfrm>
            <a:off x="5338575" y="1539455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err="1">
                <a:latin typeface="+mj-lt"/>
              </a:rPr>
              <a:t>GrabCut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2BD222-C805-D9C8-8272-299A03AC5ED0}"/>
              </a:ext>
            </a:extLst>
          </p:cNvPr>
          <p:cNvSpPr txBox="1"/>
          <p:nvPr/>
        </p:nvSpPr>
        <p:spPr>
          <a:xfrm>
            <a:off x="9235440" y="1557780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ResNet50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569CFB-4CC4-83D7-D0CD-17D0B1751678}"/>
              </a:ext>
            </a:extLst>
          </p:cNvPr>
          <p:cNvSpPr txBox="1"/>
          <p:nvPr/>
        </p:nvSpPr>
        <p:spPr>
          <a:xfrm>
            <a:off x="4273683" y="3609451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Boundary recovery gives limited segmentation improvement.</a:t>
            </a:r>
            <a:endParaRPr lang="en-IL" sz="160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DC5ED5-AE0E-6288-FFA6-43C9ABFB7962}"/>
              </a:ext>
            </a:extLst>
          </p:cNvPr>
          <p:cNvSpPr txBox="1"/>
          <p:nvPr/>
        </p:nvSpPr>
        <p:spPr>
          <a:xfrm>
            <a:off x="8193212" y="3717469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Mean class-specific F1 improves only slightly:0.623 → 0.630</a:t>
            </a:r>
            <a:endParaRPr lang="en-IL" sz="1600">
              <a:latin typeface="+mj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6C288E-4885-499B-6995-494C150E2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94" y="1968509"/>
            <a:ext cx="3262172" cy="161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A463682-8D64-9482-1968-2FC875D393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144" y="1972109"/>
            <a:ext cx="3254890" cy="1609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1E01E45-2A5A-D5A6-0F06-407A0505A9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85878" y="1948112"/>
            <a:ext cx="3468843" cy="16060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54720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68A984-6874-4499-092F-CB8FD8F9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463B4D3-8CB2-76B8-18AB-1E3C878CD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1C33A98-87B5-4F09-A486-96187EAB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6E8F483-59E7-178E-1EFE-33753DD0F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2ACC3BB6-E67D-7CAA-EAE6-9D9902EBF467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893CB74-57ED-55D4-B5DA-2441C833B4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203EAB9-5B16-5865-FC97-5BA0D69ED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83">
            <a:extLst>
              <a:ext uri="{FF2B5EF4-FFF2-40B4-BE49-F238E27FC236}">
                <a16:creationId xmlns:a16="http://schemas.microsoft.com/office/drawing/2014/main" id="{E3017714-6DA3-3937-D6FD-1ED3068E0A32}"/>
              </a:ext>
            </a:extLst>
          </p:cNvPr>
          <p:cNvSpPr txBox="1"/>
          <p:nvPr/>
        </p:nvSpPr>
        <p:spPr>
          <a:xfrm>
            <a:off x="1053847" y="375599"/>
            <a:ext cx="1025194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  <a:ea typeface="+mj-ea"/>
                <a:cs typeface="+mj-cs"/>
              </a:rPr>
              <a:t>PER-CLASS SNR ON RESTORED IMAGES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86893788-B6D0-AAE5-A047-EB6D1F63265B}"/>
              </a:ext>
            </a:extLst>
          </p:cNvPr>
          <p:cNvSpPr txBox="1"/>
          <p:nvPr/>
        </p:nvSpPr>
        <p:spPr>
          <a:xfrm>
            <a:off x="281761" y="767140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+mj-lt"/>
              </a:rPr>
              <a:t>SNR was measured per object class after restoration to compare image-quality recovery across distortions.</a:t>
            </a:r>
            <a:endParaRPr kumimoji="0" lang="en-IL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926383-B784-3D51-6718-93850A182717}"/>
              </a:ext>
            </a:extLst>
          </p:cNvPr>
          <p:cNvSpPr txBox="1"/>
          <p:nvPr/>
        </p:nvSpPr>
        <p:spPr>
          <a:xfrm>
            <a:off x="1185675" y="5360841"/>
            <a:ext cx="9875520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>
                <a:latin typeface="+mj-lt"/>
              </a:rPr>
              <a:t>Per-class SNR supports the restoration analysis: Salt &amp; Pepper shows strong image-quality recovery, while Motion Blur remains limited by lost fine details.</a:t>
            </a:r>
            <a:endParaRPr lang="en-IL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DE5188-6397-866A-C193-A7988FA4BF7F}"/>
              </a:ext>
            </a:extLst>
          </p:cNvPr>
          <p:cNvSpPr txBox="1"/>
          <p:nvPr/>
        </p:nvSpPr>
        <p:spPr>
          <a:xfrm>
            <a:off x="548072" y="3665165"/>
            <a:ext cx="3177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Median filtering gives the strongest SNR recovery.</a:t>
            </a:r>
            <a:endParaRPr lang="en-IL" sz="1600"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AF62C8F-BAA6-DC11-C662-F1EE1422BAB4}"/>
              </a:ext>
            </a:extLst>
          </p:cNvPr>
          <p:cNvSpPr txBox="1"/>
          <p:nvPr/>
        </p:nvSpPr>
        <p:spPr>
          <a:xfrm>
            <a:off x="1247212" y="1609322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Salt &amp; Pepper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58C8A2A-9199-08DD-F847-2FF7FE3ED5B7}"/>
              </a:ext>
            </a:extLst>
          </p:cNvPr>
          <p:cNvSpPr txBox="1"/>
          <p:nvPr/>
        </p:nvSpPr>
        <p:spPr>
          <a:xfrm>
            <a:off x="5338575" y="1539455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Overexposure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C4B0481-E6D1-B4F8-7ACF-46D8E9648DBC}"/>
              </a:ext>
            </a:extLst>
          </p:cNvPr>
          <p:cNvSpPr txBox="1"/>
          <p:nvPr/>
        </p:nvSpPr>
        <p:spPr>
          <a:xfrm>
            <a:off x="9235440" y="1557780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Motion Blur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6920B43-4654-4A31-09EE-7BC0B9B91756}"/>
              </a:ext>
            </a:extLst>
          </p:cNvPr>
          <p:cNvSpPr txBox="1"/>
          <p:nvPr/>
        </p:nvSpPr>
        <p:spPr>
          <a:xfrm>
            <a:off x="4255772" y="3669749"/>
            <a:ext cx="368045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CLAHE and brightness correction recover saturated regions.</a:t>
            </a:r>
            <a:endParaRPr lang="en-IL" sz="1600">
              <a:latin typeface="+mj-lt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260081-7FA6-429A-7B40-E73CA2C227B3}"/>
              </a:ext>
            </a:extLst>
          </p:cNvPr>
          <p:cNvSpPr txBox="1"/>
          <p:nvPr/>
        </p:nvSpPr>
        <p:spPr>
          <a:xfrm>
            <a:off x="8347144" y="3755589"/>
            <a:ext cx="35095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>
                <a:latin typeface="+mj-lt"/>
              </a:rPr>
              <a:t>High SNR does not fully recover lost fine details.</a:t>
            </a:r>
            <a:endParaRPr lang="en-IL" sz="1600">
              <a:latin typeface="+mj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DA8E5A-823F-0989-43B9-D76B789F7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12" y="2013249"/>
            <a:ext cx="3802121" cy="161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20D36C-32BB-2D72-AADB-39DF27F52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8489" y="2013249"/>
            <a:ext cx="3802121" cy="161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6D3209-E80B-ABE1-F8FF-6EF6266D61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110" y="2013249"/>
            <a:ext cx="3802121" cy="161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22161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EE509-CBA0-4A00-A87D-FE88634459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6C88AA45-9F6F-98B8-BEFA-2D2DD4639349}"/>
              </a:ext>
            </a:extLst>
          </p:cNvPr>
          <p:cNvSpPr txBox="1"/>
          <p:nvPr/>
        </p:nvSpPr>
        <p:spPr>
          <a:xfrm>
            <a:off x="1139955" y="385091"/>
            <a:ext cx="9721085" cy="3483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 defTabSz="609630">
              <a:lnSpc>
                <a:spcPts val="2559"/>
              </a:lnSpc>
            </a:pPr>
            <a:r>
              <a:rPr lang="en-US" sz="3200" b="1" cap="all" spc="30">
                <a:solidFill>
                  <a:srgbClr val="0F172A"/>
                </a:solidFill>
                <a:latin typeface="Univers Condensed" panose="020B0506020202050204" pitchFamily="34" charset="0"/>
              </a:rPr>
              <a:t>RESTORATION KEY FINDINGS</a:t>
            </a:r>
            <a:endParaRPr lang="en-US" sz="2800" b="1" spc="42">
              <a:solidFill>
                <a:srgbClr val="333333"/>
              </a:solidFill>
              <a:latin typeface="Inter Bold"/>
              <a:ea typeface="Inter Bold"/>
              <a:cs typeface="Inter Bold"/>
              <a:sym typeface="Inter Bold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14649344-4376-C6CF-8B6E-96AA125AAD86}"/>
              </a:ext>
            </a:extLst>
          </p:cNvPr>
          <p:cNvSpPr txBox="1"/>
          <p:nvPr/>
        </p:nvSpPr>
        <p:spPr>
          <a:xfrm>
            <a:off x="645036" y="825792"/>
            <a:ext cx="10901928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lang="en-US">
                <a:solidFill>
                  <a:srgbClr val="000000"/>
                </a:solidFill>
                <a:latin typeface="Univers Condensed"/>
              </a:rPr>
              <a:t>Restoration improved image quality and downstream task performance, but the level of recovery varied across distortions.</a:t>
            </a:r>
            <a:endParaRPr lang="en-IL">
              <a:solidFill>
                <a:srgbClr val="000000"/>
              </a:solidFill>
              <a:latin typeface="Univers Condensed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92A8DD8-5D4D-47D2-A3F2-B23147567722}"/>
              </a:ext>
            </a:extLst>
          </p:cNvPr>
          <p:cNvSpPr txBox="1"/>
          <p:nvPr/>
        </p:nvSpPr>
        <p:spPr>
          <a:xfrm>
            <a:off x="822960" y="5469697"/>
            <a:ext cx="1072400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>
                <a:solidFill>
                  <a:srgbClr val="000000"/>
                </a:solidFill>
                <a:latin typeface="Univers Condensed"/>
              </a:rPr>
              <a:t>Salt &amp; Pepper restoration gives the strongest numerical recovery, while Motion Blur shows only limited improvement, especially in ResNet50 classification.</a:t>
            </a:r>
            <a:endParaRPr lang="en-IL">
              <a:solidFill>
                <a:srgbClr val="000000"/>
              </a:solidFill>
              <a:latin typeface="Univers Condensed"/>
            </a:endParaRPr>
          </a:p>
        </p:txBody>
      </p:sp>
      <p:cxnSp>
        <p:nvCxnSpPr>
          <p:cNvPr id="282" name="Connector 12">
            <a:extLst>
              <a:ext uri="{FF2B5EF4-FFF2-40B4-BE49-F238E27FC236}">
                <a16:creationId xmlns:a16="http://schemas.microsoft.com/office/drawing/2014/main" id="{9F1CF626-8E2B-F835-3E8B-561636AFBD03}"/>
              </a:ext>
            </a:extLst>
          </p:cNvPr>
          <p:cNvCxnSpPr/>
          <p:nvPr/>
        </p:nvCxnSpPr>
        <p:spPr>
          <a:xfrm flipV="1">
            <a:off x="1471098" y="1375856"/>
            <a:ext cx="591874" cy="236873"/>
          </a:xfrm>
          <a:prstGeom prst="line">
            <a:avLst/>
          </a:prstGeom>
          <a:ln w="13970">
            <a:solidFill>
              <a:srgbClr val="E4E7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ounded Rectangle 27">
            <a:extLst>
              <a:ext uri="{FF2B5EF4-FFF2-40B4-BE49-F238E27FC236}">
                <a16:creationId xmlns:a16="http://schemas.microsoft.com/office/drawing/2014/main" id="{F18B76AA-4737-459F-B186-AB7DA7501185}"/>
              </a:ext>
            </a:extLst>
          </p:cNvPr>
          <p:cNvSpPr/>
          <p:nvPr/>
        </p:nvSpPr>
        <p:spPr>
          <a:xfrm>
            <a:off x="1589473" y="1734754"/>
            <a:ext cx="2700425" cy="3158302"/>
          </a:xfrm>
          <a:prstGeom prst="round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4" name="Rounded Rectangle 28">
            <a:extLst>
              <a:ext uri="{FF2B5EF4-FFF2-40B4-BE49-F238E27FC236}">
                <a16:creationId xmlns:a16="http://schemas.microsoft.com/office/drawing/2014/main" id="{7195DDD1-E490-C1FF-C019-82C27593D8D1}"/>
              </a:ext>
            </a:extLst>
          </p:cNvPr>
          <p:cNvSpPr/>
          <p:nvPr/>
        </p:nvSpPr>
        <p:spPr>
          <a:xfrm>
            <a:off x="1545082" y="1684508"/>
            <a:ext cx="2700425" cy="3158302"/>
          </a:xfrm>
          <a:prstGeom prst="roundRect">
            <a:avLst/>
          </a:prstGeom>
          <a:solidFill>
            <a:srgbClr val="E6EFF4"/>
          </a:solidFill>
          <a:ln w="9525">
            <a:solidFill>
              <a:srgbClr val="D4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5" name="Rounded Rectangle 29">
            <a:extLst>
              <a:ext uri="{FF2B5EF4-FFF2-40B4-BE49-F238E27FC236}">
                <a16:creationId xmlns:a16="http://schemas.microsoft.com/office/drawing/2014/main" id="{AECDF20A-1D19-B9FA-F851-AFB57FF13F43}"/>
              </a:ext>
            </a:extLst>
          </p:cNvPr>
          <p:cNvSpPr/>
          <p:nvPr/>
        </p:nvSpPr>
        <p:spPr>
          <a:xfrm>
            <a:off x="1471098" y="1433280"/>
            <a:ext cx="1442693" cy="445033"/>
          </a:xfrm>
          <a:prstGeom prst="roundRect">
            <a:avLst/>
          </a:prstGeom>
          <a:solidFill>
            <a:srgbClr val="2DAA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ctr"/>
            <a:r>
              <a:rPr sz="1420" b="1">
                <a:solidFill>
                  <a:srgbClr val="FFFFFF"/>
                </a:solidFill>
                <a:latin typeface="+mj-lt"/>
              </a:rPr>
              <a:t>SALT &amp; PEPPER</a:t>
            </a:r>
          </a:p>
        </p:txBody>
      </p:sp>
      <p:sp>
        <p:nvSpPr>
          <p:cNvPr id="286" name="Rounded Rectangle 30">
            <a:extLst>
              <a:ext uri="{FF2B5EF4-FFF2-40B4-BE49-F238E27FC236}">
                <a16:creationId xmlns:a16="http://schemas.microsoft.com/office/drawing/2014/main" id="{934A97F9-B198-A387-BB91-0D7D07E9056B}"/>
              </a:ext>
            </a:extLst>
          </p:cNvPr>
          <p:cNvSpPr/>
          <p:nvPr/>
        </p:nvSpPr>
        <p:spPr>
          <a:xfrm>
            <a:off x="3083955" y="1545256"/>
            <a:ext cx="253025" cy="163657"/>
          </a:xfrm>
          <a:prstGeom prst="roundRect">
            <a:avLst/>
          </a:prstGeom>
          <a:noFill/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7" name="Rectangle 286">
            <a:extLst>
              <a:ext uri="{FF2B5EF4-FFF2-40B4-BE49-F238E27FC236}">
                <a16:creationId xmlns:a16="http://schemas.microsoft.com/office/drawing/2014/main" id="{D16C1C94-F5ED-2E39-08A6-ABBFF6EF14CA}"/>
              </a:ext>
            </a:extLst>
          </p:cNvPr>
          <p:cNvSpPr/>
          <p:nvPr/>
        </p:nvSpPr>
        <p:spPr>
          <a:xfrm>
            <a:off x="3133154" y="1504341"/>
            <a:ext cx="84342" cy="47733"/>
          </a:xfrm>
          <a:prstGeom prst="rect">
            <a:avLst/>
          </a:prstGeom>
          <a:noFill/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8" name="Oval 287">
            <a:extLst>
              <a:ext uri="{FF2B5EF4-FFF2-40B4-BE49-F238E27FC236}">
                <a16:creationId xmlns:a16="http://schemas.microsoft.com/office/drawing/2014/main" id="{BFAEEC86-5B5E-AB40-B9FE-8AFB88C6B69B}"/>
              </a:ext>
            </a:extLst>
          </p:cNvPr>
          <p:cNvSpPr/>
          <p:nvPr/>
        </p:nvSpPr>
        <p:spPr>
          <a:xfrm>
            <a:off x="3168296" y="1569122"/>
            <a:ext cx="91370" cy="88647"/>
          </a:xfrm>
          <a:prstGeom prst="ellipse">
            <a:avLst/>
          </a:prstGeom>
          <a:noFill/>
          <a:ln w="12700">
            <a:solidFill>
              <a:srgbClr val="2D3A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89" name="Oval 288">
            <a:extLst>
              <a:ext uri="{FF2B5EF4-FFF2-40B4-BE49-F238E27FC236}">
                <a16:creationId xmlns:a16="http://schemas.microsoft.com/office/drawing/2014/main" id="{ADC3A1F9-0E29-19AA-7EBE-623C76F6AB4D}"/>
              </a:ext>
            </a:extLst>
          </p:cNvPr>
          <p:cNvSpPr/>
          <p:nvPr/>
        </p:nvSpPr>
        <p:spPr>
          <a:xfrm>
            <a:off x="3638836" y="1476347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0" name="Oval 289">
            <a:extLst>
              <a:ext uri="{FF2B5EF4-FFF2-40B4-BE49-F238E27FC236}">
                <a16:creationId xmlns:a16="http://schemas.microsoft.com/office/drawing/2014/main" id="{DF17BD04-2578-2A8D-2446-DB464BB6765F}"/>
              </a:ext>
            </a:extLst>
          </p:cNvPr>
          <p:cNvSpPr/>
          <p:nvPr/>
        </p:nvSpPr>
        <p:spPr>
          <a:xfrm>
            <a:off x="3786804" y="1447636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1" name="Oval 290">
            <a:extLst>
              <a:ext uri="{FF2B5EF4-FFF2-40B4-BE49-F238E27FC236}">
                <a16:creationId xmlns:a16="http://schemas.microsoft.com/office/drawing/2014/main" id="{10221FF8-B3E8-7539-2782-B005EC3C0F7C}"/>
              </a:ext>
            </a:extLst>
          </p:cNvPr>
          <p:cNvSpPr/>
          <p:nvPr/>
        </p:nvSpPr>
        <p:spPr>
          <a:xfrm>
            <a:off x="3919977" y="1519415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2" name="Oval 291">
            <a:extLst>
              <a:ext uri="{FF2B5EF4-FFF2-40B4-BE49-F238E27FC236}">
                <a16:creationId xmlns:a16="http://schemas.microsoft.com/office/drawing/2014/main" id="{FC79DD70-1A9B-2BF0-E668-1C6553491559}"/>
              </a:ext>
            </a:extLst>
          </p:cNvPr>
          <p:cNvSpPr/>
          <p:nvPr/>
        </p:nvSpPr>
        <p:spPr>
          <a:xfrm>
            <a:off x="3690626" y="1576839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3" name="Oval 292">
            <a:extLst>
              <a:ext uri="{FF2B5EF4-FFF2-40B4-BE49-F238E27FC236}">
                <a16:creationId xmlns:a16="http://schemas.microsoft.com/office/drawing/2014/main" id="{FADF223A-314C-D378-26FA-36E6F88CCBDA}"/>
              </a:ext>
            </a:extLst>
          </p:cNvPr>
          <p:cNvSpPr/>
          <p:nvPr/>
        </p:nvSpPr>
        <p:spPr>
          <a:xfrm>
            <a:off x="3860789" y="1619907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4" name="Oval 293">
            <a:extLst>
              <a:ext uri="{FF2B5EF4-FFF2-40B4-BE49-F238E27FC236}">
                <a16:creationId xmlns:a16="http://schemas.microsoft.com/office/drawing/2014/main" id="{6A7CE07F-66D8-B784-99E1-00FB987A31FB}"/>
              </a:ext>
            </a:extLst>
          </p:cNvPr>
          <p:cNvSpPr/>
          <p:nvPr/>
        </p:nvSpPr>
        <p:spPr>
          <a:xfrm>
            <a:off x="4016156" y="1591195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5" name="Oval 294">
            <a:extLst>
              <a:ext uri="{FF2B5EF4-FFF2-40B4-BE49-F238E27FC236}">
                <a16:creationId xmlns:a16="http://schemas.microsoft.com/office/drawing/2014/main" id="{8370814A-F99B-445E-CA6F-C0B541D8A84C}"/>
              </a:ext>
            </a:extLst>
          </p:cNvPr>
          <p:cNvSpPr/>
          <p:nvPr/>
        </p:nvSpPr>
        <p:spPr>
          <a:xfrm>
            <a:off x="3764610" y="1706042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6" name="Oval 295">
            <a:extLst>
              <a:ext uri="{FF2B5EF4-FFF2-40B4-BE49-F238E27FC236}">
                <a16:creationId xmlns:a16="http://schemas.microsoft.com/office/drawing/2014/main" id="{926AA13A-36B0-65FE-C9FB-1008C896F12F}"/>
              </a:ext>
            </a:extLst>
          </p:cNvPr>
          <p:cNvSpPr/>
          <p:nvPr/>
        </p:nvSpPr>
        <p:spPr>
          <a:xfrm>
            <a:off x="3956968" y="1734754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7" name="Oval 296">
            <a:extLst>
              <a:ext uri="{FF2B5EF4-FFF2-40B4-BE49-F238E27FC236}">
                <a16:creationId xmlns:a16="http://schemas.microsoft.com/office/drawing/2014/main" id="{C52C6C5E-8E2F-3BE2-355C-00276C7ECB35}"/>
              </a:ext>
            </a:extLst>
          </p:cNvPr>
          <p:cNvSpPr/>
          <p:nvPr/>
        </p:nvSpPr>
        <p:spPr>
          <a:xfrm>
            <a:off x="4082742" y="1691686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8" name="Oval 297">
            <a:extLst>
              <a:ext uri="{FF2B5EF4-FFF2-40B4-BE49-F238E27FC236}">
                <a16:creationId xmlns:a16="http://schemas.microsoft.com/office/drawing/2014/main" id="{93D56D94-AE96-DDC5-1291-B9DDF9EF7BE8}"/>
              </a:ext>
            </a:extLst>
          </p:cNvPr>
          <p:cNvSpPr/>
          <p:nvPr/>
        </p:nvSpPr>
        <p:spPr>
          <a:xfrm>
            <a:off x="3661032" y="1806534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299" name="Oval 298">
            <a:extLst>
              <a:ext uri="{FF2B5EF4-FFF2-40B4-BE49-F238E27FC236}">
                <a16:creationId xmlns:a16="http://schemas.microsoft.com/office/drawing/2014/main" id="{3815D248-71C9-8E93-F57F-793505D74797}"/>
              </a:ext>
            </a:extLst>
          </p:cNvPr>
          <p:cNvSpPr/>
          <p:nvPr/>
        </p:nvSpPr>
        <p:spPr>
          <a:xfrm>
            <a:off x="3838593" y="1849601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0" name="Oval 299">
            <a:extLst>
              <a:ext uri="{FF2B5EF4-FFF2-40B4-BE49-F238E27FC236}">
                <a16:creationId xmlns:a16="http://schemas.microsoft.com/office/drawing/2014/main" id="{8A265B36-26E0-485A-CD1F-55B8BE0FE3CB}"/>
              </a:ext>
            </a:extLst>
          </p:cNvPr>
          <p:cNvSpPr/>
          <p:nvPr/>
        </p:nvSpPr>
        <p:spPr>
          <a:xfrm>
            <a:off x="4030953" y="1878313"/>
            <a:ext cx="33293" cy="32301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1" name="Rounded Rectangle 45">
            <a:extLst>
              <a:ext uri="{FF2B5EF4-FFF2-40B4-BE49-F238E27FC236}">
                <a16:creationId xmlns:a16="http://schemas.microsoft.com/office/drawing/2014/main" id="{9CF9B427-5CDC-F1D3-3D95-E578D206BE3A}"/>
              </a:ext>
            </a:extLst>
          </p:cNvPr>
          <p:cNvSpPr/>
          <p:nvPr/>
        </p:nvSpPr>
        <p:spPr>
          <a:xfrm>
            <a:off x="2099964" y="1914203"/>
            <a:ext cx="1590661" cy="445033"/>
          </a:xfrm>
          <a:prstGeom prst="roundRect">
            <a:avLst/>
          </a:prstGeom>
          <a:solidFill>
            <a:srgbClr val="D9EEF0"/>
          </a:solidFill>
          <a:ln w="9525">
            <a:solidFill>
              <a:srgbClr val="B4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2" name="Rounded Rectangle 46">
            <a:extLst>
              <a:ext uri="{FF2B5EF4-FFF2-40B4-BE49-F238E27FC236}">
                <a16:creationId xmlns:a16="http://schemas.microsoft.com/office/drawing/2014/main" id="{576DF3A6-6460-6E20-877D-74C768A24ADE}"/>
              </a:ext>
            </a:extLst>
          </p:cNvPr>
          <p:cNvSpPr/>
          <p:nvPr/>
        </p:nvSpPr>
        <p:spPr>
          <a:xfrm>
            <a:off x="2225737" y="1993160"/>
            <a:ext cx="318132" cy="244051"/>
          </a:xfrm>
          <a:prstGeom prst="roundRect">
            <a:avLst/>
          </a:prstGeom>
          <a:noFill/>
          <a:ln w="10160">
            <a:solidFill>
              <a:srgbClr val="4A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93A4E9A4-C1B9-25C5-E137-F960E32179FF}"/>
              </a:ext>
            </a:extLst>
          </p:cNvPr>
          <p:cNvSpPr txBox="1"/>
          <p:nvPr/>
        </p:nvSpPr>
        <p:spPr>
          <a:xfrm>
            <a:off x="2258967" y="2025296"/>
            <a:ext cx="251672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D2027"/>
                </a:solidFill>
                <a:latin typeface="+mj-lt"/>
              </a:rPr>
              <a:t>SNR</a:t>
            </a:r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8111A7FA-5651-4F84-1F0B-07546B2B3A48}"/>
              </a:ext>
            </a:extLst>
          </p:cNvPr>
          <p:cNvSpPr txBox="1"/>
          <p:nvPr/>
        </p:nvSpPr>
        <p:spPr>
          <a:xfrm>
            <a:off x="2563406" y="2016463"/>
            <a:ext cx="1088439" cy="4001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000000"/>
                </a:solidFill>
                <a:latin typeface="+mj-lt"/>
              </a:rPr>
              <a:t> </a:t>
            </a:r>
            <a:r>
              <a:rPr lang="en-IL" sz="1300" b="1" i="0">
                <a:solidFill>
                  <a:srgbClr val="000000"/>
                </a:solidFill>
                <a:latin typeface="+mj-lt"/>
              </a:rPr>
              <a:t>10.660 → 19.772</a:t>
            </a:r>
          </a:p>
          <a:p>
            <a:pPr algn="l"/>
            <a:endParaRPr sz="1300" b="1" i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05" name="Rounded Rectangle 49">
            <a:extLst>
              <a:ext uri="{FF2B5EF4-FFF2-40B4-BE49-F238E27FC236}">
                <a16:creationId xmlns:a16="http://schemas.microsoft.com/office/drawing/2014/main" id="{D0673340-0DE0-8BDA-3E4C-A910CB0AEC8D}"/>
              </a:ext>
            </a:extLst>
          </p:cNvPr>
          <p:cNvSpPr/>
          <p:nvPr/>
        </p:nvSpPr>
        <p:spPr>
          <a:xfrm>
            <a:off x="1767035" y="2604722"/>
            <a:ext cx="239708" cy="155044"/>
          </a:xfrm>
          <a:prstGeom prst="round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6" name="Rectangle 305">
            <a:extLst>
              <a:ext uri="{FF2B5EF4-FFF2-40B4-BE49-F238E27FC236}">
                <a16:creationId xmlns:a16="http://schemas.microsoft.com/office/drawing/2014/main" id="{3129F209-EEAE-4327-5FAE-EF9918694D76}"/>
              </a:ext>
            </a:extLst>
          </p:cNvPr>
          <p:cNvSpPr/>
          <p:nvPr/>
        </p:nvSpPr>
        <p:spPr>
          <a:xfrm>
            <a:off x="1813645" y="2565961"/>
            <a:ext cx="79903" cy="45221"/>
          </a:xfrm>
          <a:prstGeom prst="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7" name="Oval 306">
            <a:extLst>
              <a:ext uri="{FF2B5EF4-FFF2-40B4-BE49-F238E27FC236}">
                <a16:creationId xmlns:a16="http://schemas.microsoft.com/office/drawing/2014/main" id="{C7593216-0E42-259F-9CCE-95E6565DB7F3}"/>
              </a:ext>
            </a:extLst>
          </p:cNvPr>
          <p:cNvSpPr/>
          <p:nvPr/>
        </p:nvSpPr>
        <p:spPr>
          <a:xfrm>
            <a:off x="1846938" y="2627333"/>
            <a:ext cx="86561" cy="83981"/>
          </a:xfrm>
          <a:prstGeom prst="ellipse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08" name="TextBox 307">
            <a:extLst>
              <a:ext uri="{FF2B5EF4-FFF2-40B4-BE49-F238E27FC236}">
                <a16:creationId xmlns:a16="http://schemas.microsoft.com/office/drawing/2014/main" id="{FFE3FB28-4149-0A2C-37A6-4125483BA999}"/>
              </a:ext>
            </a:extLst>
          </p:cNvPr>
          <p:cNvSpPr txBox="1"/>
          <p:nvPr/>
        </p:nvSpPr>
        <p:spPr>
          <a:xfrm>
            <a:off x="2028947" y="2563388"/>
            <a:ext cx="1923590" cy="574237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lvl="0" algn="ctr">
              <a:lnSpc>
                <a:spcPts val="1680"/>
              </a:lnSpc>
              <a:defRPr/>
            </a:pPr>
            <a:r>
              <a:rPr sz="1400" b="1">
                <a:solidFill>
                  <a:srgbClr val="000000"/>
                </a:solidFill>
                <a:latin typeface="+mj-lt"/>
              </a:rPr>
              <a:t>Canny: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0.201 → 0.253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</p:txBody>
      </p:sp>
      <p:cxnSp>
        <p:nvCxnSpPr>
          <p:cNvPr id="309" name="Connector 53">
            <a:extLst>
              <a:ext uri="{FF2B5EF4-FFF2-40B4-BE49-F238E27FC236}">
                <a16:creationId xmlns:a16="http://schemas.microsoft.com/office/drawing/2014/main" id="{C5D735A6-5E92-FE52-1F95-8F08E8EF2C2E}"/>
              </a:ext>
            </a:extLst>
          </p:cNvPr>
          <p:cNvCxnSpPr/>
          <p:nvPr/>
        </p:nvCxnSpPr>
        <p:spPr>
          <a:xfrm>
            <a:off x="1752238" y="2831423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0" name="Cloud 309">
            <a:extLst>
              <a:ext uri="{FF2B5EF4-FFF2-40B4-BE49-F238E27FC236}">
                <a16:creationId xmlns:a16="http://schemas.microsoft.com/office/drawing/2014/main" id="{A7522B7B-5633-7F8B-2C7B-DB795956E2A3}"/>
              </a:ext>
            </a:extLst>
          </p:cNvPr>
          <p:cNvSpPr/>
          <p:nvPr/>
        </p:nvSpPr>
        <p:spPr>
          <a:xfrm>
            <a:off x="1752238" y="2873712"/>
            <a:ext cx="281140" cy="208161"/>
          </a:xfrm>
          <a:prstGeom prst="cloud">
            <a:avLst/>
          </a:prstGeom>
          <a:solidFill>
            <a:srgbClr val="EBF8FA"/>
          </a:solidFill>
          <a:ln w="15240">
            <a:solidFill>
              <a:srgbClr val="2DA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11" name="Cloud 310">
            <a:extLst>
              <a:ext uri="{FF2B5EF4-FFF2-40B4-BE49-F238E27FC236}">
                <a16:creationId xmlns:a16="http://schemas.microsoft.com/office/drawing/2014/main" id="{68411695-1E18-4A56-761F-A37FE2AB532A}"/>
              </a:ext>
            </a:extLst>
          </p:cNvPr>
          <p:cNvSpPr/>
          <p:nvPr/>
        </p:nvSpPr>
        <p:spPr>
          <a:xfrm>
            <a:off x="1870612" y="2938314"/>
            <a:ext cx="244148" cy="179449"/>
          </a:xfrm>
          <a:prstGeom prst="cloud">
            <a:avLst/>
          </a:prstGeom>
          <a:solidFill>
            <a:srgbClr val="2DAAD7"/>
          </a:solidFill>
          <a:ln w="12700">
            <a:solidFill>
              <a:srgbClr val="2DAA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12" name="TextBox 311">
            <a:extLst>
              <a:ext uri="{FF2B5EF4-FFF2-40B4-BE49-F238E27FC236}">
                <a16:creationId xmlns:a16="http://schemas.microsoft.com/office/drawing/2014/main" id="{6B2DD79C-F737-B579-18A7-961665EAB3B1}"/>
              </a:ext>
            </a:extLst>
          </p:cNvPr>
          <p:cNvSpPr txBox="1"/>
          <p:nvPr/>
        </p:nvSpPr>
        <p:spPr>
          <a:xfrm>
            <a:off x="2219446" y="2951239"/>
            <a:ext cx="2380821" cy="5742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1" err="1">
                <a:solidFill>
                  <a:srgbClr val="000000"/>
                </a:solidFill>
                <a:latin typeface="+mj-lt"/>
              </a:rPr>
              <a:t>GrabCut</a:t>
            </a:r>
            <a:r>
              <a:rPr sz="1400" b="1">
                <a:solidFill>
                  <a:srgbClr val="000000"/>
                </a:solidFill>
                <a:latin typeface="+mj-lt"/>
              </a:rPr>
              <a:t>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IL" sz="1400" b="0">
                <a:solidFill>
                  <a:srgbClr val="000000"/>
                </a:solidFill>
                <a:latin typeface="+mj-lt"/>
              </a:rPr>
              <a:t>0.467 → 0.674</a:t>
            </a:r>
          </a:p>
          <a:p>
            <a:pPr algn="l"/>
            <a:endParaRPr sz="1400" b="0">
              <a:solidFill>
                <a:srgbClr val="000000"/>
              </a:solidFill>
              <a:latin typeface="+mj-lt"/>
            </a:endParaRPr>
          </a:p>
        </p:txBody>
      </p:sp>
      <p:cxnSp>
        <p:nvCxnSpPr>
          <p:cNvPr id="313" name="Connector 57">
            <a:extLst>
              <a:ext uri="{FF2B5EF4-FFF2-40B4-BE49-F238E27FC236}">
                <a16:creationId xmlns:a16="http://schemas.microsoft.com/office/drawing/2014/main" id="{DEE237EC-938A-9FE2-D4AE-D45C94C0841E}"/>
              </a:ext>
            </a:extLst>
          </p:cNvPr>
          <p:cNvCxnSpPr/>
          <p:nvPr/>
        </p:nvCxnSpPr>
        <p:spPr>
          <a:xfrm>
            <a:off x="1752238" y="3257892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48A43D50-DADC-954E-3476-179E79EDE4DD}"/>
              </a:ext>
            </a:extLst>
          </p:cNvPr>
          <p:cNvGrpSpPr/>
          <p:nvPr/>
        </p:nvGrpSpPr>
        <p:grpSpPr>
          <a:xfrm>
            <a:off x="1789230" y="3300180"/>
            <a:ext cx="314433" cy="254818"/>
            <a:chOff x="1789230" y="4031700"/>
            <a:chExt cx="314433" cy="254818"/>
          </a:xfrm>
        </p:grpSpPr>
        <p:cxnSp>
          <p:nvCxnSpPr>
            <p:cNvPr id="314" name="Connector 58">
              <a:extLst>
                <a:ext uri="{FF2B5EF4-FFF2-40B4-BE49-F238E27FC236}">
                  <a16:creationId xmlns:a16="http://schemas.microsoft.com/office/drawing/2014/main" id="{354DEA33-82D3-9F41-1626-902749200715}"/>
                </a:ext>
              </a:extLst>
            </p:cNvPr>
            <p:cNvCxnSpPr/>
            <p:nvPr/>
          </p:nvCxnSpPr>
          <p:spPr>
            <a:xfrm flipV="1">
              <a:off x="1789230" y="4031700"/>
              <a:ext cx="199757" cy="43068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Connector 59">
              <a:extLst>
                <a:ext uri="{FF2B5EF4-FFF2-40B4-BE49-F238E27FC236}">
                  <a16:creationId xmlns:a16="http://schemas.microsoft.com/office/drawing/2014/main" id="{926D251E-C132-88CC-141F-6FE7D4EC94A5}"/>
                </a:ext>
              </a:extLst>
            </p:cNvPr>
            <p:cNvCxnSpPr/>
            <p:nvPr/>
          </p:nvCxnSpPr>
          <p:spPr>
            <a:xfrm flipH="1">
              <a:off x="1959394" y="4031700"/>
              <a:ext cx="29594" cy="200983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or 60">
              <a:extLst>
                <a:ext uri="{FF2B5EF4-FFF2-40B4-BE49-F238E27FC236}">
                  <a16:creationId xmlns:a16="http://schemas.microsoft.com/office/drawing/2014/main" id="{6F5F4A0C-8A94-0443-DAD6-57FED0F4FACB}"/>
                </a:ext>
              </a:extLst>
            </p:cNvPr>
            <p:cNvCxnSpPr/>
            <p:nvPr/>
          </p:nvCxnSpPr>
          <p:spPr>
            <a:xfrm flipH="1" flipV="1">
              <a:off x="1826222" y="4196793"/>
              <a:ext cx="133172" cy="35890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Connector 61">
              <a:extLst>
                <a:ext uri="{FF2B5EF4-FFF2-40B4-BE49-F238E27FC236}">
                  <a16:creationId xmlns:a16="http://schemas.microsoft.com/office/drawing/2014/main" id="{7F7ECEFA-46BC-1198-7163-A282F1D6818F}"/>
                </a:ext>
              </a:extLst>
            </p:cNvPr>
            <p:cNvCxnSpPr/>
            <p:nvPr/>
          </p:nvCxnSpPr>
          <p:spPr>
            <a:xfrm>
              <a:off x="1789230" y="4074768"/>
              <a:ext cx="36992" cy="122025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Connector 62">
              <a:extLst>
                <a:ext uri="{FF2B5EF4-FFF2-40B4-BE49-F238E27FC236}">
                  <a16:creationId xmlns:a16="http://schemas.microsoft.com/office/drawing/2014/main" id="{561DC57B-DD3C-3A44-A579-DBC1B2220E95}"/>
                </a:ext>
              </a:extLst>
            </p:cNvPr>
            <p:cNvCxnSpPr/>
            <p:nvPr/>
          </p:nvCxnSpPr>
          <p:spPr>
            <a:xfrm>
              <a:off x="1988988" y="4031700"/>
              <a:ext cx="59187" cy="114847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or 63">
              <a:extLst>
                <a:ext uri="{FF2B5EF4-FFF2-40B4-BE49-F238E27FC236}">
                  <a16:creationId xmlns:a16="http://schemas.microsoft.com/office/drawing/2014/main" id="{6FE2DF32-3173-0093-5B1A-BA6072A1D299}"/>
                </a:ext>
              </a:extLst>
            </p:cNvPr>
            <p:cNvCxnSpPr/>
            <p:nvPr/>
          </p:nvCxnSpPr>
          <p:spPr>
            <a:xfrm flipH="1">
              <a:off x="1959394" y="4146547"/>
              <a:ext cx="88781" cy="86136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Connector 64">
              <a:extLst>
                <a:ext uri="{FF2B5EF4-FFF2-40B4-BE49-F238E27FC236}">
                  <a16:creationId xmlns:a16="http://schemas.microsoft.com/office/drawing/2014/main" id="{86B1F8B2-0177-2625-E2B7-A25382491869}"/>
                </a:ext>
              </a:extLst>
            </p:cNvPr>
            <p:cNvCxnSpPr/>
            <p:nvPr/>
          </p:nvCxnSpPr>
          <p:spPr>
            <a:xfrm>
              <a:off x="1789230" y="4074768"/>
              <a:ext cx="258945" cy="71780"/>
            </a:xfrm>
            <a:prstGeom prst="line">
              <a:avLst/>
            </a:prstGeom>
            <a:ln w="12700">
              <a:solidFill>
                <a:srgbClr val="2DAAD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1" name="Oval 320">
              <a:extLst>
                <a:ext uri="{FF2B5EF4-FFF2-40B4-BE49-F238E27FC236}">
                  <a16:creationId xmlns:a16="http://schemas.microsoft.com/office/drawing/2014/main" id="{10CD344C-A151-67F3-0D5F-A4A02D7EF10C}"/>
                </a:ext>
              </a:extLst>
            </p:cNvPr>
            <p:cNvSpPr/>
            <p:nvPr/>
          </p:nvSpPr>
          <p:spPr>
            <a:xfrm>
              <a:off x="1789230" y="4074768"/>
              <a:ext cx="55488" cy="53835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2" name="Oval 321">
              <a:extLst>
                <a:ext uri="{FF2B5EF4-FFF2-40B4-BE49-F238E27FC236}">
                  <a16:creationId xmlns:a16="http://schemas.microsoft.com/office/drawing/2014/main" id="{990B1AD8-64AC-3449-A44C-4226C22640EC}"/>
                </a:ext>
              </a:extLst>
            </p:cNvPr>
            <p:cNvSpPr/>
            <p:nvPr/>
          </p:nvSpPr>
          <p:spPr>
            <a:xfrm>
              <a:off x="1988988" y="4031700"/>
              <a:ext cx="55488" cy="53835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3" name="Oval 322">
              <a:extLst>
                <a:ext uri="{FF2B5EF4-FFF2-40B4-BE49-F238E27FC236}">
                  <a16:creationId xmlns:a16="http://schemas.microsoft.com/office/drawing/2014/main" id="{E6BEE25E-3A7C-BA1D-6DEB-1986549FD397}"/>
                </a:ext>
              </a:extLst>
            </p:cNvPr>
            <p:cNvSpPr/>
            <p:nvPr/>
          </p:nvSpPr>
          <p:spPr>
            <a:xfrm>
              <a:off x="1959394" y="4232683"/>
              <a:ext cx="55488" cy="53835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4" name="Oval 323">
              <a:extLst>
                <a:ext uri="{FF2B5EF4-FFF2-40B4-BE49-F238E27FC236}">
                  <a16:creationId xmlns:a16="http://schemas.microsoft.com/office/drawing/2014/main" id="{62E08E88-3ED2-3677-A43D-F790EEFDD3D8}"/>
                </a:ext>
              </a:extLst>
            </p:cNvPr>
            <p:cNvSpPr/>
            <p:nvPr/>
          </p:nvSpPr>
          <p:spPr>
            <a:xfrm>
              <a:off x="1826222" y="4196793"/>
              <a:ext cx="55488" cy="53835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25" name="Oval 324">
              <a:extLst>
                <a:ext uri="{FF2B5EF4-FFF2-40B4-BE49-F238E27FC236}">
                  <a16:creationId xmlns:a16="http://schemas.microsoft.com/office/drawing/2014/main" id="{44E4AF5D-4F82-0E03-AF3A-BFF7C323272E}"/>
                </a:ext>
              </a:extLst>
            </p:cNvPr>
            <p:cNvSpPr/>
            <p:nvPr/>
          </p:nvSpPr>
          <p:spPr>
            <a:xfrm>
              <a:off x="2048175" y="4146547"/>
              <a:ext cx="55488" cy="53835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DAAD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sp>
        <p:nvSpPr>
          <p:cNvPr id="326" name="TextBox 325">
            <a:extLst>
              <a:ext uri="{FF2B5EF4-FFF2-40B4-BE49-F238E27FC236}">
                <a16:creationId xmlns:a16="http://schemas.microsoft.com/office/drawing/2014/main" id="{B641D1F9-17C3-04E1-2210-8427B92839E3}"/>
              </a:ext>
            </a:extLst>
          </p:cNvPr>
          <p:cNvSpPr txBox="1"/>
          <p:nvPr/>
        </p:nvSpPr>
        <p:spPr>
          <a:xfrm>
            <a:off x="2181347" y="3309127"/>
            <a:ext cx="1923590" cy="57423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+mj-lt"/>
              </a:rPr>
              <a:t>ResNet50 F1: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0.700 →0.839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  <a:p>
            <a:pPr algn="l"/>
            <a:endParaRPr sz="1400" b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E4FF9614-B72F-EDEC-6402-214B43A8E1F4}"/>
              </a:ext>
            </a:extLst>
          </p:cNvPr>
          <p:cNvSpPr txBox="1"/>
          <p:nvPr/>
        </p:nvSpPr>
        <p:spPr>
          <a:xfrm>
            <a:off x="1742989" y="3783056"/>
            <a:ext cx="2393392" cy="87203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>
              <a:lnSpc>
                <a:spcPts val="168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Univers Condensed"/>
              </a:rPr>
              <a:t>Strongest overall recovery.</a:t>
            </a:r>
          </a:p>
          <a:p>
            <a:pPr lvl="0" algn="ctr">
              <a:lnSpc>
                <a:spcPts val="1680"/>
              </a:lnSpc>
              <a:defRPr/>
            </a:pPr>
            <a:r>
              <a:rPr lang="en-US" sz="1400">
                <a:solidFill>
                  <a:srgbClr val="000000"/>
                </a:solidFill>
                <a:latin typeface="Univers Condensed"/>
              </a:rPr>
              <a:t>Median filtering removes impulse noise and improves all three tasks.</a:t>
            </a:r>
          </a:p>
        </p:txBody>
      </p:sp>
      <p:sp>
        <p:nvSpPr>
          <p:cNvPr id="329" name="Rounded Rectangle 72">
            <a:extLst>
              <a:ext uri="{FF2B5EF4-FFF2-40B4-BE49-F238E27FC236}">
                <a16:creationId xmlns:a16="http://schemas.microsoft.com/office/drawing/2014/main" id="{E42B3282-560B-4500-4E0A-5A2E17265614}"/>
              </a:ext>
            </a:extLst>
          </p:cNvPr>
          <p:cNvSpPr/>
          <p:nvPr/>
        </p:nvSpPr>
        <p:spPr>
          <a:xfrm>
            <a:off x="5050439" y="1726333"/>
            <a:ext cx="2700425" cy="3210722"/>
          </a:xfrm>
          <a:prstGeom prst="round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0" name="Rounded Rectangle 73">
            <a:extLst>
              <a:ext uri="{FF2B5EF4-FFF2-40B4-BE49-F238E27FC236}">
                <a16:creationId xmlns:a16="http://schemas.microsoft.com/office/drawing/2014/main" id="{5B031DC5-69F6-BBB4-0BA8-06BBF2B13794}"/>
              </a:ext>
            </a:extLst>
          </p:cNvPr>
          <p:cNvSpPr/>
          <p:nvPr/>
        </p:nvSpPr>
        <p:spPr>
          <a:xfrm>
            <a:off x="5006048" y="1675253"/>
            <a:ext cx="2700425" cy="3210722"/>
          </a:xfrm>
          <a:prstGeom prst="roundRect">
            <a:avLst/>
          </a:prstGeom>
          <a:solidFill>
            <a:srgbClr val="E1F0F0"/>
          </a:solidFill>
          <a:ln w="9525">
            <a:solidFill>
              <a:srgbClr val="D4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31" name="Rounded Rectangle 74">
            <a:extLst>
              <a:ext uri="{FF2B5EF4-FFF2-40B4-BE49-F238E27FC236}">
                <a16:creationId xmlns:a16="http://schemas.microsoft.com/office/drawing/2014/main" id="{394B7869-11E4-D735-FE26-5F464B5E2325}"/>
              </a:ext>
            </a:extLst>
          </p:cNvPr>
          <p:cNvSpPr/>
          <p:nvPr/>
        </p:nvSpPr>
        <p:spPr>
          <a:xfrm>
            <a:off x="4932064" y="1419855"/>
            <a:ext cx="1442693" cy="452420"/>
          </a:xfrm>
          <a:prstGeom prst="roundRect">
            <a:avLst/>
          </a:prstGeom>
          <a:solidFill>
            <a:srgbClr val="25BE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ctr"/>
            <a:r>
              <a:rPr sz="1420" b="1">
                <a:solidFill>
                  <a:srgbClr val="FFFFFF"/>
                </a:solidFill>
                <a:latin typeface="+mj-lt"/>
              </a:rPr>
              <a:t>OVEREXPOSURE</a:t>
            </a:r>
          </a:p>
        </p:txBody>
      </p:sp>
      <p:cxnSp>
        <p:nvCxnSpPr>
          <p:cNvPr id="332" name="Connector 75">
            <a:extLst>
              <a:ext uri="{FF2B5EF4-FFF2-40B4-BE49-F238E27FC236}">
                <a16:creationId xmlns:a16="http://schemas.microsoft.com/office/drawing/2014/main" id="{90D94873-0A8D-4F7B-93DE-166E4CD32BBD}"/>
              </a:ext>
            </a:extLst>
          </p:cNvPr>
          <p:cNvCxnSpPr/>
          <p:nvPr/>
        </p:nvCxnSpPr>
        <p:spPr>
          <a:xfrm flipV="1">
            <a:off x="6630003" y="1427151"/>
            <a:ext cx="0" cy="98512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76">
            <a:extLst>
              <a:ext uri="{FF2B5EF4-FFF2-40B4-BE49-F238E27FC236}">
                <a16:creationId xmlns:a16="http://schemas.microsoft.com/office/drawing/2014/main" id="{F0DD9F08-5D21-DEBF-9CD6-E052C83D075E}"/>
              </a:ext>
            </a:extLst>
          </p:cNvPr>
          <p:cNvCxnSpPr/>
          <p:nvPr/>
        </p:nvCxnSpPr>
        <p:spPr>
          <a:xfrm>
            <a:off x="6630003" y="1525663"/>
            <a:ext cx="0" cy="223291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77">
            <a:extLst>
              <a:ext uri="{FF2B5EF4-FFF2-40B4-BE49-F238E27FC236}">
                <a16:creationId xmlns:a16="http://schemas.microsoft.com/office/drawing/2014/main" id="{FAA318D2-2B12-F5D7-7A32-033C38415A03}"/>
              </a:ext>
            </a:extLst>
          </p:cNvPr>
          <p:cNvCxnSpPr/>
          <p:nvPr/>
        </p:nvCxnSpPr>
        <p:spPr>
          <a:xfrm flipH="1">
            <a:off x="6510148" y="1525663"/>
            <a:ext cx="119855" cy="65674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78">
            <a:extLst>
              <a:ext uri="{FF2B5EF4-FFF2-40B4-BE49-F238E27FC236}">
                <a16:creationId xmlns:a16="http://schemas.microsoft.com/office/drawing/2014/main" id="{1AADB636-AA7D-A32A-98E1-19194F66D58A}"/>
              </a:ext>
            </a:extLst>
          </p:cNvPr>
          <p:cNvCxnSpPr/>
          <p:nvPr/>
        </p:nvCxnSpPr>
        <p:spPr>
          <a:xfrm>
            <a:off x="6630003" y="1525663"/>
            <a:ext cx="239708" cy="65674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79">
            <a:extLst>
              <a:ext uri="{FF2B5EF4-FFF2-40B4-BE49-F238E27FC236}">
                <a16:creationId xmlns:a16="http://schemas.microsoft.com/office/drawing/2014/main" id="{98975A45-4A71-F9C4-571D-21CA86E99652}"/>
              </a:ext>
            </a:extLst>
          </p:cNvPr>
          <p:cNvCxnSpPr/>
          <p:nvPr/>
        </p:nvCxnSpPr>
        <p:spPr>
          <a:xfrm flipH="1" flipV="1">
            <a:off x="6550099" y="1473124"/>
            <a:ext cx="79904" cy="52539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80">
            <a:extLst>
              <a:ext uri="{FF2B5EF4-FFF2-40B4-BE49-F238E27FC236}">
                <a16:creationId xmlns:a16="http://schemas.microsoft.com/office/drawing/2014/main" id="{CB65BE07-DA21-B568-2642-ABEF74908BE5}"/>
              </a:ext>
            </a:extLst>
          </p:cNvPr>
          <p:cNvCxnSpPr/>
          <p:nvPr/>
        </p:nvCxnSpPr>
        <p:spPr>
          <a:xfrm flipV="1">
            <a:off x="6630003" y="1473124"/>
            <a:ext cx="193099" cy="52539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81">
            <a:extLst>
              <a:ext uri="{FF2B5EF4-FFF2-40B4-BE49-F238E27FC236}">
                <a16:creationId xmlns:a16="http://schemas.microsoft.com/office/drawing/2014/main" id="{EB2E171F-7DC8-7CB2-1A0F-C5B79D0BD0B9}"/>
              </a:ext>
            </a:extLst>
          </p:cNvPr>
          <p:cNvCxnSpPr/>
          <p:nvPr/>
        </p:nvCxnSpPr>
        <p:spPr>
          <a:xfrm flipH="1">
            <a:off x="6550099" y="1525663"/>
            <a:ext cx="79904" cy="190454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82">
            <a:extLst>
              <a:ext uri="{FF2B5EF4-FFF2-40B4-BE49-F238E27FC236}">
                <a16:creationId xmlns:a16="http://schemas.microsoft.com/office/drawing/2014/main" id="{EB5B72B2-B9E4-BD0F-7F33-D9351B9F33FA}"/>
              </a:ext>
            </a:extLst>
          </p:cNvPr>
          <p:cNvCxnSpPr/>
          <p:nvPr/>
        </p:nvCxnSpPr>
        <p:spPr>
          <a:xfrm>
            <a:off x="6630003" y="1525663"/>
            <a:ext cx="193099" cy="190454"/>
          </a:xfrm>
          <a:prstGeom prst="line">
            <a:avLst/>
          </a:prstGeom>
          <a:ln w="12700">
            <a:solidFill>
              <a:srgbClr val="1D20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Oval 339">
            <a:extLst>
              <a:ext uri="{FF2B5EF4-FFF2-40B4-BE49-F238E27FC236}">
                <a16:creationId xmlns:a16="http://schemas.microsoft.com/office/drawing/2014/main" id="{C9E14429-08B0-B655-3856-1719894DE2F5}"/>
              </a:ext>
            </a:extLst>
          </p:cNvPr>
          <p:cNvSpPr/>
          <p:nvPr/>
        </p:nvSpPr>
        <p:spPr>
          <a:xfrm>
            <a:off x="6558681" y="1463147"/>
            <a:ext cx="173123" cy="170752"/>
          </a:xfrm>
          <a:prstGeom prst="ellipse">
            <a:avLst/>
          </a:prstGeom>
          <a:solidFill>
            <a:srgbClr val="25BEB4"/>
          </a:solidFill>
          <a:ln w="10160">
            <a:solidFill>
              <a:srgbClr val="1D20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1" name="Rounded Rectangle 84">
            <a:extLst>
              <a:ext uri="{FF2B5EF4-FFF2-40B4-BE49-F238E27FC236}">
                <a16:creationId xmlns:a16="http://schemas.microsoft.com/office/drawing/2014/main" id="{F339CBF4-3E19-5016-EDA3-0AE14020BDE4}"/>
              </a:ext>
            </a:extLst>
          </p:cNvPr>
          <p:cNvSpPr/>
          <p:nvPr/>
        </p:nvSpPr>
        <p:spPr>
          <a:xfrm>
            <a:off x="5560930" y="1908760"/>
            <a:ext cx="1590661" cy="452420"/>
          </a:xfrm>
          <a:prstGeom prst="roundRect">
            <a:avLst/>
          </a:prstGeom>
          <a:solidFill>
            <a:srgbClr val="D9EEF0"/>
          </a:solidFill>
          <a:ln w="9525">
            <a:solidFill>
              <a:srgbClr val="B4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2" name="Rounded Rectangle 85">
            <a:extLst>
              <a:ext uri="{FF2B5EF4-FFF2-40B4-BE49-F238E27FC236}">
                <a16:creationId xmlns:a16="http://schemas.microsoft.com/office/drawing/2014/main" id="{C17ED928-B79F-FDCC-03AA-9F8EB3210386}"/>
              </a:ext>
            </a:extLst>
          </p:cNvPr>
          <p:cNvSpPr/>
          <p:nvPr/>
        </p:nvSpPr>
        <p:spPr>
          <a:xfrm>
            <a:off x="5686703" y="1989028"/>
            <a:ext cx="318132" cy="248101"/>
          </a:xfrm>
          <a:prstGeom prst="roundRect">
            <a:avLst/>
          </a:prstGeom>
          <a:noFill/>
          <a:ln w="10160">
            <a:solidFill>
              <a:srgbClr val="4A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3" name="TextBox 342">
            <a:extLst>
              <a:ext uri="{FF2B5EF4-FFF2-40B4-BE49-F238E27FC236}">
                <a16:creationId xmlns:a16="http://schemas.microsoft.com/office/drawing/2014/main" id="{6D4BBF8C-D51F-AE03-3E86-5901D8498DAA}"/>
              </a:ext>
            </a:extLst>
          </p:cNvPr>
          <p:cNvSpPr txBox="1"/>
          <p:nvPr/>
        </p:nvSpPr>
        <p:spPr>
          <a:xfrm>
            <a:off x="5692139" y="2026483"/>
            <a:ext cx="28956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100" b="1">
                <a:solidFill>
                  <a:srgbClr val="1D2027"/>
                </a:solidFill>
                <a:latin typeface="+mj-lt"/>
              </a:rPr>
              <a:t>SNR</a:t>
            </a:r>
            <a:endParaRPr sz="1100" b="1" i="0">
              <a:solidFill>
                <a:srgbClr val="1D2027"/>
              </a:solidFill>
              <a:latin typeface="+mj-lt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42B0413B-8800-DFC9-5C87-0E504F887EEF}"/>
              </a:ext>
            </a:extLst>
          </p:cNvPr>
          <p:cNvSpPr txBox="1"/>
          <p:nvPr/>
        </p:nvSpPr>
        <p:spPr>
          <a:xfrm>
            <a:off x="6095999" y="2025296"/>
            <a:ext cx="977832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L" sz="1300" b="1" i="0">
                <a:solidFill>
                  <a:srgbClr val="000000"/>
                </a:solidFill>
                <a:latin typeface="+mj-lt"/>
              </a:rPr>
              <a:t>5.164 → 12.498</a:t>
            </a:r>
          </a:p>
        </p:txBody>
      </p:sp>
      <p:sp>
        <p:nvSpPr>
          <p:cNvPr id="345" name="Rounded Rectangle 88">
            <a:extLst>
              <a:ext uri="{FF2B5EF4-FFF2-40B4-BE49-F238E27FC236}">
                <a16:creationId xmlns:a16="http://schemas.microsoft.com/office/drawing/2014/main" id="{0E013F88-6769-DA45-24BA-FF3AEFADDAD7}"/>
              </a:ext>
            </a:extLst>
          </p:cNvPr>
          <p:cNvSpPr/>
          <p:nvPr/>
        </p:nvSpPr>
        <p:spPr>
          <a:xfrm>
            <a:off x="5228001" y="2610740"/>
            <a:ext cx="239708" cy="157617"/>
          </a:xfrm>
          <a:prstGeom prst="round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6" name="Rectangle 345">
            <a:extLst>
              <a:ext uri="{FF2B5EF4-FFF2-40B4-BE49-F238E27FC236}">
                <a16:creationId xmlns:a16="http://schemas.microsoft.com/office/drawing/2014/main" id="{2C7C34EF-5F7F-B6BD-4047-175F7C26300C}"/>
              </a:ext>
            </a:extLst>
          </p:cNvPr>
          <p:cNvSpPr/>
          <p:nvPr/>
        </p:nvSpPr>
        <p:spPr>
          <a:xfrm>
            <a:off x="5274611" y="2571337"/>
            <a:ext cx="79903" cy="45972"/>
          </a:xfrm>
          <a:prstGeom prst="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7" name="Oval 346">
            <a:extLst>
              <a:ext uri="{FF2B5EF4-FFF2-40B4-BE49-F238E27FC236}">
                <a16:creationId xmlns:a16="http://schemas.microsoft.com/office/drawing/2014/main" id="{BDCFF87B-4B7B-1ACF-96D1-1C9C7CC59E5D}"/>
              </a:ext>
            </a:extLst>
          </p:cNvPr>
          <p:cNvSpPr/>
          <p:nvPr/>
        </p:nvSpPr>
        <p:spPr>
          <a:xfrm>
            <a:off x="5307904" y="2633727"/>
            <a:ext cx="86561" cy="85375"/>
          </a:xfrm>
          <a:prstGeom prst="ellipse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48" name="TextBox 347">
            <a:extLst>
              <a:ext uri="{FF2B5EF4-FFF2-40B4-BE49-F238E27FC236}">
                <a16:creationId xmlns:a16="http://schemas.microsoft.com/office/drawing/2014/main" id="{7284DAB5-3B63-2644-0EC8-1716AB3170BD}"/>
              </a:ext>
            </a:extLst>
          </p:cNvPr>
          <p:cNvSpPr txBox="1"/>
          <p:nvPr/>
        </p:nvSpPr>
        <p:spPr>
          <a:xfrm>
            <a:off x="5230239" y="2558622"/>
            <a:ext cx="2192595" cy="583768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 lvl="0" algn="ctr">
              <a:lnSpc>
                <a:spcPts val="1680"/>
              </a:lnSpc>
              <a:defRPr/>
            </a:pPr>
            <a:r>
              <a:rPr sz="1400" b="1">
                <a:solidFill>
                  <a:srgbClr val="000000"/>
                </a:solidFill>
                <a:latin typeface="+mj-lt"/>
              </a:rPr>
              <a:t>Canny: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0.527 → 0.576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</p:txBody>
      </p:sp>
      <p:cxnSp>
        <p:nvCxnSpPr>
          <p:cNvPr id="349" name="Connector 92">
            <a:extLst>
              <a:ext uri="{FF2B5EF4-FFF2-40B4-BE49-F238E27FC236}">
                <a16:creationId xmlns:a16="http://schemas.microsoft.com/office/drawing/2014/main" id="{B254F2E1-3829-0017-AD87-8DC05B876E0F}"/>
              </a:ext>
            </a:extLst>
          </p:cNvPr>
          <p:cNvCxnSpPr/>
          <p:nvPr/>
        </p:nvCxnSpPr>
        <p:spPr>
          <a:xfrm>
            <a:off x="5213204" y="2838137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Cloud 349">
            <a:extLst>
              <a:ext uri="{FF2B5EF4-FFF2-40B4-BE49-F238E27FC236}">
                <a16:creationId xmlns:a16="http://schemas.microsoft.com/office/drawing/2014/main" id="{D3F548B0-8328-F85D-9971-3D10685E6A7C}"/>
              </a:ext>
            </a:extLst>
          </p:cNvPr>
          <p:cNvSpPr/>
          <p:nvPr/>
        </p:nvSpPr>
        <p:spPr>
          <a:xfrm>
            <a:off x="5213204" y="2898645"/>
            <a:ext cx="281140" cy="211616"/>
          </a:xfrm>
          <a:prstGeom prst="cloud">
            <a:avLst/>
          </a:prstGeom>
          <a:solidFill>
            <a:srgbClr val="EBF8FA"/>
          </a:solidFill>
          <a:ln w="1524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1" name="Cloud 350">
            <a:extLst>
              <a:ext uri="{FF2B5EF4-FFF2-40B4-BE49-F238E27FC236}">
                <a16:creationId xmlns:a16="http://schemas.microsoft.com/office/drawing/2014/main" id="{149D003F-E226-24C9-8D6A-C435F870551F}"/>
              </a:ext>
            </a:extLst>
          </p:cNvPr>
          <p:cNvSpPr/>
          <p:nvPr/>
        </p:nvSpPr>
        <p:spPr>
          <a:xfrm>
            <a:off x="5331579" y="2964319"/>
            <a:ext cx="244148" cy="182427"/>
          </a:xfrm>
          <a:prstGeom prst="cloud">
            <a:avLst/>
          </a:prstGeom>
          <a:solidFill>
            <a:srgbClr val="25BEB4"/>
          </a:solidFill>
          <a:ln w="12700">
            <a:solidFill>
              <a:srgbClr val="25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52" name="TextBox 351">
            <a:extLst>
              <a:ext uri="{FF2B5EF4-FFF2-40B4-BE49-F238E27FC236}">
                <a16:creationId xmlns:a16="http://schemas.microsoft.com/office/drawing/2014/main" id="{95D7D6ED-14D2-0D32-EC08-8A35EC91163C}"/>
              </a:ext>
            </a:extLst>
          </p:cNvPr>
          <p:cNvSpPr txBox="1"/>
          <p:nvPr/>
        </p:nvSpPr>
        <p:spPr>
          <a:xfrm>
            <a:off x="5377824" y="2938314"/>
            <a:ext cx="2105507" cy="583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ts val="1680"/>
              </a:lnSpc>
              <a:defRPr/>
            </a:pPr>
            <a:r>
              <a:rPr sz="1400" b="1" err="1">
                <a:solidFill>
                  <a:srgbClr val="000000"/>
                </a:solidFill>
                <a:latin typeface="+mj-lt"/>
              </a:rPr>
              <a:t>GrabCut</a:t>
            </a:r>
            <a:r>
              <a:rPr lang="en-US" sz="1400" b="1">
                <a:solidFill>
                  <a:srgbClr val="000000"/>
                </a:solidFill>
                <a:latin typeface="+mj-lt"/>
              </a:rPr>
              <a:t>: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0.561 → 0.613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  <a:p>
            <a:pPr lvl="0" algn="ctr">
              <a:lnSpc>
                <a:spcPts val="1680"/>
              </a:lnSpc>
              <a:defRPr/>
            </a:pPr>
            <a:endParaRPr lang="he-IL" sz="1400">
              <a:solidFill>
                <a:srgbClr val="000000"/>
              </a:solidFill>
              <a:latin typeface="Univers Condensed"/>
            </a:endParaRPr>
          </a:p>
        </p:txBody>
      </p:sp>
      <p:cxnSp>
        <p:nvCxnSpPr>
          <p:cNvPr id="353" name="Connector 96">
            <a:extLst>
              <a:ext uri="{FF2B5EF4-FFF2-40B4-BE49-F238E27FC236}">
                <a16:creationId xmlns:a16="http://schemas.microsoft.com/office/drawing/2014/main" id="{12C86D4A-B133-B111-B103-43906DA7FAD2}"/>
              </a:ext>
            </a:extLst>
          </p:cNvPr>
          <p:cNvCxnSpPr/>
          <p:nvPr/>
        </p:nvCxnSpPr>
        <p:spPr>
          <a:xfrm>
            <a:off x="5213204" y="3238896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972D60FD-B202-E7C5-F1D9-6044B87876F6}"/>
              </a:ext>
            </a:extLst>
          </p:cNvPr>
          <p:cNvGrpSpPr/>
          <p:nvPr/>
        </p:nvGrpSpPr>
        <p:grpSpPr>
          <a:xfrm>
            <a:off x="5250196" y="3299403"/>
            <a:ext cx="314433" cy="259046"/>
            <a:chOff x="5250196" y="4061403"/>
            <a:chExt cx="314433" cy="259046"/>
          </a:xfrm>
        </p:grpSpPr>
        <p:cxnSp>
          <p:nvCxnSpPr>
            <p:cNvPr id="354" name="Connector 97">
              <a:extLst>
                <a:ext uri="{FF2B5EF4-FFF2-40B4-BE49-F238E27FC236}">
                  <a16:creationId xmlns:a16="http://schemas.microsoft.com/office/drawing/2014/main" id="{1F744877-4049-FBF7-DE3D-D3E301261670}"/>
                </a:ext>
              </a:extLst>
            </p:cNvPr>
            <p:cNvCxnSpPr/>
            <p:nvPr/>
          </p:nvCxnSpPr>
          <p:spPr>
            <a:xfrm flipV="1">
              <a:off x="5250196" y="4061403"/>
              <a:ext cx="199757" cy="43783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Connector 98">
              <a:extLst>
                <a:ext uri="{FF2B5EF4-FFF2-40B4-BE49-F238E27FC236}">
                  <a16:creationId xmlns:a16="http://schemas.microsoft.com/office/drawing/2014/main" id="{6A328950-8D5F-2E4A-1481-53D3C8CF221F}"/>
                </a:ext>
              </a:extLst>
            </p:cNvPr>
            <p:cNvCxnSpPr/>
            <p:nvPr/>
          </p:nvCxnSpPr>
          <p:spPr>
            <a:xfrm flipH="1">
              <a:off x="5420360" y="4061403"/>
              <a:ext cx="29594" cy="204319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Connector 99">
              <a:extLst>
                <a:ext uri="{FF2B5EF4-FFF2-40B4-BE49-F238E27FC236}">
                  <a16:creationId xmlns:a16="http://schemas.microsoft.com/office/drawing/2014/main" id="{C0EAF0A3-FB6B-ED44-0DA8-6D03A9D39D91}"/>
                </a:ext>
              </a:extLst>
            </p:cNvPr>
            <p:cNvCxnSpPr/>
            <p:nvPr/>
          </p:nvCxnSpPr>
          <p:spPr>
            <a:xfrm flipH="1" flipV="1">
              <a:off x="5287188" y="4229236"/>
              <a:ext cx="133172" cy="36485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Connector 100">
              <a:extLst>
                <a:ext uri="{FF2B5EF4-FFF2-40B4-BE49-F238E27FC236}">
                  <a16:creationId xmlns:a16="http://schemas.microsoft.com/office/drawing/2014/main" id="{371E5894-FCD3-98DF-ACBD-85104E5C99CF}"/>
                </a:ext>
              </a:extLst>
            </p:cNvPr>
            <p:cNvCxnSpPr/>
            <p:nvPr/>
          </p:nvCxnSpPr>
          <p:spPr>
            <a:xfrm>
              <a:off x="5250196" y="4105185"/>
              <a:ext cx="36992" cy="124051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Connector 101">
              <a:extLst>
                <a:ext uri="{FF2B5EF4-FFF2-40B4-BE49-F238E27FC236}">
                  <a16:creationId xmlns:a16="http://schemas.microsoft.com/office/drawing/2014/main" id="{EFC31227-F5E2-EBAC-4B45-DE7C29850D16}"/>
                </a:ext>
              </a:extLst>
            </p:cNvPr>
            <p:cNvCxnSpPr/>
            <p:nvPr/>
          </p:nvCxnSpPr>
          <p:spPr>
            <a:xfrm>
              <a:off x="5449954" y="4061403"/>
              <a:ext cx="59187" cy="116754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Connector 102">
              <a:extLst>
                <a:ext uri="{FF2B5EF4-FFF2-40B4-BE49-F238E27FC236}">
                  <a16:creationId xmlns:a16="http://schemas.microsoft.com/office/drawing/2014/main" id="{2B62086A-944A-2C4B-458E-1E945C331D03}"/>
                </a:ext>
              </a:extLst>
            </p:cNvPr>
            <p:cNvCxnSpPr/>
            <p:nvPr/>
          </p:nvCxnSpPr>
          <p:spPr>
            <a:xfrm flipH="1">
              <a:off x="5420360" y="4178156"/>
              <a:ext cx="88781" cy="87565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Connector 103">
              <a:extLst>
                <a:ext uri="{FF2B5EF4-FFF2-40B4-BE49-F238E27FC236}">
                  <a16:creationId xmlns:a16="http://schemas.microsoft.com/office/drawing/2014/main" id="{D7BE0AF8-3268-A310-0017-8CD027327503}"/>
                </a:ext>
              </a:extLst>
            </p:cNvPr>
            <p:cNvCxnSpPr/>
            <p:nvPr/>
          </p:nvCxnSpPr>
          <p:spPr>
            <a:xfrm>
              <a:off x="5250196" y="4105185"/>
              <a:ext cx="258945" cy="72971"/>
            </a:xfrm>
            <a:prstGeom prst="line">
              <a:avLst/>
            </a:prstGeom>
            <a:ln w="12700">
              <a:solidFill>
                <a:srgbClr val="25BEB4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Oval 360">
              <a:extLst>
                <a:ext uri="{FF2B5EF4-FFF2-40B4-BE49-F238E27FC236}">
                  <a16:creationId xmlns:a16="http://schemas.microsoft.com/office/drawing/2014/main" id="{7FE3D412-F1D3-2B47-15C1-A5FB48BFE4EE}"/>
                </a:ext>
              </a:extLst>
            </p:cNvPr>
            <p:cNvSpPr/>
            <p:nvPr/>
          </p:nvSpPr>
          <p:spPr>
            <a:xfrm>
              <a:off x="5250196" y="4105185"/>
              <a:ext cx="55488" cy="54728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5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62" name="Oval 361">
              <a:extLst>
                <a:ext uri="{FF2B5EF4-FFF2-40B4-BE49-F238E27FC236}">
                  <a16:creationId xmlns:a16="http://schemas.microsoft.com/office/drawing/2014/main" id="{3C5D596F-B1F8-9700-0E82-95CA8C7CD7C0}"/>
                </a:ext>
              </a:extLst>
            </p:cNvPr>
            <p:cNvSpPr/>
            <p:nvPr/>
          </p:nvSpPr>
          <p:spPr>
            <a:xfrm>
              <a:off x="5449954" y="4061403"/>
              <a:ext cx="55488" cy="54728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5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63" name="Oval 362">
              <a:extLst>
                <a:ext uri="{FF2B5EF4-FFF2-40B4-BE49-F238E27FC236}">
                  <a16:creationId xmlns:a16="http://schemas.microsoft.com/office/drawing/2014/main" id="{FFDD8BE9-F71C-4C86-D89B-8430DF39110F}"/>
                </a:ext>
              </a:extLst>
            </p:cNvPr>
            <p:cNvSpPr/>
            <p:nvPr/>
          </p:nvSpPr>
          <p:spPr>
            <a:xfrm>
              <a:off x="5420360" y="4265721"/>
              <a:ext cx="55488" cy="54728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5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64" name="Oval 363">
              <a:extLst>
                <a:ext uri="{FF2B5EF4-FFF2-40B4-BE49-F238E27FC236}">
                  <a16:creationId xmlns:a16="http://schemas.microsoft.com/office/drawing/2014/main" id="{E55A99F9-7534-0D19-592F-EB0FCF3B7E02}"/>
                </a:ext>
              </a:extLst>
            </p:cNvPr>
            <p:cNvSpPr/>
            <p:nvPr/>
          </p:nvSpPr>
          <p:spPr>
            <a:xfrm>
              <a:off x="5287188" y="4229236"/>
              <a:ext cx="55488" cy="54728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5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65" name="Oval 364">
              <a:extLst>
                <a:ext uri="{FF2B5EF4-FFF2-40B4-BE49-F238E27FC236}">
                  <a16:creationId xmlns:a16="http://schemas.microsoft.com/office/drawing/2014/main" id="{57823CF2-29AC-3244-0586-6102FB55008D}"/>
                </a:ext>
              </a:extLst>
            </p:cNvPr>
            <p:cNvSpPr/>
            <p:nvPr/>
          </p:nvSpPr>
          <p:spPr>
            <a:xfrm>
              <a:off x="5509141" y="4178156"/>
              <a:ext cx="55488" cy="54728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25BEB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sp>
        <p:nvSpPr>
          <p:cNvPr id="366" name="TextBox 365">
            <a:extLst>
              <a:ext uri="{FF2B5EF4-FFF2-40B4-BE49-F238E27FC236}">
                <a16:creationId xmlns:a16="http://schemas.microsoft.com/office/drawing/2014/main" id="{0FF3FFE8-0687-C0D0-E863-FAEA7AD13D7E}"/>
              </a:ext>
            </a:extLst>
          </p:cNvPr>
          <p:cNvSpPr txBox="1"/>
          <p:nvPr/>
        </p:nvSpPr>
        <p:spPr>
          <a:xfrm>
            <a:off x="5642313" y="3307992"/>
            <a:ext cx="2056344" cy="5837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+mj-lt"/>
              </a:rPr>
              <a:t>ResNet50 F1: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0.819 → 0.833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  <a:p>
            <a:pPr algn="l"/>
            <a:endParaRPr sz="1400" b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367" name="TextBox 366">
            <a:extLst>
              <a:ext uri="{FF2B5EF4-FFF2-40B4-BE49-F238E27FC236}">
                <a16:creationId xmlns:a16="http://schemas.microsoft.com/office/drawing/2014/main" id="{FE4AACCD-F8F7-7A58-8FB2-A1D73A89886D}"/>
              </a:ext>
            </a:extLst>
          </p:cNvPr>
          <p:cNvSpPr txBox="1"/>
          <p:nvPr/>
        </p:nvSpPr>
        <p:spPr>
          <a:xfrm>
            <a:off x="5105400" y="3758577"/>
            <a:ext cx="2514600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+mj-lt"/>
              </a:rPr>
              <a:t>Moderate task recovery.</a:t>
            </a:r>
          </a:p>
          <a:p>
            <a:pPr algn="ctr"/>
            <a:r>
              <a:rPr lang="en-US" sz="1400" b="0" i="0">
                <a:solidFill>
                  <a:srgbClr val="000000"/>
                </a:solidFill>
                <a:latin typeface="+mj-lt"/>
              </a:rPr>
              <a:t>Brightness correction and CLAHE mainly improve contrast and image quality.</a:t>
            </a:r>
          </a:p>
        </p:txBody>
      </p:sp>
      <p:sp>
        <p:nvSpPr>
          <p:cNvPr id="371" name="Rounded Rectangle 111">
            <a:extLst>
              <a:ext uri="{FF2B5EF4-FFF2-40B4-BE49-F238E27FC236}">
                <a16:creationId xmlns:a16="http://schemas.microsoft.com/office/drawing/2014/main" id="{4A941986-B5E2-AF9C-9FB3-EC1078EE71B2}"/>
              </a:ext>
            </a:extLst>
          </p:cNvPr>
          <p:cNvSpPr/>
          <p:nvPr/>
        </p:nvSpPr>
        <p:spPr>
          <a:xfrm>
            <a:off x="8580169" y="1761246"/>
            <a:ext cx="2701043" cy="3210951"/>
          </a:xfrm>
          <a:prstGeom prst="roundRect">
            <a:avLst/>
          </a:prstGeom>
          <a:solidFill>
            <a:srgbClr val="CDD2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72" name="Rounded Rectangle 112">
            <a:extLst>
              <a:ext uri="{FF2B5EF4-FFF2-40B4-BE49-F238E27FC236}">
                <a16:creationId xmlns:a16="http://schemas.microsoft.com/office/drawing/2014/main" id="{9A07039B-8889-4F6C-CEFA-632030166D1C}"/>
              </a:ext>
            </a:extLst>
          </p:cNvPr>
          <p:cNvSpPr/>
          <p:nvPr/>
        </p:nvSpPr>
        <p:spPr>
          <a:xfrm>
            <a:off x="8535768" y="1710163"/>
            <a:ext cx="2701043" cy="3210951"/>
          </a:xfrm>
          <a:prstGeom prst="roundRect">
            <a:avLst/>
          </a:prstGeom>
          <a:solidFill>
            <a:srgbClr val="E7F1E5"/>
          </a:solidFill>
          <a:ln w="9525">
            <a:solidFill>
              <a:srgbClr val="D4D9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73" name="Rounded Rectangle 113">
            <a:extLst>
              <a:ext uri="{FF2B5EF4-FFF2-40B4-BE49-F238E27FC236}">
                <a16:creationId xmlns:a16="http://schemas.microsoft.com/office/drawing/2014/main" id="{23D26781-E20F-5C34-AD88-FC6D31ECB839}"/>
              </a:ext>
            </a:extLst>
          </p:cNvPr>
          <p:cNvSpPr/>
          <p:nvPr/>
        </p:nvSpPr>
        <p:spPr>
          <a:xfrm>
            <a:off x="8461767" y="1454746"/>
            <a:ext cx="1443023" cy="452452"/>
          </a:xfrm>
          <a:prstGeom prst="roundRect">
            <a:avLst/>
          </a:prstGeom>
          <a:solidFill>
            <a:srgbClr val="48CD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27432" rIns="27432" bIns="27432" rtlCol="0" anchor="ctr"/>
          <a:lstStyle/>
          <a:p>
            <a:pPr algn="ctr"/>
            <a:r>
              <a:rPr sz="1420" b="1">
                <a:solidFill>
                  <a:srgbClr val="FFFFFF"/>
                </a:solidFill>
                <a:latin typeface="+mj-lt"/>
              </a:rPr>
              <a:t>MOTION BLUR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4C1727E-983D-E38B-A901-38F36A1EDBE9}"/>
              </a:ext>
            </a:extLst>
          </p:cNvPr>
          <p:cNvGrpSpPr/>
          <p:nvPr/>
        </p:nvGrpSpPr>
        <p:grpSpPr>
          <a:xfrm>
            <a:off x="9963991" y="1469341"/>
            <a:ext cx="939815" cy="313798"/>
            <a:chOff x="9963991" y="1469341"/>
            <a:chExt cx="939815" cy="313798"/>
          </a:xfrm>
        </p:grpSpPr>
        <p:cxnSp>
          <p:nvCxnSpPr>
            <p:cNvPr id="369" name="Connector 19">
              <a:extLst>
                <a:ext uri="{FF2B5EF4-FFF2-40B4-BE49-F238E27FC236}">
                  <a16:creationId xmlns:a16="http://schemas.microsoft.com/office/drawing/2014/main" id="{8B3085D8-66DF-A03D-7A17-DBC3CF8100DE}"/>
                </a:ext>
              </a:extLst>
            </p:cNvPr>
            <p:cNvCxnSpPr/>
            <p:nvPr/>
          </p:nvCxnSpPr>
          <p:spPr>
            <a:xfrm>
              <a:off x="10704003" y="1469341"/>
              <a:ext cx="0" cy="197036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Connector 20">
              <a:extLst>
                <a:ext uri="{FF2B5EF4-FFF2-40B4-BE49-F238E27FC236}">
                  <a16:creationId xmlns:a16="http://schemas.microsoft.com/office/drawing/2014/main" id="{2F4B4B08-39D1-5679-E187-B2BA210223D2}"/>
                </a:ext>
              </a:extLst>
            </p:cNvPr>
            <p:cNvCxnSpPr/>
            <p:nvPr/>
          </p:nvCxnSpPr>
          <p:spPr>
            <a:xfrm>
              <a:off x="10704003" y="1666377"/>
              <a:ext cx="199803" cy="0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Connector 114">
              <a:extLst>
                <a:ext uri="{FF2B5EF4-FFF2-40B4-BE49-F238E27FC236}">
                  <a16:creationId xmlns:a16="http://schemas.microsoft.com/office/drawing/2014/main" id="{4CD167D3-A1A0-D21C-DD7C-02151A9E5FC1}"/>
                </a:ext>
              </a:extLst>
            </p:cNvPr>
            <p:cNvCxnSpPr/>
            <p:nvPr/>
          </p:nvCxnSpPr>
          <p:spPr>
            <a:xfrm>
              <a:off x="9963991" y="162988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Connector 115">
              <a:extLst>
                <a:ext uri="{FF2B5EF4-FFF2-40B4-BE49-F238E27FC236}">
                  <a16:creationId xmlns:a16="http://schemas.microsoft.com/office/drawing/2014/main" id="{034BAE61-D10F-AEFC-028E-E8766D52856C}"/>
                </a:ext>
              </a:extLst>
            </p:cNvPr>
            <p:cNvCxnSpPr/>
            <p:nvPr/>
          </p:nvCxnSpPr>
          <p:spPr>
            <a:xfrm>
              <a:off x="9963991" y="1702865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Connector 116">
              <a:extLst>
                <a:ext uri="{FF2B5EF4-FFF2-40B4-BE49-F238E27FC236}">
                  <a16:creationId xmlns:a16="http://schemas.microsoft.com/office/drawing/2014/main" id="{634E3967-19CA-D678-C1C8-B8C1369FB839}"/>
                </a:ext>
              </a:extLst>
            </p:cNvPr>
            <p:cNvCxnSpPr/>
            <p:nvPr/>
          </p:nvCxnSpPr>
          <p:spPr>
            <a:xfrm>
              <a:off x="9963991" y="178313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7" name="Rounded Rectangle 117">
              <a:extLst>
                <a:ext uri="{FF2B5EF4-FFF2-40B4-BE49-F238E27FC236}">
                  <a16:creationId xmlns:a16="http://schemas.microsoft.com/office/drawing/2014/main" id="{FA6B5E0B-6A87-A78F-2CD1-4A5DBF471CD3}"/>
                </a:ext>
              </a:extLst>
            </p:cNvPr>
            <p:cNvSpPr/>
            <p:nvPr/>
          </p:nvSpPr>
          <p:spPr>
            <a:xfrm>
              <a:off x="10444999" y="1567859"/>
              <a:ext cx="450667" cy="137924"/>
            </a:xfrm>
            <a:prstGeom prst="roundRect">
              <a:avLst/>
            </a:prstGeom>
            <a:solidFill>
              <a:srgbClr val="47CD6F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8" name="Trapezoid 377">
              <a:extLst>
                <a:ext uri="{FF2B5EF4-FFF2-40B4-BE49-F238E27FC236}">
                  <a16:creationId xmlns:a16="http://schemas.microsoft.com/office/drawing/2014/main" id="{3EC50C6A-B268-DD4F-A183-CCDD561250CF}"/>
                </a:ext>
              </a:extLst>
            </p:cNvPr>
            <p:cNvSpPr/>
            <p:nvPr/>
          </p:nvSpPr>
          <p:spPr>
            <a:xfrm>
              <a:off x="10546010" y="1491234"/>
              <a:ext cx="233104" cy="130262"/>
            </a:xfrm>
            <a:prstGeom prst="trapezoid">
              <a:avLst/>
            </a:prstGeom>
            <a:solidFill>
              <a:srgbClr val="BEEBC3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79" name="Oval 378">
              <a:extLst>
                <a:ext uri="{FF2B5EF4-FFF2-40B4-BE49-F238E27FC236}">
                  <a16:creationId xmlns:a16="http://schemas.microsoft.com/office/drawing/2014/main" id="{18892471-0996-ED5B-EFE4-BE2A269DDDFA}"/>
                </a:ext>
              </a:extLst>
            </p:cNvPr>
            <p:cNvSpPr/>
            <p:nvPr/>
          </p:nvSpPr>
          <p:spPr>
            <a:xfrm>
              <a:off x="10530470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380" name="Oval 379">
              <a:extLst>
                <a:ext uri="{FF2B5EF4-FFF2-40B4-BE49-F238E27FC236}">
                  <a16:creationId xmlns:a16="http://schemas.microsoft.com/office/drawing/2014/main" id="{9C70BDB2-6135-1698-93DF-C059AAD627AD}"/>
                </a:ext>
              </a:extLst>
            </p:cNvPr>
            <p:cNvSpPr/>
            <p:nvPr/>
          </p:nvSpPr>
          <p:spPr>
            <a:xfrm>
              <a:off x="10779114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sp>
        <p:nvSpPr>
          <p:cNvPr id="381" name="Rounded Rectangle 121">
            <a:extLst>
              <a:ext uri="{FF2B5EF4-FFF2-40B4-BE49-F238E27FC236}">
                <a16:creationId xmlns:a16="http://schemas.microsoft.com/office/drawing/2014/main" id="{EFA1BEA1-1FB2-4B8D-E257-2AF5A35E0324}"/>
              </a:ext>
            </a:extLst>
          </p:cNvPr>
          <p:cNvSpPr/>
          <p:nvPr/>
        </p:nvSpPr>
        <p:spPr>
          <a:xfrm>
            <a:off x="9090777" y="1943686"/>
            <a:ext cx="1591025" cy="452452"/>
          </a:xfrm>
          <a:prstGeom prst="roundRect">
            <a:avLst/>
          </a:prstGeom>
          <a:solidFill>
            <a:srgbClr val="D9EEF0"/>
          </a:solidFill>
          <a:ln w="9525">
            <a:solidFill>
              <a:srgbClr val="B4D2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2" name="Rounded Rectangle 122">
            <a:extLst>
              <a:ext uri="{FF2B5EF4-FFF2-40B4-BE49-F238E27FC236}">
                <a16:creationId xmlns:a16="http://schemas.microsoft.com/office/drawing/2014/main" id="{DA6AD4B1-825B-D237-9EA6-A413930CE147}"/>
              </a:ext>
            </a:extLst>
          </p:cNvPr>
          <p:cNvSpPr/>
          <p:nvPr/>
        </p:nvSpPr>
        <p:spPr>
          <a:xfrm>
            <a:off x="9216579" y="2023960"/>
            <a:ext cx="318205" cy="248119"/>
          </a:xfrm>
          <a:prstGeom prst="roundRect">
            <a:avLst/>
          </a:prstGeom>
          <a:noFill/>
          <a:ln w="10160">
            <a:solidFill>
              <a:srgbClr val="4A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3" name="TextBox 382">
            <a:extLst>
              <a:ext uri="{FF2B5EF4-FFF2-40B4-BE49-F238E27FC236}">
                <a16:creationId xmlns:a16="http://schemas.microsoft.com/office/drawing/2014/main" id="{925DA29C-A71F-4284-678E-5C1A35591E5C}"/>
              </a:ext>
            </a:extLst>
          </p:cNvPr>
          <p:cNvSpPr txBox="1"/>
          <p:nvPr/>
        </p:nvSpPr>
        <p:spPr>
          <a:xfrm>
            <a:off x="9163489" y="2078735"/>
            <a:ext cx="432000" cy="1692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D2027"/>
                </a:solidFill>
                <a:latin typeface="+mj-lt"/>
              </a:rPr>
              <a:t>SNR</a:t>
            </a:r>
          </a:p>
        </p:txBody>
      </p:sp>
      <p:sp>
        <p:nvSpPr>
          <p:cNvPr id="384" name="TextBox 383">
            <a:extLst>
              <a:ext uri="{FF2B5EF4-FFF2-40B4-BE49-F238E27FC236}">
                <a16:creationId xmlns:a16="http://schemas.microsoft.com/office/drawing/2014/main" id="{9E5BD5CE-D00B-1C3D-BC73-BE6207B1C2CC}"/>
              </a:ext>
            </a:extLst>
          </p:cNvPr>
          <p:cNvSpPr txBox="1"/>
          <p:nvPr/>
        </p:nvSpPr>
        <p:spPr>
          <a:xfrm>
            <a:off x="9595348" y="2045005"/>
            <a:ext cx="1051570" cy="20005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IL" sz="1300" b="1" i="0">
                <a:solidFill>
                  <a:srgbClr val="000000"/>
                </a:solidFill>
                <a:latin typeface="+mj-lt"/>
              </a:rPr>
              <a:t>17.219 → 18.248</a:t>
            </a:r>
          </a:p>
        </p:txBody>
      </p:sp>
      <p:sp>
        <p:nvSpPr>
          <p:cNvPr id="385" name="Rounded Rectangle 125">
            <a:extLst>
              <a:ext uri="{FF2B5EF4-FFF2-40B4-BE49-F238E27FC236}">
                <a16:creationId xmlns:a16="http://schemas.microsoft.com/office/drawing/2014/main" id="{4D1C0895-6540-7CE8-AD2F-3DA11EC01612}"/>
              </a:ext>
            </a:extLst>
          </p:cNvPr>
          <p:cNvSpPr/>
          <p:nvPr/>
        </p:nvSpPr>
        <p:spPr>
          <a:xfrm>
            <a:off x="8757772" y="2645716"/>
            <a:ext cx="239763" cy="157628"/>
          </a:xfrm>
          <a:prstGeom prst="round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6" name="Rectangle 385">
            <a:extLst>
              <a:ext uri="{FF2B5EF4-FFF2-40B4-BE49-F238E27FC236}">
                <a16:creationId xmlns:a16="http://schemas.microsoft.com/office/drawing/2014/main" id="{4382FD4C-3918-4367-CA31-1A31DFBFFFB0}"/>
              </a:ext>
            </a:extLst>
          </p:cNvPr>
          <p:cNvSpPr/>
          <p:nvPr/>
        </p:nvSpPr>
        <p:spPr>
          <a:xfrm>
            <a:off x="8804392" y="2606310"/>
            <a:ext cx="79921" cy="45975"/>
          </a:xfrm>
          <a:prstGeom prst="rect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7" name="Oval 386">
            <a:extLst>
              <a:ext uri="{FF2B5EF4-FFF2-40B4-BE49-F238E27FC236}">
                <a16:creationId xmlns:a16="http://schemas.microsoft.com/office/drawing/2014/main" id="{176A1886-1224-B052-EB28-CEB2D3057E41}"/>
              </a:ext>
            </a:extLst>
          </p:cNvPr>
          <p:cNvSpPr/>
          <p:nvPr/>
        </p:nvSpPr>
        <p:spPr>
          <a:xfrm>
            <a:off x="8837693" y="2668704"/>
            <a:ext cx="86581" cy="85381"/>
          </a:xfrm>
          <a:prstGeom prst="ellipse">
            <a:avLst/>
          </a:prstGeom>
          <a:noFill/>
          <a:ln w="12700">
            <a:solidFill>
              <a:srgbClr val="34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88" name="TextBox 387">
            <a:extLst>
              <a:ext uri="{FF2B5EF4-FFF2-40B4-BE49-F238E27FC236}">
                <a16:creationId xmlns:a16="http://schemas.microsoft.com/office/drawing/2014/main" id="{AAD8A7C8-7BE0-F96D-C4E3-CFB7AA4A4D91}"/>
              </a:ext>
            </a:extLst>
          </p:cNvPr>
          <p:cNvSpPr txBox="1"/>
          <p:nvPr/>
        </p:nvSpPr>
        <p:spPr>
          <a:xfrm>
            <a:off x="8874998" y="2633727"/>
            <a:ext cx="1924030" cy="5838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lvl="0" algn="ctr">
              <a:lnSpc>
                <a:spcPts val="1680"/>
              </a:lnSpc>
              <a:defRPr/>
            </a:pPr>
            <a:r>
              <a:rPr sz="1400" b="1">
                <a:solidFill>
                  <a:srgbClr val="000000"/>
                </a:solidFill>
                <a:latin typeface="+mj-lt"/>
              </a:rPr>
              <a:t>Canny: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0.136 → 0.204</a:t>
            </a:r>
            <a:endParaRPr lang="he-IL" sz="1400">
              <a:solidFill>
                <a:srgbClr val="000000"/>
              </a:solidFill>
              <a:latin typeface="Univers Condensed"/>
            </a:endParaRPr>
          </a:p>
        </p:txBody>
      </p:sp>
      <p:cxnSp>
        <p:nvCxnSpPr>
          <p:cNvPr id="389" name="Connector 129">
            <a:extLst>
              <a:ext uri="{FF2B5EF4-FFF2-40B4-BE49-F238E27FC236}">
                <a16:creationId xmlns:a16="http://schemas.microsoft.com/office/drawing/2014/main" id="{D4700370-428A-E0D1-8A03-A399E77C1F7C}"/>
              </a:ext>
            </a:extLst>
          </p:cNvPr>
          <p:cNvCxnSpPr/>
          <p:nvPr/>
        </p:nvCxnSpPr>
        <p:spPr>
          <a:xfrm>
            <a:off x="8742971" y="2888390"/>
            <a:ext cx="2308837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0" name="Cloud 389">
            <a:extLst>
              <a:ext uri="{FF2B5EF4-FFF2-40B4-BE49-F238E27FC236}">
                <a16:creationId xmlns:a16="http://schemas.microsoft.com/office/drawing/2014/main" id="{A090E9E4-633F-8AE6-5361-F97DD3DC36A6}"/>
              </a:ext>
            </a:extLst>
          </p:cNvPr>
          <p:cNvSpPr/>
          <p:nvPr/>
        </p:nvSpPr>
        <p:spPr>
          <a:xfrm>
            <a:off x="8742971" y="3002250"/>
            <a:ext cx="281204" cy="211631"/>
          </a:xfrm>
          <a:prstGeom prst="cloud">
            <a:avLst/>
          </a:prstGeom>
          <a:solidFill>
            <a:srgbClr val="EBF8FA"/>
          </a:solidFill>
          <a:ln w="15240">
            <a:solidFill>
              <a:srgbClr val="48C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91" name="Cloud 390">
            <a:extLst>
              <a:ext uri="{FF2B5EF4-FFF2-40B4-BE49-F238E27FC236}">
                <a16:creationId xmlns:a16="http://schemas.microsoft.com/office/drawing/2014/main" id="{D5DD59F6-86B0-EA20-62F9-0F03A81B077D}"/>
              </a:ext>
            </a:extLst>
          </p:cNvPr>
          <p:cNvSpPr/>
          <p:nvPr/>
        </p:nvSpPr>
        <p:spPr>
          <a:xfrm>
            <a:off x="8861373" y="3067929"/>
            <a:ext cx="244204" cy="182440"/>
          </a:xfrm>
          <a:prstGeom prst="cloud">
            <a:avLst/>
          </a:prstGeom>
          <a:solidFill>
            <a:srgbClr val="48CD70"/>
          </a:solidFill>
          <a:ln w="12700">
            <a:solidFill>
              <a:srgbClr val="48CD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+mj-lt"/>
            </a:endParaRPr>
          </a:p>
        </p:txBody>
      </p:sp>
      <p:sp>
        <p:nvSpPr>
          <p:cNvPr id="392" name="TextBox 391">
            <a:extLst>
              <a:ext uri="{FF2B5EF4-FFF2-40B4-BE49-F238E27FC236}">
                <a16:creationId xmlns:a16="http://schemas.microsoft.com/office/drawing/2014/main" id="{B78941A2-7F81-92F6-F22A-53DD7D3CD73E}"/>
              </a:ext>
            </a:extLst>
          </p:cNvPr>
          <p:cNvSpPr txBox="1"/>
          <p:nvPr/>
        </p:nvSpPr>
        <p:spPr>
          <a:xfrm>
            <a:off x="9118838" y="2938273"/>
            <a:ext cx="1924030" cy="58380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sz="1400" b="1" err="1">
                <a:solidFill>
                  <a:srgbClr val="000000"/>
                </a:solidFill>
                <a:latin typeface="+mj-lt"/>
              </a:rPr>
              <a:t>GrabCut</a:t>
            </a:r>
            <a:r>
              <a:rPr sz="1400" b="1">
                <a:solidFill>
                  <a:srgbClr val="000000"/>
                </a:solidFill>
                <a:latin typeface="+mj-lt"/>
              </a:rPr>
              <a:t>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IL" sz="1400" b="0">
                <a:solidFill>
                  <a:srgbClr val="000000"/>
                </a:solidFill>
                <a:latin typeface="+mj-lt"/>
              </a:rPr>
              <a:t>0.578 → 0.622</a:t>
            </a:r>
          </a:p>
        </p:txBody>
      </p:sp>
      <p:cxnSp>
        <p:nvCxnSpPr>
          <p:cNvPr id="393" name="Connector 133">
            <a:extLst>
              <a:ext uri="{FF2B5EF4-FFF2-40B4-BE49-F238E27FC236}">
                <a16:creationId xmlns:a16="http://schemas.microsoft.com/office/drawing/2014/main" id="{7683EF11-0F54-152B-E451-0EFC16FDE56D}"/>
              </a:ext>
            </a:extLst>
          </p:cNvPr>
          <p:cNvCxnSpPr/>
          <p:nvPr/>
        </p:nvCxnSpPr>
        <p:spPr>
          <a:xfrm>
            <a:off x="8742971" y="3281583"/>
            <a:ext cx="2308837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EA52D4-62FF-ACF3-910D-584B327B1966}"/>
              </a:ext>
            </a:extLst>
          </p:cNvPr>
          <p:cNvGrpSpPr/>
          <p:nvPr/>
        </p:nvGrpSpPr>
        <p:grpSpPr>
          <a:xfrm>
            <a:off x="8779972" y="3342102"/>
            <a:ext cx="314505" cy="259066"/>
            <a:chOff x="8779972" y="4096482"/>
            <a:chExt cx="314505" cy="259066"/>
          </a:xfrm>
        </p:grpSpPr>
        <p:cxnSp>
          <p:nvCxnSpPr>
            <p:cNvPr id="394" name="Connector 134">
              <a:extLst>
                <a:ext uri="{FF2B5EF4-FFF2-40B4-BE49-F238E27FC236}">
                  <a16:creationId xmlns:a16="http://schemas.microsoft.com/office/drawing/2014/main" id="{61BDF7A2-0DF0-1A08-98DC-4F17365A317E}"/>
                </a:ext>
              </a:extLst>
            </p:cNvPr>
            <p:cNvCxnSpPr/>
            <p:nvPr/>
          </p:nvCxnSpPr>
          <p:spPr>
            <a:xfrm flipV="1">
              <a:off x="8779972" y="4096482"/>
              <a:ext cx="199803" cy="43786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Connector 135">
              <a:extLst>
                <a:ext uri="{FF2B5EF4-FFF2-40B4-BE49-F238E27FC236}">
                  <a16:creationId xmlns:a16="http://schemas.microsoft.com/office/drawing/2014/main" id="{5CEA9524-D55E-4780-6466-B721E066D2CD}"/>
                </a:ext>
              </a:extLst>
            </p:cNvPr>
            <p:cNvCxnSpPr/>
            <p:nvPr/>
          </p:nvCxnSpPr>
          <p:spPr>
            <a:xfrm flipH="1">
              <a:off x="8950175" y="4096482"/>
              <a:ext cx="29600" cy="204333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Connector 136">
              <a:extLst>
                <a:ext uri="{FF2B5EF4-FFF2-40B4-BE49-F238E27FC236}">
                  <a16:creationId xmlns:a16="http://schemas.microsoft.com/office/drawing/2014/main" id="{D060FC95-11B0-3B64-A2F3-89ADB344261D}"/>
                </a:ext>
              </a:extLst>
            </p:cNvPr>
            <p:cNvCxnSpPr/>
            <p:nvPr/>
          </p:nvCxnSpPr>
          <p:spPr>
            <a:xfrm flipH="1" flipV="1">
              <a:off x="8816973" y="4264327"/>
              <a:ext cx="133202" cy="36488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Connector 137">
              <a:extLst>
                <a:ext uri="{FF2B5EF4-FFF2-40B4-BE49-F238E27FC236}">
                  <a16:creationId xmlns:a16="http://schemas.microsoft.com/office/drawing/2014/main" id="{FE7AEDC0-B6CC-D297-8B57-882402D4862C}"/>
                </a:ext>
              </a:extLst>
            </p:cNvPr>
            <p:cNvCxnSpPr/>
            <p:nvPr/>
          </p:nvCxnSpPr>
          <p:spPr>
            <a:xfrm>
              <a:off x="8779972" y="4140268"/>
              <a:ext cx="37001" cy="124059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Connector 138">
              <a:extLst>
                <a:ext uri="{FF2B5EF4-FFF2-40B4-BE49-F238E27FC236}">
                  <a16:creationId xmlns:a16="http://schemas.microsoft.com/office/drawing/2014/main" id="{B4B48406-723A-194A-D362-30D6C282142B}"/>
                </a:ext>
              </a:extLst>
            </p:cNvPr>
            <p:cNvCxnSpPr/>
            <p:nvPr/>
          </p:nvCxnSpPr>
          <p:spPr>
            <a:xfrm>
              <a:off x="8979775" y="4096482"/>
              <a:ext cx="59201" cy="116762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Connector 139">
              <a:extLst>
                <a:ext uri="{FF2B5EF4-FFF2-40B4-BE49-F238E27FC236}">
                  <a16:creationId xmlns:a16="http://schemas.microsoft.com/office/drawing/2014/main" id="{6E2B1955-80A2-176F-582F-9F419D562258}"/>
                </a:ext>
              </a:extLst>
            </p:cNvPr>
            <p:cNvCxnSpPr/>
            <p:nvPr/>
          </p:nvCxnSpPr>
          <p:spPr>
            <a:xfrm flipH="1">
              <a:off x="8950175" y="4213244"/>
              <a:ext cx="88801" cy="87571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Connector 140">
              <a:extLst>
                <a:ext uri="{FF2B5EF4-FFF2-40B4-BE49-F238E27FC236}">
                  <a16:creationId xmlns:a16="http://schemas.microsoft.com/office/drawing/2014/main" id="{B77E90BB-DAE3-C874-1102-FD3D496282FD}"/>
                </a:ext>
              </a:extLst>
            </p:cNvPr>
            <p:cNvCxnSpPr/>
            <p:nvPr/>
          </p:nvCxnSpPr>
          <p:spPr>
            <a:xfrm>
              <a:off x="8779972" y="4140268"/>
              <a:ext cx="259004" cy="72976"/>
            </a:xfrm>
            <a:prstGeom prst="line">
              <a:avLst/>
            </a:prstGeom>
            <a:ln w="12700">
              <a:solidFill>
                <a:srgbClr val="48CD7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1" name="Oval 400">
              <a:extLst>
                <a:ext uri="{FF2B5EF4-FFF2-40B4-BE49-F238E27FC236}">
                  <a16:creationId xmlns:a16="http://schemas.microsoft.com/office/drawing/2014/main" id="{53D83957-7286-D30D-1EEC-E74C21B027E5}"/>
                </a:ext>
              </a:extLst>
            </p:cNvPr>
            <p:cNvSpPr/>
            <p:nvPr/>
          </p:nvSpPr>
          <p:spPr>
            <a:xfrm>
              <a:off x="8779972" y="4140268"/>
              <a:ext cx="55501" cy="54732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2" name="Oval 401">
              <a:extLst>
                <a:ext uri="{FF2B5EF4-FFF2-40B4-BE49-F238E27FC236}">
                  <a16:creationId xmlns:a16="http://schemas.microsoft.com/office/drawing/2014/main" id="{E5A4B380-B651-629E-4EAF-DABA5AA556AF}"/>
                </a:ext>
              </a:extLst>
            </p:cNvPr>
            <p:cNvSpPr/>
            <p:nvPr/>
          </p:nvSpPr>
          <p:spPr>
            <a:xfrm>
              <a:off x="8979775" y="4096482"/>
              <a:ext cx="55501" cy="54732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3" name="Oval 402">
              <a:extLst>
                <a:ext uri="{FF2B5EF4-FFF2-40B4-BE49-F238E27FC236}">
                  <a16:creationId xmlns:a16="http://schemas.microsoft.com/office/drawing/2014/main" id="{8E86B038-A947-20A5-42F6-12ED07DE209C}"/>
                </a:ext>
              </a:extLst>
            </p:cNvPr>
            <p:cNvSpPr/>
            <p:nvPr/>
          </p:nvSpPr>
          <p:spPr>
            <a:xfrm>
              <a:off x="8950175" y="4300816"/>
              <a:ext cx="55501" cy="54732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4" name="Oval 403">
              <a:extLst>
                <a:ext uri="{FF2B5EF4-FFF2-40B4-BE49-F238E27FC236}">
                  <a16:creationId xmlns:a16="http://schemas.microsoft.com/office/drawing/2014/main" id="{6AEA09E1-BCAE-E63A-6A8A-A986DDA1E58B}"/>
                </a:ext>
              </a:extLst>
            </p:cNvPr>
            <p:cNvSpPr/>
            <p:nvPr/>
          </p:nvSpPr>
          <p:spPr>
            <a:xfrm>
              <a:off x="8816973" y="4264327"/>
              <a:ext cx="55501" cy="54732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405" name="Oval 404">
              <a:extLst>
                <a:ext uri="{FF2B5EF4-FFF2-40B4-BE49-F238E27FC236}">
                  <a16:creationId xmlns:a16="http://schemas.microsoft.com/office/drawing/2014/main" id="{63B18AA0-0C9E-819E-39BE-08950FF0BC4C}"/>
                </a:ext>
              </a:extLst>
            </p:cNvPr>
            <p:cNvSpPr/>
            <p:nvPr/>
          </p:nvSpPr>
          <p:spPr>
            <a:xfrm>
              <a:off x="9038976" y="4213244"/>
              <a:ext cx="55501" cy="54732"/>
            </a:xfrm>
            <a:prstGeom prst="ellipse">
              <a:avLst/>
            </a:prstGeom>
            <a:solidFill>
              <a:srgbClr val="ECF8FA"/>
            </a:solidFill>
            <a:ln w="10160">
              <a:solidFill>
                <a:srgbClr val="48CD7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sp>
        <p:nvSpPr>
          <p:cNvPr id="406" name="TextBox 405">
            <a:extLst>
              <a:ext uri="{FF2B5EF4-FFF2-40B4-BE49-F238E27FC236}">
                <a16:creationId xmlns:a16="http://schemas.microsoft.com/office/drawing/2014/main" id="{807877DE-7B69-B2D3-6A08-CBE8F294A509}"/>
              </a:ext>
            </a:extLst>
          </p:cNvPr>
          <p:cNvSpPr txBox="1"/>
          <p:nvPr/>
        </p:nvSpPr>
        <p:spPr>
          <a:xfrm>
            <a:off x="9090777" y="3324011"/>
            <a:ext cx="1991122" cy="265769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sz="1400" b="1">
                <a:solidFill>
                  <a:srgbClr val="000000"/>
                </a:solidFill>
                <a:latin typeface="+mj-lt"/>
              </a:rPr>
              <a:t>ResNet50 F1:</a:t>
            </a:r>
            <a:r>
              <a:rPr sz="1400" b="0">
                <a:solidFill>
                  <a:srgbClr val="000000"/>
                </a:solidFill>
                <a:latin typeface="+mj-lt"/>
              </a:rPr>
              <a:t> </a:t>
            </a:r>
            <a:r>
              <a:rPr lang="en-US" sz="1400">
                <a:solidFill>
                  <a:srgbClr val="000000"/>
                </a:solidFill>
                <a:latin typeface="Univers Condensed"/>
              </a:rPr>
              <a:t>0.677 → 0.680</a:t>
            </a:r>
          </a:p>
          <a:p>
            <a:pPr algn="l"/>
            <a:endParaRPr sz="1400" b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407" name="TextBox 406">
            <a:extLst>
              <a:ext uri="{FF2B5EF4-FFF2-40B4-BE49-F238E27FC236}">
                <a16:creationId xmlns:a16="http://schemas.microsoft.com/office/drawing/2014/main" id="{FDE95C83-BD2D-8A85-A1B5-4A4645BE95CF}"/>
              </a:ext>
            </a:extLst>
          </p:cNvPr>
          <p:cNvSpPr txBox="1"/>
          <p:nvPr/>
        </p:nvSpPr>
        <p:spPr>
          <a:xfrm>
            <a:off x="8838681" y="3851419"/>
            <a:ext cx="2132217" cy="86177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400" b="0" i="0">
                <a:solidFill>
                  <a:srgbClr val="000000"/>
                </a:solidFill>
                <a:latin typeface="+mj-lt"/>
              </a:rPr>
              <a:t>Weakest recovery, especially for classification.</a:t>
            </a:r>
          </a:p>
          <a:p>
            <a:pPr algn="ctr"/>
            <a:r>
              <a:rPr lang="en-US" sz="1400" b="0" i="0">
                <a:solidFill>
                  <a:srgbClr val="000000"/>
                </a:solidFill>
                <a:latin typeface="+mj-lt"/>
              </a:rPr>
              <a:t>Fine details remain difficult to restore.</a:t>
            </a:r>
          </a:p>
        </p:txBody>
      </p:sp>
      <p:cxnSp>
        <p:nvCxnSpPr>
          <p:cNvPr id="9" name="Connector 57">
            <a:extLst>
              <a:ext uri="{FF2B5EF4-FFF2-40B4-BE49-F238E27FC236}">
                <a16:creationId xmlns:a16="http://schemas.microsoft.com/office/drawing/2014/main" id="{6F40F179-A5EF-7750-4BAB-204F711FE6FA}"/>
              </a:ext>
            </a:extLst>
          </p:cNvPr>
          <p:cNvCxnSpPr/>
          <p:nvPr/>
        </p:nvCxnSpPr>
        <p:spPr>
          <a:xfrm>
            <a:off x="1759636" y="3631272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96">
            <a:extLst>
              <a:ext uri="{FF2B5EF4-FFF2-40B4-BE49-F238E27FC236}">
                <a16:creationId xmlns:a16="http://schemas.microsoft.com/office/drawing/2014/main" id="{E3A2027A-E3F9-B2F1-0203-3301CF1A9302}"/>
              </a:ext>
            </a:extLst>
          </p:cNvPr>
          <p:cNvCxnSpPr/>
          <p:nvPr/>
        </p:nvCxnSpPr>
        <p:spPr>
          <a:xfrm>
            <a:off x="5195927" y="3631272"/>
            <a:ext cx="2308309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3">
            <a:extLst>
              <a:ext uri="{FF2B5EF4-FFF2-40B4-BE49-F238E27FC236}">
                <a16:creationId xmlns:a16="http://schemas.microsoft.com/office/drawing/2014/main" id="{5AEECAF3-D9B0-0A61-156F-CC2521761804}"/>
              </a:ext>
            </a:extLst>
          </p:cNvPr>
          <p:cNvCxnSpPr/>
          <p:nvPr/>
        </p:nvCxnSpPr>
        <p:spPr>
          <a:xfrm>
            <a:off x="8750371" y="3655875"/>
            <a:ext cx="2308837" cy="0"/>
          </a:xfrm>
          <a:prstGeom prst="line">
            <a:avLst/>
          </a:prstGeom>
          <a:ln w="8255">
            <a:solidFill>
              <a:srgbClr val="B9BE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84431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005B4-2062-02AE-083E-3165A171D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5553B2BC-FFAD-07E8-963F-4F14F94D52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4AD0FD-C497-B35B-004C-3B7791D6B8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96" r="9091" b="73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D5B96BFF-F5B5-4BDC-33F6-F19245C91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23811" y="423809"/>
            <a:ext cx="6858002" cy="601038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1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199A5D-1418-4D29-A21F-20C1462C0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3786" y="908651"/>
            <a:ext cx="5439314" cy="400545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/>
            <a:r>
              <a:rPr lang="en-US" sz="6800" b="1"/>
              <a:t>MODEL ADAPTATION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D75408E-684F-2062-38FF-9D6560DA884B}"/>
              </a:ext>
            </a:extLst>
          </p:cNvPr>
          <p:cNvSpPr txBox="1"/>
          <p:nvPr/>
        </p:nvSpPr>
        <p:spPr>
          <a:xfrm>
            <a:off x="313786" y="5050632"/>
            <a:ext cx="5696596" cy="1129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spcBef>
                <a:spcPts val="1000"/>
              </a:spcBef>
            </a:pPr>
            <a:r>
              <a:rPr lang="en-US" sz="2200" dirty="0">
                <a:solidFill>
                  <a:srgbClr val="FFFFFF"/>
                </a:solidFill>
                <a:latin typeface="Univers Condensed"/>
              </a:rPr>
              <a:t>Fine-tuning the deep learning model to improve robustness under distorted images.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Univers Condensed"/>
              <a:ea typeface="+mn-ea"/>
              <a:cs typeface="+mn-cs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F855DD1-731D-DECE-0D6A-A966BFB6B7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900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30530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4672" y="6144768"/>
            <a:ext cx="10588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93848" y="310896"/>
            <a:ext cx="57567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+mj-lt"/>
              </a:rPr>
              <a:t>DISTORTION-AWARE FINE-TUNING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33466" y="832104"/>
            <a:ext cx="6740308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Two ResNet50 models were fine-tuned under identical settings; only the training inputs differed.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3383280" cy="2240280"/>
          </a:xfrm>
          <a:prstGeom prst="rect">
            <a:avLst/>
          </a:prstGeom>
          <a:solidFill>
            <a:srgbClr val="E8F2F9"/>
          </a:solidFill>
          <a:ln w="12700">
            <a:solidFill>
              <a:srgbClr val="D7DCE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78992" y="1234440"/>
            <a:ext cx="2962656" cy="384048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Univers Condensed"/>
              </a:defRPr>
            </a:pPr>
            <a:r>
              <a:t>CLEAN-CONTROL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783080"/>
            <a:ext cx="2962656" cy="103720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Additional fine-tuning on clean images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endParaRPr lang="en-US" dirty="0"/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image labels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image indices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Reference for clean training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246120"/>
            <a:ext cx="265176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1F77B4"/>
                </a:solidFill>
                <a:latin typeface="Aptos"/>
              </a:defRPr>
            </a:pPr>
            <a:r>
              <a:t>Clean inputs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3383280" cy="2240280"/>
          </a:xfrm>
          <a:prstGeom prst="rect">
            <a:avLst/>
          </a:prstGeom>
          <a:solidFill>
            <a:srgbClr val="E3F7F7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45152" y="1234440"/>
            <a:ext cx="2962656" cy="384048"/>
          </a:xfrm>
          <a:prstGeom prst="rect">
            <a:avLst/>
          </a:prstGeom>
          <a:solidFill>
            <a:srgbClr val="00B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Univers Condensed"/>
              </a:defRPr>
            </a:pPr>
            <a:r>
              <a:t>DISTORTION-AWARE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1783080"/>
            <a:ext cx="2962656" cy="123726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Additional fine-tuning on distorted images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endParaRPr lang="en-US" dirty="0"/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Salt &amp; Pepper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Overexposure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Motion Blur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3246120"/>
            <a:ext cx="2697480" cy="25603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500" b="1">
                <a:solidFill>
                  <a:srgbClr val="00B3B3"/>
                </a:solidFill>
                <a:latin typeface="Aptos"/>
              </a:defRPr>
            </a:pPr>
            <a:r>
              <a:t>Distorted inputs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3383280" cy="2240280"/>
          </a:xfrm>
          <a:prstGeom prst="rect">
            <a:avLst/>
          </a:prstGeom>
          <a:solidFill>
            <a:srgbClr val="FFF1E4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11312" y="1234440"/>
            <a:ext cx="2962656" cy="384048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Univers Condensed"/>
              </a:defRPr>
            </a:pPr>
            <a:r>
              <a:t>CONTROLLED SETTINGS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1783080"/>
            <a:ext cx="2962656" cy="123726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checkpoint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train / validation split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batch order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optimizer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Same trainable layers</a:t>
            </a:r>
            <a:endParaRPr lang="en-US" dirty="0"/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he-IL" sz="1300" dirty="0" err="1"/>
              <a:t>Same</a:t>
            </a:r>
            <a:r>
              <a:rPr lang="he-IL" sz="1300" dirty="0"/>
              <a:t> </a:t>
            </a:r>
            <a:r>
              <a:rPr lang="he-IL" sz="1300" dirty="0" err="1"/>
              <a:t>number</a:t>
            </a:r>
            <a:r>
              <a:rPr lang="he-IL" sz="1300" dirty="0"/>
              <a:t> </a:t>
            </a:r>
            <a:r>
              <a:rPr lang="he-IL" sz="1300" dirty="0" err="1"/>
              <a:t>of</a:t>
            </a:r>
            <a:r>
              <a:rPr lang="he-IL" sz="1300" dirty="0"/>
              <a:t> </a:t>
            </a:r>
            <a:r>
              <a:rPr lang="he-IL" sz="1300" dirty="0" err="1"/>
              <a:t>epochs</a:t>
            </a:r>
            <a:endParaRPr dirty="0"/>
          </a:p>
        </p:txBody>
      </p:sp>
      <p:sp>
        <p:nvSpPr>
          <p:cNvPr id="17" name="Rectangle 16"/>
          <p:cNvSpPr/>
          <p:nvPr/>
        </p:nvSpPr>
        <p:spPr>
          <a:xfrm>
            <a:off x="1097280" y="4251960"/>
            <a:ext cx="3749039" cy="251459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Parameter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4251960"/>
            <a:ext cx="6263640" cy="251459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Setting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4503420"/>
            <a:ext cx="3749039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Training images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46320" y="4503420"/>
            <a:ext cx="6263640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4,500 per model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97280" y="4754880"/>
            <a:ext cx="3749039" cy="251459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Validation images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754880"/>
            <a:ext cx="6263640" cy="251459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800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006340"/>
            <a:ext cx="3749039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Epochs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5006340"/>
            <a:ext cx="6263640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97280" y="5257800"/>
            <a:ext cx="3749039" cy="251459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Trainable layers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846320" y="5257800"/>
            <a:ext cx="6263640" cy="251459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layer3 + layer4 + fc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5509260"/>
            <a:ext cx="3749039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Primary metric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46320" y="5509260"/>
            <a:ext cx="6263640" cy="251459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Multi-label F1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797296"/>
            <a:ext cx="10012680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Only intentional difference: clean training inputs vs. distorted training inputs.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4672" y="6144768"/>
            <a:ext cx="10588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757116" y="310896"/>
            <a:ext cx="4830168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+mj-lt"/>
              </a:rPr>
              <a:t>FINE-TUNING TRAINING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9936" y="832104"/>
            <a:ext cx="8647367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The selected checkpoint corresponds to the epoch with the lowest combined validation loss on clean and distorted images.</a:t>
            </a:r>
            <a:endParaRPr dirty="0"/>
          </a:p>
        </p:txBody>
      </p:sp>
      <p:pic>
        <p:nvPicPr>
          <p:cNvPr id="6" name="Picture 5" descr="874f17c5-8d6a-4a86-9788-e8245ebdaa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30" y="1865602"/>
            <a:ext cx="8293874" cy="27571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8686800" y="1353312"/>
            <a:ext cx="2926080" cy="1005840"/>
          </a:xfrm>
          <a:prstGeom prst="rect">
            <a:avLst/>
          </a:prstGeom>
          <a:solidFill>
            <a:srgbClr val="E8F2F9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47760" y="1532128"/>
            <a:ext cx="2651760" cy="6370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Clean-Control Model</a:t>
            </a:r>
            <a:br>
              <a:rPr lang="en-US" dirty="0"/>
            </a:br>
            <a:r>
              <a:rPr dirty="0"/>
              <a:t>Best epoch: 2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Best loss: 0.1022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799" y="2606040"/>
            <a:ext cx="2926080" cy="1005840"/>
          </a:xfrm>
          <a:prstGeom prst="rect">
            <a:avLst/>
          </a:prstGeom>
          <a:solidFill>
            <a:srgbClr val="E3F7F7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60460" y="2734056"/>
            <a:ext cx="2651760" cy="63709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Distortion-Aware Fine-Tuned Model</a:t>
            </a:r>
            <a:endParaRPr dirty="0"/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Best epoch: 5</a:t>
            </a:r>
          </a:p>
          <a:p>
            <a:pPr algn="ctr">
              <a:defRPr sz="1300" b="0">
                <a:solidFill>
                  <a:srgbClr val="000000"/>
                </a:solidFill>
                <a:latin typeface="Aptos"/>
              </a:defRPr>
            </a:pPr>
            <a:r>
              <a:rPr dirty="0"/>
              <a:t>Best loss: 0.0811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99500" y="3858768"/>
            <a:ext cx="2926080" cy="1051560"/>
          </a:xfrm>
          <a:prstGeom prst="rect">
            <a:avLst/>
          </a:prstGeom>
          <a:solidFill>
            <a:srgbClr val="EAF7EF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882380" y="4009136"/>
            <a:ext cx="2560320" cy="80637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Distortion-aware fine-tuning achieves a lower validation loss </a:t>
            </a:r>
          </a:p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and remains more stable during training.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822960" y="5559552"/>
            <a:ext cx="10561320" cy="25237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The Clean-Control model begins to overfit after epoch 2, while the Distortion-Aware model continues improving until epoch 5.</a:t>
            </a:r>
            <a:endParaRPr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4672" y="6144768"/>
            <a:ext cx="10588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490215" y="310896"/>
            <a:ext cx="536396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+mj-lt"/>
              </a:rPr>
              <a:t>FINE-TUNING IMPROVES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96194" y="832104"/>
            <a:ext cx="6014852" cy="2846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Mean F1 across all 18 distorted-image conditions on the same 400 validation images.</a:t>
            </a:r>
          </a:p>
        </p:txBody>
      </p:sp>
      <p:pic>
        <p:nvPicPr>
          <p:cNvPr id="6" name="Picture 5" descr="3c0d7f2f-a41f-4389-83fa-2f24d35ee4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71" y="1313234"/>
            <a:ext cx="6478446" cy="38647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6903720" y="1234440"/>
            <a:ext cx="4526280" cy="1097280"/>
          </a:xfrm>
          <a:prstGeom prst="rect">
            <a:avLst/>
          </a:prstGeom>
          <a:solidFill>
            <a:srgbClr val="F7F8FA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0" y="1344168"/>
            <a:ext cx="4251960" cy="2369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Mean F1 Across All Distorted Conditions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64208"/>
            <a:ext cx="425196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300" b="1">
                <a:solidFill>
                  <a:srgbClr val="0F172A"/>
                </a:solidFill>
                <a:latin typeface="Aptos"/>
              </a:defRPr>
            </a:pPr>
            <a:r>
              <a:t>0.7195  →  0.8031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029968"/>
            <a:ext cx="425196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Clean-Control      Distortion-Aware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903720" y="2578608"/>
            <a:ext cx="2103120" cy="841248"/>
          </a:xfrm>
          <a:prstGeom prst="rect">
            <a:avLst/>
          </a:prstGeom>
          <a:solidFill>
            <a:srgbClr val="EAF7E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022592" y="2688336"/>
            <a:ext cx="1865376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200" b="1">
                <a:solidFill>
                  <a:srgbClr val="00B050"/>
                </a:solidFill>
                <a:latin typeface="Aptos"/>
              </a:defRPr>
            </a:pPr>
            <a:r>
              <a:t>+0.0837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3044952"/>
            <a:ext cx="1865376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absolute improvement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81160" y="2578608"/>
            <a:ext cx="2148840" cy="841248"/>
          </a:xfrm>
          <a:prstGeom prst="rect">
            <a:avLst/>
          </a:prstGeom>
          <a:solidFill>
            <a:srgbClr val="EAF7EF"/>
          </a:solidFill>
          <a:ln w="1270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400032" y="2688336"/>
            <a:ext cx="1901952" cy="29260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200" b="1">
                <a:solidFill>
                  <a:srgbClr val="00B050"/>
                </a:solidFill>
                <a:latin typeface="Aptos"/>
              </a:defRPr>
            </a:pPr>
            <a:r>
              <a:t>~11.6%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00032" y="3044952"/>
            <a:ext cx="1901952" cy="1828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relative improvement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3794760"/>
            <a:ext cx="2697480" cy="30861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Distortion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3794760"/>
            <a:ext cx="1828800" cy="30861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Average gain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03720" y="4103370"/>
            <a:ext cx="2697480" cy="30861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Salt &amp; Pepper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01200" y="4103370"/>
            <a:ext cx="1828800" cy="30861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+0.0925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03720" y="4411980"/>
            <a:ext cx="2697480" cy="30861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Overexposure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4411980"/>
            <a:ext cx="1828800" cy="30861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+0.0388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903720" y="4720590"/>
            <a:ext cx="2697480" cy="30861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Motion Blur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01200" y="4720590"/>
            <a:ext cx="1828800" cy="30861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100" b="0">
                <a:solidFill>
                  <a:srgbClr val="000000"/>
                </a:solidFill>
                <a:latin typeface="Aptos"/>
              </a:defRPr>
            </a:pPr>
            <a:r>
              <a:t>+0.1197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5230368"/>
            <a:ext cx="452628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Aptos"/>
              </a:defRPr>
            </a:pPr>
            <a:r>
              <a:t>Largest average improvement: Motion Blur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4672" y="6144768"/>
            <a:ext cx="10588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601350" y="310896"/>
            <a:ext cx="71416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rPr dirty="0">
                <a:latin typeface="+mj-lt"/>
              </a:rPr>
              <a:t>ROBUSTNESS AS DISTORTION SEVERITY INCREASES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832104"/>
            <a:ext cx="1156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000000"/>
                </a:solidFill>
                <a:latin typeface="Aptos"/>
              </a:defRPr>
            </a:pPr>
            <a:r>
              <a:t>The gap between the models becomes larger when SNR decreases and degradation becomes stronger.</a:t>
            </a:r>
          </a:p>
        </p:txBody>
      </p:sp>
      <p:pic>
        <p:nvPicPr>
          <p:cNvPr id="6" name="Picture 5" descr="2f72a3ce-9236-4916-935b-08b46aa470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50820"/>
            <a:ext cx="11567160" cy="35173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914400" y="4892040"/>
            <a:ext cx="3383280" cy="24003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Strongest level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4892040"/>
            <a:ext cx="2194560" cy="24003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Clean-Control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892040"/>
            <a:ext cx="2651760" cy="24003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Distortion-Aware Fine-Tuned Model</a:t>
            </a:r>
            <a:endParaRPr dirty="0"/>
          </a:p>
        </p:txBody>
      </p:sp>
      <p:sp>
        <p:nvSpPr>
          <p:cNvPr id="11" name="Rectangle 10"/>
          <p:cNvSpPr/>
          <p:nvPr/>
        </p:nvSpPr>
        <p:spPr>
          <a:xfrm>
            <a:off x="9144000" y="4892040"/>
            <a:ext cx="2148840" cy="240030"/>
          </a:xfrm>
          <a:prstGeom prst="rect">
            <a:avLst/>
          </a:prstGeom>
          <a:solidFill>
            <a:srgbClr val="0F172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1">
                <a:solidFill>
                  <a:srgbClr val="FFFFFF"/>
                </a:solidFill>
                <a:latin typeface="Aptos"/>
              </a:defRPr>
            </a:pPr>
            <a:r>
              <a:t>Improvement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5132070"/>
            <a:ext cx="338328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Salt &amp; Pepper L6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5132070"/>
            <a:ext cx="219456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0.4698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5132070"/>
            <a:ext cx="265176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0.7395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0" y="5132070"/>
            <a:ext cx="214884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+0.2697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" y="5372100"/>
            <a:ext cx="3383280" cy="24003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Overexposure L6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5372100"/>
            <a:ext cx="2194560" cy="24003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0.6074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5372100"/>
            <a:ext cx="2651760" cy="24003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0.7502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0" y="5372100"/>
            <a:ext cx="2148840" cy="240030"/>
          </a:xfrm>
          <a:prstGeom prst="rect">
            <a:avLst/>
          </a:prstGeom>
          <a:solidFill>
            <a:srgbClr val="FFFFFF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+0.1428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4400" y="5612130"/>
            <a:ext cx="338328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Motion Blur L6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5612130"/>
            <a:ext cx="219456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0.3442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92240" y="5612130"/>
            <a:ext cx="265176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0.6441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0" y="5612130"/>
            <a:ext cx="2148840" cy="240030"/>
          </a:xfrm>
          <a:prstGeom prst="rect">
            <a:avLst/>
          </a:prstGeom>
          <a:solidFill>
            <a:srgbClr val="F7F8FA"/>
          </a:solidFill>
          <a:ln w="8890"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tIns="18288" rIns="27432" bIns="18288" rtlCol="0" anchor="ctr"/>
          <a:lstStyle/>
          <a:p>
            <a:pPr algn="ctr">
              <a:defRPr sz="1050" b="0">
                <a:solidFill>
                  <a:srgbClr val="000000"/>
                </a:solidFill>
                <a:latin typeface="Aptos"/>
              </a:defRPr>
            </a:pPr>
            <a:r>
              <a:t>+0.2999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879592"/>
            <a:ext cx="10378440" cy="236988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rPr lang="en-US" dirty="0"/>
              <a:t>Fine-tuning provides the largest gains at the strongest distortion levels.</a:t>
            </a:r>
            <a:endParaRPr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04672" y="6144768"/>
            <a:ext cx="10588752" cy="1371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508651" y="310896"/>
            <a:ext cx="5327099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0F172A"/>
                </a:solidFill>
                <a:latin typeface="Arial"/>
              </a:defRPr>
            </a:pPr>
            <a:r>
              <a:rPr lang="he-IL" sz="2500" b="1" dirty="0">
                <a:latin typeface="+mj-lt"/>
              </a:rPr>
              <a:t>PER-CLASS AND PREDICTION RESULTS</a:t>
            </a:r>
            <a:endParaRPr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32104"/>
            <a:ext cx="11567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50">
                <a:solidFill>
                  <a:srgbClr val="000000"/>
                </a:solidFill>
                <a:latin typeface="Aptos"/>
              </a:defRPr>
            </a:pPr>
            <a:r>
              <a:t>Improvements appear across object classes and in individual distorted-image predictions.</a:t>
            </a:r>
          </a:p>
        </p:txBody>
      </p:sp>
      <p:pic>
        <p:nvPicPr>
          <p:cNvPr id="6" name="Picture 5" descr="c0fd35da-9331-4490-b96d-7346185c798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23520"/>
            <a:ext cx="7315200" cy="317651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502920" y="1223520"/>
            <a:ext cx="7315200" cy="3176518"/>
          </a:xfrm>
          <a:prstGeom prst="rect">
            <a:avLst/>
          </a:prstGeom>
          <a:noFill/>
          <a:ln w="8890">
            <a:solidFill>
              <a:srgbClr val="BEBE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092440" y="1280160"/>
            <a:ext cx="3337560" cy="960120"/>
          </a:xfrm>
          <a:prstGeom prst="rect">
            <a:avLst/>
          </a:prstGeom>
          <a:solidFill>
            <a:srgbClr val="F7F8FA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389888"/>
            <a:ext cx="3063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Mean per-class F1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719072"/>
            <a:ext cx="3063240" cy="32004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2200" b="1">
                <a:solidFill>
                  <a:srgbClr val="0F172A"/>
                </a:solidFill>
                <a:latin typeface="Aptos"/>
              </a:defRPr>
            </a:pPr>
            <a:r>
              <a:t>0.695  →  0.786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92440" y="2468880"/>
            <a:ext cx="3337560" cy="1325880"/>
          </a:xfrm>
          <a:prstGeom prst="rect">
            <a:avLst/>
          </a:prstGeom>
          <a:solidFill>
            <a:srgbClr val="EAF7EF"/>
          </a:solidFill>
          <a:ln w="12700">
            <a:solidFill>
              <a:srgbClr val="D7DCE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2596896"/>
            <a:ext cx="3063240" cy="22860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300" b="1">
                <a:solidFill>
                  <a:srgbClr val="0F172A"/>
                </a:solidFill>
                <a:latin typeface="Aptos"/>
              </a:defRPr>
            </a:pPr>
            <a:r>
              <a:t>Largest class gains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966389"/>
            <a:ext cx="3063240" cy="998735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r>
              <a:rPr dirty="0"/>
              <a:t>Sofa, Dining Table, Bicycle,</a:t>
            </a:r>
          </a:p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r>
              <a:rPr dirty="0"/>
              <a:t>Chair, and Sheep improved most.</a:t>
            </a:r>
            <a:endParaRPr lang="he-IL" dirty="0"/>
          </a:p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All 20 PASCAL VOC classes improved on average.</a:t>
            </a:r>
          </a:p>
          <a:p>
            <a:pPr algn="ctr">
              <a:defRPr sz="1250" b="0">
                <a:solidFill>
                  <a:srgbClr val="000000"/>
                </a:solidFill>
                <a:latin typeface="Aptos"/>
              </a:defRPr>
            </a:pPr>
            <a:endParaRPr dirty="0"/>
          </a:p>
        </p:txBody>
      </p:sp>
      <p:sp>
        <p:nvSpPr>
          <p:cNvPr id="16" name="TextBox 15"/>
          <p:cNvSpPr txBox="1"/>
          <p:nvPr/>
        </p:nvSpPr>
        <p:spPr>
          <a:xfrm>
            <a:off x="8229599" y="4061447"/>
            <a:ext cx="3598333" cy="83715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Prediction example:</a:t>
            </a:r>
          </a:p>
          <a:p>
            <a:pPr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The fine-tuned model maintains high confidence</a:t>
            </a:r>
          </a:p>
          <a:p>
            <a:pPr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for the correct car label and generally reduces</a:t>
            </a:r>
          </a:p>
          <a:p>
            <a:pPr>
              <a:defRPr sz="1300" b="0">
                <a:solidFill>
                  <a:srgbClr val="000000"/>
                </a:solidFill>
                <a:latin typeface="Aptos"/>
              </a:defRPr>
            </a:pPr>
            <a:r>
              <a:rPr lang="en-US" dirty="0"/>
              <a:t>confidence in incorrect labels under distortion.</a:t>
            </a:r>
            <a:endParaRPr dirty="0"/>
          </a:p>
        </p:txBody>
      </p:sp>
      <p:pic>
        <p:nvPicPr>
          <p:cNvPr id="15" name="Picture 13" descr="5a3c7c65-e3db-4165-a7bd-3cd88ca8389d.png">
            <a:extLst>
              <a:ext uri="{FF2B5EF4-FFF2-40B4-BE49-F238E27FC236}">
                <a16:creationId xmlns:a16="http://schemas.microsoft.com/office/drawing/2014/main" id="{0FAF8969-4394-3744-26E2-0FD2A229B26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3305" b="-994"/>
          <a:stretch>
            <a:fillRect/>
          </a:stretch>
        </p:blipFill>
        <p:spPr>
          <a:xfrm>
            <a:off x="1053496" y="5577840"/>
            <a:ext cx="9699680" cy="1162502"/>
          </a:xfrm>
          <a:prstGeom prst="rect">
            <a:avLst/>
          </a:prstGeom>
        </p:spPr>
      </p:pic>
      <p:sp>
        <p:nvSpPr>
          <p:cNvPr id="17" name="מלבן 16">
            <a:extLst>
              <a:ext uri="{FF2B5EF4-FFF2-40B4-BE49-F238E27FC236}">
                <a16:creationId xmlns:a16="http://schemas.microsoft.com/office/drawing/2014/main" id="{BC0E7B15-F8ED-CB48-A75B-03E1412EB88B}"/>
              </a:ext>
            </a:extLst>
          </p:cNvPr>
          <p:cNvSpPr/>
          <p:nvPr/>
        </p:nvSpPr>
        <p:spPr>
          <a:xfrm>
            <a:off x="1329268" y="5378760"/>
            <a:ext cx="1159933" cy="38103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Clean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  <a:latin typeface="+mj-lt"/>
              </a:rPr>
              <a:t>SNR = inf</a:t>
            </a:r>
            <a:endParaRPr lang="he-IL" sz="7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9" name="מלבן 18">
            <a:extLst>
              <a:ext uri="{FF2B5EF4-FFF2-40B4-BE49-F238E27FC236}">
                <a16:creationId xmlns:a16="http://schemas.microsoft.com/office/drawing/2014/main" id="{A2E89188-C1CF-2919-E652-C228D030400B}"/>
              </a:ext>
            </a:extLst>
          </p:cNvPr>
          <p:cNvSpPr/>
          <p:nvPr/>
        </p:nvSpPr>
        <p:spPr>
          <a:xfrm>
            <a:off x="3826933" y="5357630"/>
            <a:ext cx="1447289" cy="38103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Salt &amp; pepper L4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  <a:latin typeface="+mj-lt"/>
              </a:rPr>
              <a:t>SNR = 12.36 dB</a:t>
            </a: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EF2CE292-CCCA-D704-76CA-B84863294644}"/>
              </a:ext>
            </a:extLst>
          </p:cNvPr>
          <p:cNvSpPr/>
          <p:nvPr/>
        </p:nvSpPr>
        <p:spPr>
          <a:xfrm>
            <a:off x="6522720" y="5393658"/>
            <a:ext cx="1513955" cy="3025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Overexposure L4</a:t>
            </a:r>
            <a:br>
              <a:rPr lang="en-US" sz="1400" dirty="0">
                <a:solidFill>
                  <a:schemeClr val="tx1"/>
                </a:solidFill>
                <a:latin typeface="+mj-lt"/>
              </a:rPr>
            </a:br>
            <a:r>
              <a:rPr lang="en-US" sz="700" dirty="0">
                <a:solidFill>
                  <a:schemeClr val="tx1"/>
                </a:solidFill>
                <a:latin typeface="+mj-lt"/>
              </a:rPr>
              <a:t>SNR = 5.14 dB</a:t>
            </a:r>
            <a:endParaRPr lang="en-US" sz="140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D253B5D1-9774-3A42-68D8-364A39C564D3}"/>
              </a:ext>
            </a:extLst>
          </p:cNvPr>
          <p:cNvSpPr/>
          <p:nvPr/>
        </p:nvSpPr>
        <p:spPr>
          <a:xfrm>
            <a:off x="9291942" y="5420428"/>
            <a:ext cx="1327066" cy="30256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+mj-lt"/>
              </a:rPr>
              <a:t>Motion Blur L4</a:t>
            </a:r>
          </a:p>
          <a:p>
            <a:pPr algn="ctr"/>
            <a:r>
              <a:rPr lang="en-US" sz="700" dirty="0">
                <a:solidFill>
                  <a:schemeClr val="tx1"/>
                </a:solidFill>
                <a:latin typeface="+mj-lt"/>
              </a:rPr>
              <a:t>SNR = 18.11 dB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CA47C6C7-B869-5330-629B-C280E91CB821}"/>
              </a:ext>
            </a:extLst>
          </p:cNvPr>
          <p:cNvSpPr txBox="1"/>
          <p:nvPr/>
        </p:nvSpPr>
        <p:spPr>
          <a:xfrm>
            <a:off x="1722120" y="4655236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Prediction Comparison: Clean-Control vs. Distortion-Aware ResNet50 Ground Truth: </a:t>
            </a:r>
            <a:r>
              <a:rPr lang="en-US" sz="1600" b="1" dirty="0">
                <a:latin typeface="+mj-lt"/>
              </a:rPr>
              <a:t>car</a:t>
            </a:r>
            <a:endParaRPr lang="he-IL" sz="1600" b="1" dirty="0">
              <a:latin typeface="+mj-l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187D8-BF94-A602-DAA4-FD02B68E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83">
            <a:extLst>
              <a:ext uri="{FF2B5EF4-FFF2-40B4-BE49-F238E27FC236}">
                <a16:creationId xmlns:a16="http://schemas.microsoft.com/office/drawing/2014/main" id="{EA678BC1-58B1-E94A-74AE-5F3830E35999}"/>
              </a:ext>
            </a:extLst>
          </p:cNvPr>
          <p:cNvSpPr txBox="1"/>
          <p:nvPr/>
        </p:nvSpPr>
        <p:spPr>
          <a:xfrm>
            <a:off x="1124715" y="402796"/>
            <a:ext cx="972108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400" b="1" dirty="0">
                <a:latin typeface="Univers Condensed" panose="020B0506020202050204" pitchFamily="34" charset="0"/>
              </a:rPr>
              <a:t>RESTORATION VS. FINE-TUNED MODEL</a:t>
            </a:r>
            <a:endParaRPr lang="he-IL" sz="2400" b="1" dirty="0">
              <a:latin typeface="Univers Condensed" panose="020B0506020202050204" pitchFamily="34" charset="0"/>
            </a:endParaRPr>
          </a:p>
        </p:txBody>
      </p:sp>
      <p:sp>
        <p:nvSpPr>
          <p:cNvPr id="5" name="TextBox 84">
            <a:extLst>
              <a:ext uri="{FF2B5EF4-FFF2-40B4-BE49-F238E27FC236}">
                <a16:creationId xmlns:a16="http://schemas.microsoft.com/office/drawing/2014/main" id="{A9A3B43B-B713-33A9-80CA-D82413650CE7}"/>
              </a:ext>
            </a:extLst>
          </p:cNvPr>
          <p:cNvSpPr txBox="1"/>
          <p:nvPr/>
        </p:nvSpPr>
        <p:spPr>
          <a:xfrm>
            <a:off x="300046" y="733391"/>
            <a:ext cx="11591907" cy="276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Direct comparison on the same 400 validation images</a:t>
            </a:r>
            <a:endParaRPr kumimoji="0" lang="en-IL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F252F1-24F7-44DE-29E8-7EAE39779E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82" t="-1707" r="-2688" b="-1359"/>
          <a:stretch>
            <a:fillRect/>
          </a:stretch>
        </p:blipFill>
        <p:spPr>
          <a:xfrm>
            <a:off x="648167" y="997626"/>
            <a:ext cx="8803239" cy="47337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CB0C94A-DA93-DC2D-0D84-6D93AD1B7D96}"/>
              </a:ext>
            </a:extLst>
          </p:cNvPr>
          <p:cNvGrpSpPr/>
          <p:nvPr/>
        </p:nvGrpSpPr>
        <p:grpSpPr>
          <a:xfrm>
            <a:off x="9534466" y="1230506"/>
            <a:ext cx="1895532" cy="1337660"/>
            <a:chOff x="9262956" y="1245770"/>
            <a:chExt cx="2525198" cy="1562195"/>
          </a:xfrm>
        </p:grpSpPr>
        <p:sp>
          <p:nvSpPr>
            <p:cNvPr id="17" name="Freeform 2">
              <a:extLst>
                <a:ext uri="{FF2B5EF4-FFF2-40B4-BE49-F238E27FC236}">
                  <a16:creationId xmlns:a16="http://schemas.microsoft.com/office/drawing/2014/main" id="{FAF4DEBA-0532-0E6C-C167-C7CA8963A3B2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18" name="Group 3">
              <a:extLst>
                <a:ext uri="{FF2B5EF4-FFF2-40B4-BE49-F238E27FC236}">
                  <a16:creationId xmlns:a16="http://schemas.microsoft.com/office/drawing/2014/main" id="{8214CA71-9386-267E-445D-DB4170C90B5D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19" name="Freeform 4">
                <a:extLst>
                  <a:ext uri="{FF2B5EF4-FFF2-40B4-BE49-F238E27FC236}">
                    <a16:creationId xmlns:a16="http://schemas.microsoft.com/office/drawing/2014/main" id="{5CFB88E8-339B-3BC0-15ED-267047EF93D2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0" name="TextBox 5">
                <a:extLst>
                  <a:ext uri="{FF2B5EF4-FFF2-40B4-BE49-F238E27FC236}">
                    <a16:creationId xmlns:a16="http://schemas.microsoft.com/office/drawing/2014/main" id="{2AF69AA9-9CC7-DEDB-3656-9119DF45FA7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21" name="Group 10">
              <a:extLst>
                <a:ext uri="{FF2B5EF4-FFF2-40B4-BE49-F238E27FC236}">
                  <a16:creationId xmlns:a16="http://schemas.microsoft.com/office/drawing/2014/main" id="{3CB9264A-8060-C4D7-EA82-1918386FA9F9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22" name="Freeform 11">
                <a:extLst>
                  <a:ext uri="{FF2B5EF4-FFF2-40B4-BE49-F238E27FC236}">
                    <a16:creationId xmlns:a16="http://schemas.microsoft.com/office/drawing/2014/main" id="{898A3282-45F3-A8C1-52E8-EBEB60F2B4DB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23" name="TextBox 12">
                <a:extLst>
                  <a:ext uri="{FF2B5EF4-FFF2-40B4-BE49-F238E27FC236}">
                    <a16:creationId xmlns:a16="http://schemas.microsoft.com/office/drawing/2014/main" id="{C35855B6-37E4-EA7A-45E7-1009D1F05FED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Salt</a:t>
                </a:r>
                <a:r>
                  <a:rPr lang="he-IL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&amp;</a:t>
                </a:r>
                <a:r>
                  <a:rPr lang="he-IL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 </a:t>
                </a:r>
                <a:r>
                  <a:rPr lang="en-US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pepper</a:t>
                </a:r>
              </a:p>
            </p:txBody>
          </p:sp>
        </p:grp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20B86F4-5EF6-C035-DFF5-A253CAC8E17E}"/>
              </a:ext>
            </a:extLst>
          </p:cNvPr>
          <p:cNvGrpSpPr/>
          <p:nvPr/>
        </p:nvGrpSpPr>
        <p:grpSpPr>
          <a:xfrm>
            <a:off x="9534466" y="2598450"/>
            <a:ext cx="1895532" cy="1337660"/>
            <a:chOff x="9262956" y="1245770"/>
            <a:chExt cx="2525198" cy="1562195"/>
          </a:xfrm>
        </p:grpSpPr>
        <p:sp>
          <p:nvSpPr>
            <p:cNvPr id="50" name="Freeform 2">
              <a:extLst>
                <a:ext uri="{FF2B5EF4-FFF2-40B4-BE49-F238E27FC236}">
                  <a16:creationId xmlns:a16="http://schemas.microsoft.com/office/drawing/2014/main" id="{EB8BDB85-DD40-DBB9-79DE-B9EEEEFECA84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1" name="Group 3">
              <a:extLst>
                <a:ext uri="{FF2B5EF4-FFF2-40B4-BE49-F238E27FC236}">
                  <a16:creationId xmlns:a16="http://schemas.microsoft.com/office/drawing/2014/main" id="{1E4CA40F-E4D5-EB54-4602-044A9E10D8C4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55" name="Freeform 4">
                <a:extLst>
                  <a:ext uri="{FF2B5EF4-FFF2-40B4-BE49-F238E27FC236}">
                    <a16:creationId xmlns:a16="http://schemas.microsoft.com/office/drawing/2014/main" id="{0A3BCB19-42E9-C5C6-C40D-15970A6336A5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6" name="TextBox 5">
                <a:extLst>
                  <a:ext uri="{FF2B5EF4-FFF2-40B4-BE49-F238E27FC236}">
                    <a16:creationId xmlns:a16="http://schemas.microsoft.com/office/drawing/2014/main" id="{96E0423C-6C1A-1955-2041-A027551D1FC7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52" name="Group 10">
              <a:extLst>
                <a:ext uri="{FF2B5EF4-FFF2-40B4-BE49-F238E27FC236}">
                  <a16:creationId xmlns:a16="http://schemas.microsoft.com/office/drawing/2014/main" id="{FEE7D20E-D3AD-F05D-BADC-DAF3DC533959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53" name="Freeform 11">
                <a:extLst>
                  <a:ext uri="{FF2B5EF4-FFF2-40B4-BE49-F238E27FC236}">
                    <a16:creationId xmlns:a16="http://schemas.microsoft.com/office/drawing/2014/main" id="{485B34EF-D98D-24F4-2493-D89A3066EF15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54" name="TextBox 12">
                <a:extLst>
                  <a:ext uri="{FF2B5EF4-FFF2-40B4-BE49-F238E27FC236}">
                    <a16:creationId xmlns:a16="http://schemas.microsoft.com/office/drawing/2014/main" id="{0639091A-1C08-9489-CFA2-701784FA5DFF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Overexposure</a:t>
                </a:r>
              </a:p>
            </p:txBody>
          </p:sp>
        </p:grp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818F5C1-1A85-D144-F0CB-4CFBC569E7FF}"/>
              </a:ext>
            </a:extLst>
          </p:cNvPr>
          <p:cNvGrpSpPr/>
          <p:nvPr/>
        </p:nvGrpSpPr>
        <p:grpSpPr>
          <a:xfrm>
            <a:off x="9554714" y="3948034"/>
            <a:ext cx="1895532" cy="1337660"/>
            <a:chOff x="9262956" y="1245770"/>
            <a:chExt cx="2525198" cy="1562195"/>
          </a:xfrm>
        </p:grpSpPr>
        <p:sp>
          <p:nvSpPr>
            <p:cNvPr id="58" name="Freeform 2">
              <a:extLst>
                <a:ext uri="{FF2B5EF4-FFF2-40B4-BE49-F238E27FC236}">
                  <a16:creationId xmlns:a16="http://schemas.microsoft.com/office/drawing/2014/main" id="{90DC8A32-EE2D-BA7B-E8EE-F102745F5478}"/>
                </a:ext>
              </a:extLst>
            </p:cNvPr>
            <p:cNvSpPr/>
            <p:nvPr/>
          </p:nvSpPr>
          <p:spPr>
            <a:xfrm>
              <a:off x="9553139" y="2623642"/>
              <a:ext cx="1945656" cy="184323"/>
            </a:xfrm>
            <a:custGeom>
              <a:avLst/>
              <a:gdLst/>
              <a:ahLst/>
              <a:cxnLst/>
              <a:rect l="l" t="t" r="r" b="b"/>
              <a:pathLst>
                <a:path w="4478517" h="421931">
                  <a:moveTo>
                    <a:pt x="0" y="0"/>
                  </a:moveTo>
                  <a:lnTo>
                    <a:pt x="4478517" y="0"/>
                  </a:lnTo>
                  <a:lnTo>
                    <a:pt x="4478517" y="421931"/>
                  </a:lnTo>
                  <a:lnTo>
                    <a:pt x="0" y="4219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67000"/>
              </a:blip>
              <a:stretch>
                <a:fillRect l="-1816" r="-1816"/>
              </a:stretch>
            </a:blipFill>
          </p:spPr>
          <p:txBody>
            <a:bodyPr/>
            <a:lstStyle/>
            <a:p>
              <a:endParaRPr lang="en-IL" sz="1200"/>
            </a:p>
          </p:txBody>
        </p:sp>
        <p:grpSp>
          <p:nvGrpSpPr>
            <p:cNvPr id="59" name="Group 3">
              <a:extLst>
                <a:ext uri="{FF2B5EF4-FFF2-40B4-BE49-F238E27FC236}">
                  <a16:creationId xmlns:a16="http://schemas.microsoft.com/office/drawing/2014/main" id="{D3152731-FD98-0565-608D-6E9814BB6561}"/>
                </a:ext>
              </a:extLst>
            </p:cNvPr>
            <p:cNvGrpSpPr/>
            <p:nvPr/>
          </p:nvGrpSpPr>
          <p:grpSpPr>
            <a:xfrm>
              <a:off x="9553139" y="1478433"/>
              <a:ext cx="1998781" cy="1191304"/>
              <a:chOff x="0" y="0"/>
              <a:chExt cx="911221" cy="533410"/>
            </a:xfrm>
            <a:solidFill>
              <a:schemeClr val="bg2"/>
            </a:solidFill>
          </p:grpSpPr>
          <p:sp>
            <p:nvSpPr>
              <p:cNvPr id="63" name="Freeform 4">
                <a:extLst>
                  <a:ext uri="{FF2B5EF4-FFF2-40B4-BE49-F238E27FC236}">
                    <a16:creationId xmlns:a16="http://schemas.microsoft.com/office/drawing/2014/main" id="{F4D7082F-8B5E-A2B5-08B8-0F8696677899}"/>
                  </a:ext>
                </a:extLst>
              </p:cNvPr>
              <p:cNvSpPr/>
              <p:nvPr/>
            </p:nvSpPr>
            <p:spPr>
              <a:xfrm>
                <a:off x="0" y="0"/>
                <a:ext cx="911221" cy="533410"/>
              </a:xfrm>
              <a:custGeom>
                <a:avLst/>
                <a:gdLst/>
                <a:ahLst/>
                <a:cxnLst/>
                <a:rect l="l" t="t" r="r" b="b"/>
                <a:pathLst>
                  <a:path w="911221" h="533410">
                    <a:moveTo>
                      <a:pt x="32845" y="0"/>
                    </a:moveTo>
                    <a:lnTo>
                      <a:pt x="878376" y="0"/>
                    </a:lnTo>
                    <a:cubicBezTo>
                      <a:pt x="896516" y="0"/>
                      <a:pt x="911221" y="14705"/>
                      <a:pt x="911221" y="32845"/>
                    </a:cubicBezTo>
                    <a:lnTo>
                      <a:pt x="911221" y="500566"/>
                    </a:lnTo>
                    <a:cubicBezTo>
                      <a:pt x="911221" y="518705"/>
                      <a:pt x="896516" y="533410"/>
                      <a:pt x="878376" y="533410"/>
                    </a:cubicBezTo>
                    <a:lnTo>
                      <a:pt x="32845" y="533410"/>
                    </a:lnTo>
                    <a:cubicBezTo>
                      <a:pt x="14705" y="533410"/>
                      <a:pt x="0" y="518705"/>
                      <a:pt x="0" y="500566"/>
                    </a:cubicBezTo>
                    <a:lnTo>
                      <a:pt x="0" y="32845"/>
                    </a:lnTo>
                    <a:cubicBezTo>
                      <a:pt x="0" y="14705"/>
                      <a:pt x="14705" y="0"/>
                      <a:pt x="32845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4" name="TextBox 5">
                <a:extLst>
                  <a:ext uri="{FF2B5EF4-FFF2-40B4-BE49-F238E27FC236}">
                    <a16:creationId xmlns:a16="http://schemas.microsoft.com/office/drawing/2014/main" id="{53C99815-D729-9AA3-F5E4-BAC2C3FB52E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911221" cy="571510"/>
              </a:xfrm>
              <a:prstGeom prst="rect">
                <a:avLst/>
              </a:prstGeom>
              <a:grpFill/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</a:pPr>
                <a:endParaRPr sz="1200"/>
              </a:p>
            </p:txBody>
          </p:sp>
        </p:grpSp>
        <p:grpSp>
          <p:nvGrpSpPr>
            <p:cNvPr id="60" name="Group 10">
              <a:extLst>
                <a:ext uri="{FF2B5EF4-FFF2-40B4-BE49-F238E27FC236}">
                  <a16:creationId xmlns:a16="http://schemas.microsoft.com/office/drawing/2014/main" id="{EAA2565A-D56B-8CF8-4AD6-E5FFB77D3F5A}"/>
                </a:ext>
              </a:extLst>
            </p:cNvPr>
            <p:cNvGrpSpPr/>
            <p:nvPr/>
          </p:nvGrpSpPr>
          <p:grpSpPr>
            <a:xfrm>
              <a:off x="9262956" y="1245770"/>
              <a:ext cx="2525198" cy="423179"/>
              <a:chOff x="-33523" y="29144"/>
              <a:chExt cx="2051271" cy="444500"/>
            </a:xfrm>
          </p:grpSpPr>
          <p:sp>
            <p:nvSpPr>
              <p:cNvPr id="61" name="Freeform 11">
                <a:extLst>
                  <a:ext uri="{FF2B5EF4-FFF2-40B4-BE49-F238E27FC236}">
                    <a16:creationId xmlns:a16="http://schemas.microsoft.com/office/drawing/2014/main" id="{7D9AD5FD-F7DF-3557-E0F1-536B2A759B50}"/>
                  </a:ext>
                </a:extLst>
              </p:cNvPr>
              <p:cNvSpPr/>
              <p:nvPr/>
            </p:nvSpPr>
            <p:spPr>
              <a:xfrm>
                <a:off x="-33523" y="61546"/>
                <a:ext cx="2051271" cy="357174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406400">
                    <a:moveTo>
                      <a:pt x="609600" y="0"/>
                    </a:moveTo>
                    <a:cubicBezTo>
                      <a:pt x="721824" y="0"/>
                      <a:pt x="812800" y="90976"/>
                      <a:pt x="812800" y="203200"/>
                    </a:cubicBezTo>
                    <a:cubicBezTo>
                      <a:pt x="812800" y="315424"/>
                      <a:pt x="721824" y="406400"/>
                      <a:pt x="609600" y="406400"/>
                    </a:cubicBezTo>
                    <a:lnTo>
                      <a:pt x="203200" y="406400"/>
                    </a:lnTo>
                    <a:cubicBezTo>
                      <a:pt x="90976" y="406400"/>
                      <a:pt x="0" y="315424"/>
                      <a:pt x="0" y="203200"/>
                    </a:cubicBezTo>
                    <a:cubicBezTo>
                      <a:pt x="0" y="90976"/>
                      <a:pt x="90976" y="0"/>
                      <a:pt x="203200" y="0"/>
                    </a:cubicBezTo>
                    <a:close/>
                  </a:path>
                </a:pathLst>
              </a:custGeom>
              <a:solidFill>
                <a:srgbClr val="7778ED"/>
              </a:solidFill>
            </p:spPr>
            <p:txBody>
              <a:bodyPr/>
              <a:lstStyle/>
              <a:p>
                <a:endParaRPr lang="en-IL" sz="1200"/>
              </a:p>
            </p:txBody>
          </p:sp>
          <p:sp>
            <p:nvSpPr>
              <p:cNvPr id="62" name="TextBox 12">
                <a:extLst>
                  <a:ext uri="{FF2B5EF4-FFF2-40B4-BE49-F238E27FC236}">
                    <a16:creationId xmlns:a16="http://schemas.microsoft.com/office/drawing/2014/main" id="{8AE4265B-50FD-1CFB-8D47-F83D6B56C075}"/>
                  </a:ext>
                </a:extLst>
              </p:cNvPr>
              <p:cNvSpPr txBox="1"/>
              <p:nvPr/>
            </p:nvSpPr>
            <p:spPr>
              <a:xfrm>
                <a:off x="51765" y="29144"/>
                <a:ext cx="1881365" cy="444500"/>
              </a:xfrm>
              <a:prstGeom prst="rect">
                <a:avLst/>
              </a:prstGeom>
            </p:spPr>
            <p:txBody>
              <a:bodyPr lIns="33867" tIns="33867" rIns="33867" bIns="33867" rtlCol="0" anchor="ctr"/>
              <a:lstStyle/>
              <a:p>
                <a:pPr algn="ctr">
                  <a:lnSpc>
                    <a:spcPts val="1680"/>
                  </a:lnSpc>
                  <a:spcBef>
                    <a:spcPct val="0"/>
                  </a:spcBef>
                </a:pPr>
                <a:r>
                  <a:rPr lang="en-US" sz="1400" b="1" cap="all" spc="30" dirty="0">
                    <a:solidFill>
                      <a:schemeClr val="bg1"/>
                    </a:solidFill>
                    <a:latin typeface="Univers Condensed" panose="020B0506020202050204" pitchFamily="34" charset="0"/>
                    <a:ea typeface="+mj-ea"/>
                    <a:cs typeface="+mj-cs"/>
                    <a:sym typeface="Proxima Nova Bold"/>
                  </a:rPr>
                  <a:t>Motion Blur</a:t>
                </a:r>
              </a:p>
            </p:txBody>
          </p:sp>
        </p:grp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1A763A3-85CB-57AB-3767-F3FAD033F08F}"/>
              </a:ext>
            </a:extLst>
          </p:cNvPr>
          <p:cNvSpPr txBox="1"/>
          <p:nvPr/>
        </p:nvSpPr>
        <p:spPr>
          <a:xfrm>
            <a:off x="9798356" y="1628287"/>
            <a:ext cx="1367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j-lt"/>
              </a:rPr>
              <a:t>Restoration and fine-tuning are nearly identical.</a:t>
            </a:r>
            <a:br>
              <a:rPr lang="en-US" sz="1050" dirty="0">
                <a:latin typeface="+mj-lt"/>
              </a:rPr>
            </a:br>
            <a:r>
              <a:rPr lang="en-US" sz="1050" dirty="0">
                <a:latin typeface="+mj-lt"/>
              </a:rPr>
              <a:t>0.805 vs. 0.810</a:t>
            </a:r>
            <a:endParaRPr lang="en-IL" sz="1050" dirty="0">
              <a:latin typeface="+mj-lt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C3288A3-2374-790A-1E05-5E6727142490}"/>
              </a:ext>
            </a:extLst>
          </p:cNvPr>
          <p:cNvSpPr txBox="1"/>
          <p:nvPr/>
        </p:nvSpPr>
        <p:spPr>
          <a:xfrm>
            <a:off x="9805052" y="2994842"/>
            <a:ext cx="1367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j-lt"/>
              </a:rPr>
              <a:t>Restoration slightly reduces F1.</a:t>
            </a:r>
            <a:br>
              <a:rPr lang="en-US" sz="1050" dirty="0">
                <a:latin typeface="+mj-lt"/>
              </a:rPr>
            </a:br>
            <a:r>
              <a:rPr lang="en-US" sz="1050" dirty="0">
                <a:latin typeface="+mj-lt"/>
              </a:rPr>
              <a:t>Fine-tuned model performs best: 0.848</a:t>
            </a:r>
            <a:endParaRPr lang="en-IL" sz="1050" dirty="0">
              <a:latin typeface="+mj-lt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63B5CF6-9A96-BD45-F557-D0925F97326E}"/>
              </a:ext>
            </a:extLst>
          </p:cNvPr>
          <p:cNvSpPr txBox="1"/>
          <p:nvPr/>
        </p:nvSpPr>
        <p:spPr>
          <a:xfrm>
            <a:off x="9845040" y="4412107"/>
            <a:ext cx="13677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+mj-lt"/>
              </a:rPr>
              <a:t>Fine-tuning is much more effective than restoration.</a:t>
            </a:r>
            <a:br>
              <a:rPr lang="en-US" sz="1050" dirty="0">
                <a:latin typeface="+mj-lt"/>
              </a:rPr>
            </a:br>
            <a:r>
              <a:rPr lang="en-US" sz="1050" dirty="0">
                <a:latin typeface="+mj-lt"/>
              </a:rPr>
              <a:t>0.709 vs. 0.819</a:t>
            </a:r>
            <a:endParaRPr lang="en-IL" sz="1050" dirty="0">
              <a:latin typeface="+mj-lt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8F8134F-4D6F-4A47-85C1-2D4D7AC08A83}"/>
              </a:ext>
            </a:extLst>
          </p:cNvPr>
          <p:cNvSpPr txBox="1"/>
          <p:nvPr/>
        </p:nvSpPr>
        <p:spPr>
          <a:xfrm>
            <a:off x="1003300" y="5751465"/>
            <a:ext cx="8551414" cy="36933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+mj-lt"/>
              </a:rPr>
              <a:t>Fine-tuned model provides the strongest and most consistent classification robustness.</a:t>
            </a:r>
            <a:endParaRPr lang="en-IL" dirty="0">
              <a:latin typeface="+mj-lt"/>
            </a:endParaRPr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70723A32-DAC9-8901-D45C-A353F56CB5F6}"/>
              </a:ext>
            </a:extLst>
          </p:cNvPr>
          <p:cNvGrpSpPr/>
          <p:nvPr/>
        </p:nvGrpSpPr>
        <p:grpSpPr>
          <a:xfrm>
            <a:off x="10418166" y="997626"/>
            <a:ext cx="1032080" cy="462978"/>
            <a:chOff x="10742055" y="1447636"/>
            <a:chExt cx="1032080" cy="462978"/>
          </a:xfrm>
        </p:grpSpPr>
        <p:sp>
          <p:nvSpPr>
            <p:cNvPr id="73" name="Rounded Rectangle 30">
              <a:extLst>
                <a:ext uri="{FF2B5EF4-FFF2-40B4-BE49-F238E27FC236}">
                  <a16:creationId xmlns:a16="http://schemas.microsoft.com/office/drawing/2014/main" id="{2A7DD1DE-5550-3E51-FFAB-23ACA129CBAF}"/>
                </a:ext>
              </a:extLst>
            </p:cNvPr>
            <p:cNvSpPr/>
            <p:nvPr/>
          </p:nvSpPr>
          <p:spPr>
            <a:xfrm>
              <a:off x="10742055" y="1545256"/>
              <a:ext cx="253025" cy="163657"/>
            </a:xfrm>
            <a:prstGeom prst="round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4BC7EF0-34DF-734B-521F-E86E413D3CBB}"/>
                </a:ext>
              </a:extLst>
            </p:cNvPr>
            <p:cNvSpPr/>
            <p:nvPr/>
          </p:nvSpPr>
          <p:spPr>
            <a:xfrm>
              <a:off x="10791254" y="1504341"/>
              <a:ext cx="84342" cy="47733"/>
            </a:xfrm>
            <a:prstGeom prst="rect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AACF57A0-7BA9-8879-2626-BC011B3C6376}"/>
                </a:ext>
              </a:extLst>
            </p:cNvPr>
            <p:cNvSpPr/>
            <p:nvPr/>
          </p:nvSpPr>
          <p:spPr>
            <a:xfrm>
              <a:off x="10826396" y="1569122"/>
              <a:ext cx="91370" cy="88647"/>
            </a:xfrm>
            <a:prstGeom prst="ellipse">
              <a:avLst/>
            </a:prstGeom>
            <a:noFill/>
            <a:ln w="12700">
              <a:solidFill>
                <a:srgbClr val="2D3A4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EAD68C7E-624A-F1AA-4710-876C294B7198}"/>
                </a:ext>
              </a:extLst>
            </p:cNvPr>
            <p:cNvSpPr/>
            <p:nvPr/>
          </p:nvSpPr>
          <p:spPr>
            <a:xfrm>
              <a:off x="11296936" y="1476347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1" name="Oval 80">
              <a:extLst>
                <a:ext uri="{FF2B5EF4-FFF2-40B4-BE49-F238E27FC236}">
                  <a16:creationId xmlns:a16="http://schemas.microsoft.com/office/drawing/2014/main" id="{41E95F9C-898E-D94D-6722-5527DA7B43FF}"/>
                </a:ext>
              </a:extLst>
            </p:cNvPr>
            <p:cNvSpPr/>
            <p:nvPr/>
          </p:nvSpPr>
          <p:spPr>
            <a:xfrm>
              <a:off x="11444904" y="1447636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A2688B75-8AB0-6AF2-6CB3-A3D0CFACF7A8}"/>
                </a:ext>
              </a:extLst>
            </p:cNvPr>
            <p:cNvSpPr/>
            <p:nvPr/>
          </p:nvSpPr>
          <p:spPr>
            <a:xfrm>
              <a:off x="11578077" y="1519415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0B86D325-5D7A-9211-04EC-BE2E163A0773}"/>
                </a:ext>
              </a:extLst>
            </p:cNvPr>
            <p:cNvSpPr/>
            <p:nvPr/>
          </p:nvSpPr>
          <p:spPr>
            <a:xfrm>
              <a:off x="11348726" y="1576839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DD238120-AA1E-57B9-6154-5CEBB97C2D40}"/>
                </a:ext>
              </a:extLst>
            </p:cNvPr>
            <p:cNvSpPr/>
            <p:nvPr/>
          </p:nvSpPr>
          <p:spPr>
            <a:xfrm>
              <a:off x="11518889" y="1619907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D82F63A-38CA-7057-E0FE-AC81AFD1A12E}"/>
                </a:ext>
              </a:extLst>
            </p:cNvPr>
            <p:cNvSpPr/>
            <p:nvPr/>
          </p:nvSpPr>
          <p:spPr>
            <a:xfrm>
              <a:off x="11674256" y="1591195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397AC1AB-F048-F3E7-1D9C-FBCEBDDE161C}"/>
                </a:ext>
              </a:extLst>
            </p:cNvPr>
            <p:cNvSpPr/>
            <p:nvPr/>
          </p:nvSpPr>
          <p:spPr>
            <a:xfrm>
              <a:off x="11422710" y="1706042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8506A0D4-17BC-171B-564F-4CA5F7C4177A}"/>
                </a:ext>
              </a:extLst>
            </p:cNvPr>
            <p:cNvSpPr/>
            <p:nvPr/>
          </p:nvSpPr>
          <p:spPr>
            <a:xfrm>
              <a:off x="11615068" y="1734754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0F6A96A1-CD86-9EBE-4357-3F1EF3572EC6}"/>
                </a:ext>
              </a:extLst>
            </p:cNvPr>
            <p:cNvSpPr/>
            <p:nvPr/>
          </p:nvSpPr>
          <p:spPr>
            <a:xfrm>
              <a:off x="11740842" y="1691686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C2C89B2-A066-E7BE-E9B7-6EC1F87FB912}"/>
                </a:ext>
              </a:extLst>
            </p:cNvPr>
            <p:cNvSpPr/>
            <p:nvPr/>
          </p:nvSpPr>
          <p:spPr>
            <a:xfrm>
              <a:off x="11319132" y="1806534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B0294EEB-B96D-687F-C922-65A8FC9B00F7}"/>
                </a:ext>
              </a:extLst>
            </p:cNvPr>
            <p:cNvSpPr/>
            <p:nvPr/>
          </p:nvSpPr>
          <p:spPr>
            <a:xfrm>
              <a:off x="11496693" y="1849601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0520DD24-0390-0DA9-F592-1FEEA6B3A7C0}"/>
                </a:ext>
              </a:extLst>
            </p:cNvPr>
            <p:cNvSpPr/>
            <p:nvPr/>
          </p:nvSpPr>
          <p:spPr>
            <a:xfrm>
              <a:off x="11689053" y="1878313"/>
              <a:ext cx="33293" cy="32301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BF3527A7-779C-F023-68D4-12F582A8BB2E}"/>
              </a:ext>
            </a:extLst>
          </p:cNvPr>
          <p:cNvGrpSpPr/>
          <p:nvPr/>
        </p:nvGrpSpPr>
        <p:grpSpPr>
          <a:xfrm>
            <a:off x="11154308" y="2489251"/>
            <a:ext cx="359564" cy="321803"/>
            <a:chOff x="6510149" y="1427151"/>
            <a:chExt cx="359564" cy="321803"/>
          </a:xfrm>
        </p:grpSpPr>
        <p:cxnSp>
          <p:nvCxnSpPr>
            <p:cNvPr id="104" name="Connector 75">
              <a:extLst>
                <a:ext uri="{FF2B5EF4-FFF2-40B4-BE49-F238E27FC236}">
                  <a16:creationId xmlns:a16="http://schemas.microsoft.com/office/drawing/2014/main" id="{BAE924E9-C6E6-A043-8E45-01A874F171FC}"/>
                </a:ext>
              </a:extLst>
            </p:cNvPr>
            <p:cNvCxnSpPr/>
            <p:nvPr/>
          </p:nvCxnSpPr>
          <p:spPr>
            <a:xfrm flipV="1">
              <a:off x="6630004" y="1427151"/>
              <a:ext cx="0" cy="98512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nector 76">
              <a:extLst>
                <a:ext uri="{FF2B5EF4-FFF2-40B4-BE49-F238E27FC236}">
                  <a16:creationId xmlns:a16="http://schemas.microsoft.com/office/drawing/2014/main" id="{D5F52124-74C6-A50D-98B9-E30B9F7EDAAA}"/>
                </a:ext>
              </a:extLst>
            </p:cNvPr>
            <p:cNvCxnSpPr/>
            <p:nvPr/>
          </p:nvCxnSpPr>
          <p:spPr>
            <a:xfrm>
              <a:off x="6630004" y="1525663"/>
              <a:ext cx="0" cy="223291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nector 77">
              <a:extLst>
                <a:ext uri="{FF2B5EF4-FFF2-40B4-BE49-F238E27FC236}">
                  <a16:creationId xmlns:a16="http://schemas.microsoft.com/office/drawing/2014/main" id="{48C8946D-D6B0-F6BE-88EB-862747504450}"/>
                </a:ext>
              </a:extLst>
            </p:cNvPr>
            <p:cNvCxnSpPr/>
            <p:nvPr/>
          </p:nvCxnSpPr>
          <p:spPr>
            <a:xfrm flipH="1">
              <a:off x="6510149" y="1525663"/>
              <a:ext cx="119855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Connector 78">
              <a:extLst>
                <a:ext uri="{FF2B5EF4-FFF2-40B4-BE49-F238E27FC236}">
                  <a16:creationId xmlns:a16="http://schemas.microsoft.com/office/drawing/2014/main" id="{3343ED14-ACAB-B3C6-1ACD-29F2BF0741B2}"/>
                </a:ext>
              </a:extLst>
            </p:cNvPr>
            <p:cNvCxnSpPr/>
            <p:nvPr/>
          </p:nvCxnSpPr>
          <p:spPr>
            <a:xfrm>
              <a:off x="6630004" y="1525663"/>
              <a:ext cx="239709" cy="6567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Connector 79">
              <a:extLst>
                <a:ext uri="{FF2B5EF4-FFF2-40B4-BE49-F238E27FC236}">
                  <a16:creationId xmlns:a16="http://schemas.microsoft.com/office/drawing/2014/main" id="{6F8FA625-E5B7-7296-2282-D798F500464E}"/>
                </a:ext>
              </a:extLst>
            </p:cNvPr>
            <p:cNvCxnSpPr/>
            <p:nvPr/>
          </p:nvCxnSpPr>
          <p:spPr>
            <a:xfrm flipH="1" flipV="1">
              <a:off x="6550100" y="1473124"/>
              <a:ext cx="79904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or 80">
              <a:extLst>
                <a:ext uri="{FF2B5EF4-FFF2-40B4-BE49-F238E27FC236}">
                  <a16:creationId xmlns:a16="http://schemas.microsoft.com/office/drawing/2014/main" id="{661217DB-90D0-8D62-2651-F902DDB7B22D}"/>
                </a:ext>
              </a:extLst>
            </p:cNvPr>
            <p:cNvCxnSpPr/>
            <p:nvPr/>
          </p:nvCxnSpPr>
          <p:spPr>
            <a:xfrm flipV="1">
              <a:off x="6630004" y="1473124"/>
              <a:ext cx="193099" cy="52539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nector 81">
              <a:extLst>
                <a:ext uri="{FF2B5EF4-FFF2-40B4-BE49-F238E27FC236}">
                  <a16:creationId xmlns:a16="http://schemas.microsoft.com/office/drawing/2014/main" id="{427EA447-962F-BF01-34C7-DD6AA429F7E7}"/>
                </a:ext>
              </a:extLst>
            </p:cNvPr>
            <p:cNvCxnSpPr/>
            <p:nvPr/>
          </p:nvCxnSpPr>
          <p:spPr>
            <a:xfrm flipH="1">
              <a:off x="6550100" y="1525663"/>
              <a:ext cx="79904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or 82">
              <a:extLst>
                <a:ext uri="{FF2B5EF4-FFF2-40B4-BE49-F238E27FC236}">
                  <a16:creationId xmlns:a16="http://schemas.microsoft.com/office/drawing/2014/main" id="{D3D26539-50B4-5697-A1DD-BF21F96920F4}"/>
                </a:ext>
              </a:extLst>
            </p:cNvPr>
            <p:cNvCxnSpPr/>
            <p:nvPr/>
          </p:nvCxnSpPr>
          <p:spPr>
            <a:xfrm>
              <a:off x="6630004" y="1525663"/>
              <a:ext cx="193099" cy="190454"/>
            </a:xfrm>
            <a:prstGeom prst="line">
              <a:avLst/>
            </a:prstGeom>
            <a:ln w="12700">
              <a:solidFill>
                <a:srgbClr val="1D202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Oval 111">
              <a:extLst>
                <a:ext uri="{FF2B5EF4-FFF2-40B4-BE49-F238E27FC236}">
                  <a16:creationId xmlns:a16="http://schemas.microsoft.com/office/drawing/2014/main" id="{D055281B-3FCC-3FF3-65D9-AAB3619030F5}"/>
                </a:ext>
              </a:extLst>
            </p:cNvPr>
            <p:cNvSpPr/>
            <p:nvPr/>
          </p:nvSpPr>
          <p:spPr>
            <a:xfrm>
              <a:off x="6558682" y="1463147"/>
              <a:ext cx="173123" cy="170752"/>
            </a:xfrm>
            <a:prstGeom prst="ellipse">
              <a:avLst/>
            </a:prstGeom>
            <a:solidFill>
              <a:schemeClr val="bg1"/>
            </a:solidFill>
            <a:ln w="10160">
              <a:solidFill>
                <a:srgbClr val="1D202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736B18D5-BC52-40F2-AFE4-22825E728343}"/>
              </a:ext>
            </a:extLst>
          </p:cNvPr>
          <p:cNvGrpSpPr/>
          <p:nvPr/>
        </p:nvGrpSpPr>
        <p:grpSpPr>
          <a:xfrm>
            <a:off x="10728710" y="4090493"/>
            <a:ext cx="939815" cy="313798"/>
            <a:chOff x="9963991" y="1469341"/>
            <a:chExt cx="939815" cy="313798"/>
          </a:xfrm>
        </p:grpSpPr>
        <p:cxnSp>
          <p:nvCxnSpPr>
            <p:cNvPr id="114" name="Connector 19">
              <a:extLst>
                <a:ext uri="{FF2B5EF4-FFF2-40B4-BE49-F238E27FC236}">
                  <a16:creationId xmlns:a16="http://schemas.microsoft.com/office/drawing/2014/main" id="{5CB3C456-5BC0-E4F8-2A3C-682EEE507DC7}"/>
                </a:ext>
              </a:extLst>
            </p:cNvPr>
            <p:cNvCxnSpPr/>
            <p:nvPr/>
          </p:nvCxnSpPr>
          <p:spPr>
            <a:xfrm>
              <a:off x="10704003" y="1469341"/>
              <a:ext cx="0" cy="197036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nector 20">
              <a:extLst>
                <a:ext uri="{FF2B5EF4-FFF2-40B4-BE49-F238E27FC236}">
                  <a16:creationId xmlns:a16="http://schemas.microsoft.com/office/drawing/2014/main" id="{C2DB8783-1914-4F9C-0EFA-9E928889399E}"/>
                </a:ext>
              </a:extLst>
            </p:cNvPr>
            <p:cNvCxnSpPr/>
            <p:nvPr/>
          </p:nvCxnSpPr>
          <p:spPr>
            <a:xfrm>
              <a:off x="10704003" y="1666377"/>
              <a:ext cx="199803" cy="0"/>
            </a:xfrm>
            <a:prstGeom prst="line">
              <a:avLst/>
            </a:prstGeom>
            <a:ln w="25400">
              <a:solidFill>
                <a:srgbClr val="DBDEE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Connector 114">
              <a:extLst>
                <a:ext uri="{FF2B5EF4-FFF2-40B4-BE49-F238E27FC236}">
                  <a16:creationId xmlns:a16="http://schemas.microsoft.com/office/drawing/2014/main" id="{FDABC76E-C3B0-9F7C-F730-5791F2001104}"/>
                </a:ext>
              </a:extLst>
            </p:cNvPr>
            <p:cNvCxnSpPr/>
            <p:nvPr/>
          </p:nvCxnSpPr>
          <p:spPr>
            <a:xfrm>
              <a:off x="9963991" y="162988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Connector 115">
              <a:extLst>
                <a:ext uri="{FF2B5EF4-FFF2-40B4-BE49-F238E27FC236}">
                  <a16:creationId xmlns:a16="http://schemas.microsoft.com/office/drawing/2014/main" id="{21050627-1FB4-0666-9DF4-33A94FBC10EB}"/>
                </a:ext>
              </a:extLst>
            </p:cNvPr>
            <p:cNvCxnSpPr/>
            <p:nvPr/>
          </p:nvCxnSpPr>
          <p:spPr>
            <a:xfrm>
              <a:off x="9963991" y="1702865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Connector 116">
              <a:extLst>
                <a:ext uri="{FF2B5EF4-FFF2-40B4-BE49-F238E27FC236}">
                  <a16:creationId xmlns:a16="http://schemas.microsoft.com/office/drawing/2014/main" id="{8EFC864F-7B3F-32A0-B124-A5F34F493FB4}"/>
                </a:ext>
              </a:extLst>
            </p:cNvPr>
            <p:cNvCxnSpPr/>
            <p:nvPr/>
          </p:nvCxnSpPr>
          <p:spPr>
            <a:xfrm>
              <a:off x="9963991" y="1783139"/>
              <a:ext cx="458807" cy="0"/>
            </a:xfrm>
            <a:prstGeom prst="line">
              <a:avLst/>
            </a:prstGeom>
            <a:ln w="19050">
              <a:solidFill>
                <a:srgbClr val="6EC382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Rounded Rectangle 117">
              <a:extLst>
                <a:ext uri="{FF2B5EF4-FFF2-40B4-BE49-F238E27FC236}">
                  <a16:creationId xmlns:a16="http://schemas.microsoft.com/office/drawing/2014/main" id="{D339A28B-52DE-34C4-C2C0-28B3E3E7D4C1}"/>
                </a:ext>
              </a:extLst>
            </p:cNvPr>
            <p:cNvSpPr/>
            <p:nvPr/>
          </p:nvSpPr>
          <p:spPr>
            <a:xfrm>
              <a:off x="10444999" y="1567859"/>
              <a:ext cx="450667" cy="137924"/>
            </a:xfrm>
            <a:prstGeom prst="roundRect">
              <a:avLst/>
            </a:prstGeom>
            <a:solidFill>
              <a:srgbClr val="47CD6F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0" name="Trapezoid 119">
              <a:extLst>
                <a:ext uri="{FF2B5EF4-FFF2-40B4-BE49-F238E27FC236}">
                  <a16:creationId xmlns:a16="http://schemas.microsoft.com/office/drawing/2014/main" id="{5FEF7A1A-2AE0-B79A-3127-7628CD5ADF68}"/>
                </a:ext>
              </a:extLst>
            </p:cNvPr>
            <p:cNvSpPr/>
            <p:nvPr/>
          </p:nvSpPr>
          <p:spPr>
            <a:xfrm>
              <a:off x="10546010" y="1491234"/>
              <a:ext cx="233104" cy="130262"/>
            </a:xfrm>
            <a:prstGeom prst="trapezoid">
              <a:avLst/>
            </a:prstGeom>
            <a:solidFill>
              <a:srgbClr val="BEEBC3"/>
            </a:solidFill>
            <a:ln w="10160">
              <a:solidFill>
                <a:srgbClr val="47CD6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1" name="Oval 120">
              <a:extLst>
                <a:ext uri="{FF2B5EF4-FFF2-40B4-BE49-F238E27FC236}">
                  <a16:creationId xmlns:a16="http://schemas.microsoft.com/office/drawing/2014/main" id="{31E70C03-7FB3-8909-34C4-05AF78F6EB55}"/>
                </a:ext>
              </a:extLst>
            </p:cNvPr>
            <p:cNvSpPr/>
            <p:nvPr/>
          </p:nvSpPr>
          <p:spPr>
            <a:xfrm>
              <a:off x="10530470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  <p:sp>
          <p:nvSpPr>
            <p:cNvPr id="122" name="Oval 121">
              <a:extLst>
                <a:ext uri="{FF2B5EF4-FFF2-40B4-BE49-F238E27FC236}">
                  <a16:creationId xmlns:a16="http://schemas.microsoft.com/office/drawing/2014/main" id="{F0718C9C-8090-68F3-4262-0C5E718CD80D}"/>
                </a:ext>
              </a:extLst>
            </p:cNvPr>
            <p:cNvSpPr/>
            <p:nvPr/>
          </p:nvSpPr>
          <p:spPr>
            <a:xfrm>
              <a:off x="10779114" y="1667471"/>
              <a:ext cx="93241" cy="91950"/>
            </a:xfrm>
            <a:prstGeom prst="ellipse">
              <a:avLst/>
            </a:prstGeom>
            <a:solidFill>
              <a:srgbClr val="1D202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latin typeface="+mj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80430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B9EFA4-DE38-C948-1B12-39CBA108B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84">
            <a:extLst>
              <a:ext uri="{FF2B5EF4-FFF2-40B4-BE49-F238E27FC236}">
                <a16:creationId xmlns:a16="http://schemas.microsoft.com/office/drawing/2014/main" id="{38A7622B-233A-3EE5-5414-D80ED2D1D7D6}"/>
              </a:ext>
            </a:extLst>
          </p:cNvPr>
          <p:cNvSpPr txBox="1"/>
          <p:nvPr/>
        </p:nvSpPr>
        <p:spPr>
          <a:xfrm>
            <a:off x="695325" y="5299814"/>
            <a:ext cx="9553579" cy="49138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>
              <a:lnSpc>
                <a:spcPct val="110000"/>
              </a:lnSpc>
              <a:spcBef>
                <a:spcPts val="1000"/>
              </a:spcBef>
              <a:defRPr/>
            </a:pPr>
            <a:endParaRPr kumimoji="0" lang="en-US" sz="2000" b="0" i="0" u="none" strike="noStrike" cap="none" spc="0" normalizeH="0" baseline="0" noProof="0">
              <a:ln>
                <a:noFill/>
              </a:ln>
              <a:effectLst/>
              <a:uLnTx/>
              <a:uFillTx/>
              <a:latin typeface="+mj-lt"/>
            </a:endParaRPr>
          </a:p>
        </p:txBody>
      </p:sp>
      <p:sp>
        <p:nvSpPr>
          <p:cNvPr id="13" name="TextBox 83">
            <a:extLst>
              <a:ext uri="{FF2B5EF4-FFF2-40B4-BE49-F238E27FC236}">
                <a16:creationId xmlns:a16="http://schemas.microsoft.com/office/drawing/2014/main" id="{2FBBC711-C7A5-13DE-6482-8A548D4A2466}"/>
              </a:ext>
            </a:extLst>
          </p:cNvPr>
          <p:cNvSpPr txBox="1"/>
          <p:nvPr/>
        </p:nvSpPr>
        <p:spPr>
          <a:xfrm>
            <a:off x="1053847" y="375599"/>
            <a:ext cx="10251945" cy="3565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 defTabSz="609630">
              <a:lnSpc>
                <a:spcPts val="2559"/>
              </a:lnSpc>
            </a:pPr>
            <a:r>
              <a:rPr lang="en-US" sz="3200" b="1" cap="all" spc="30" dirty="0">
                <a:solidFill>
                  <a:srgbClr val="0F172A"/>
                </a:solidFill>
                <a:latin typeface="+mj-lt"/>
                <a:ea typeface="+mj-ea"/>
                <a:cs typeface="+mj-cs"/>
              </a:rPr>
              <a:t>Overall Project Conclusions</a:t>
            </a:r>
            <a:endParaRPr lang="en-US" sz="2800" b="1" spc="42" dirty="0">
              <a:solidFill>
                <a:srgbClr val="333333"/>
              </a:solidFill>
              <a:latin typeface="+mj-lt"/>
              <a:ea typeface="Inter Bold"/>
              <a:cs typeface="Inter Bold"/>
              <a:sym typeface="Inter Bold"/>
            </a:endParaRPr>
          </a:p>
        </p:txBody>
      </p:sp>
      <p:sp>
        <p:nvSpPr>
          <p:cNvPr id="15" name="TextBox 84">
            <a:extLst>
              <a:ext uri="{FF2B5EF4-FFF2-40B4-BE49-F238E27FC236}">
                <a16:creationId xmlns:a16="http://schemas.microsoft.com/office/drawing/2014/main" id="{B8E369F7-3A74-913E-2CB0-E3AA8A9CCF04}"/>
              </a:ext>
            </a:extLst>
          </p:cNvPr>
          <p:cNvSpPr txBox="1"/>
          <p:nvPr/>
        </p:nvSpPr>
        <p:spPr>
          <a:xfrm>
            <a:off x="281761" y="767140"/>
            <a:ext cx="11591907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000">
                <a:latin typeface="+mj-lt"/>
              </a:rPr>
              <a:t>Different tasks require different robustness strategies.</a:t>
            </a:r>
            <a:endParaRPr lang="en-US" sz="2000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F7317A-17B3-518B-CF8D-E69A91850836}"/>
              </a:ext>
            </a:extLst>
          </p:cNvPr>
          <p:cNvSpPr txBox="1"/>
          <p:nvPr/>
        </p:nvSpPr>
        <p:spPr>
          <a:xfrm>
            <a:off x="1155699" y="5279196"/>
            <a:ext cx="9905495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Different tasks benefit from different robustness strategies:</a:t>
            </a:r>
          </a:p>
          <a:p>
            <a:pPr algn="ctr"/>
            <a:r>
              <a:rPr lang="en-US" sz="1600" dirty="0">
                <a:latin typeface="+mj-lt"/>
              </a:rPr>
              <a:t>image restoration is effective for recoverable visual distortions,</a:t>
            </a:r>
          </a:p>
          <a:p>
            <a:pPr algn="ctr"/>
            <a:r>
              <a:rPr lang="en-US" sz="1600" dirty="0">
                <a:latin typeface="+mj-lt"/>
              </a:rPr>
              <a:t>while distortion-aware fine-tuning is strongest for high-level classification.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74219E1-F254-1E6C-3F3A-097C0092F273}"/>
              </a:ext>
            </a:extLst>
          </p:cNvPr>
          <p:cNvSpPr txBox="1"/>
          <p:nvPr/>
        </p:nvSpPr>
        <p:spPr>
          <a:xfrm>
            <a:off x="519954" y="4372139"/>
            <a:ext cx="31775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+mj-lt"/>
              </a:rPr>
              <a:t>Restoration improved edge-map similarity  but did not fully recover the clean reference.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C424BD-BAE3-726B-8184-CF6F607BEF22}"/>
              </a:ext>
            </a:extLst>
          </p:cNvPr>
          <p:cNvSpPr txBox="1"/>
          <p:nvPr/>
        </p:nvSpPr>
        <p:spPr>
          <a:xfrm>
            <a:off x="1323864" y="1251558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Canny</a:t>
            </a:r>
            <a:endParaRPr lang="en-IL" b="1">
              <a:latin typeface="+mj-lt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49878FC-94E4-77C1-C7FF-DC446E56D56E}"/>
              </a:ext>
            </a:extLst>
          </p:cNvPr>
          <p:cNvSpPr txBox="1"/>
          <p:nvPr/>
        </p:nvSpPr>
        <p:spPr>
          <a:xfrm>
            <a:off x="5612892" y="1249409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err="1">
                <a:latin typeface="+mj-lt"/>
              </a:rPr>
              <a:t>GrabCut</a:t>
            </a:r>
            <a:endParaRPr lang="en-IL" b="1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BD426C8-E537-AC34-DC93-B4A76AB82E97}"/>
              </a:ext>
            </a:extLst>
          </p:cNvPr>
          <p:cNvSpPr txBox="1"/>
          <p:nvPr/>
        </p:nvSpPr>
        <p:spPr>
          <a:xfrm>
            <a:off x="9298416" y="1255234"/>
            <a:ext cx="1569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latin typeface="+mj-lt"/>
              </a:rPr>
              <a:t>ResNet50</a:t>
            </a:r>
            <a:endParaRPr lang="en-IL" b="1"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4C7A5F-C80C-CCC7-BFEE-54FB9566748F}"/>
              </a:ext>
            </a:extLst>
          </p:cNvPr>
          <p:cNvSpPr txBox="1"/>
          <p:nvPr/>
        </p:nvSpPr>
        <p:spPr>
          <a:xfrm>
            <a:off x="4339591" y="4353235"/>
            <a:ext cx="3680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L" sz="1600" dirty="0">
                <a:latin typeface="+mj-lt"/>
              </a:rPr>
              <a:t>Restoration improved segmentation under all</a:t>
            </a:r>
            <a:r>
              <a:rPr lang="en-US" sz="1600" dirty="0">
                <a:latin typeface="+mj-lt"/>
              </a:rPr>
              <a:t> </a:t>
            </a:r>
            <a:r>
              <a:rPr lang="en-IL" sz="1600" dirty="0">
                <a:latin typeface="+mj-lt"/>
              </a:rPr>
              <a:t>distortions, especially Salt &amp; Pepper noise.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AB808AE-2EC7-D6E1-82CF-18B94350F9B4}"/>
              </a:ext>
            </a:extLst>
          </p:cNvPr>
          <p:cNvSpPr txBox="1"/>
          <p:nvPr/>
        </p:nvSpPr>
        <p:spPr>
          <a:xfrm>
            <a:off x="8227080" y="4299376"/>
            <a:ext cx="36804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+mj-lt"/>
              </a:rPr>
              <a:t>Fine-tuning provided the strongest and most</a:t>
            </a:r>
          </a:p>
          <a:p>
            <a:pPr algn="ctr"/>
            <a:r>
              <a:rPr lang="en-US" sz="1400" dirty="0">
                <a:latin typeface="+mj-lt"/>
              </a:rPr>
              <a:t>consistent classification robustness.</a:t>
            </a:r>
          </a:p>
          <a:p>
            <a:pPr algn="ctr"/>
            <a:r>
              <a:rPr lang="en-US" sz="1400" dirty="0">
                <a:latin typeface="+mj-lt"/>
              </a:rPr>
              <a:t>Restoration achieved nearly identical recovery</a:t>
            </a:r>
          </a:p>
          <a:p>
            <a:pPr algn="ctr"/>
            <a:r>
              <a:rPr lang="en-US" sz="1400" dirty="0">
                <a:latin typeface="+mj-lt"/>
              </a:rPr>
              <a:t>under Salt &amp; Pepper noise.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E506EA-DBD7-63AC-A902-2E902287EB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37823" y="1808063"/>
            <a:ext cx="3756844" cy="22867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C7778E5-3C66-24C5-7022-967152FAC1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990724" y="1808064"/>
            <a:ext cx="3879614" cy="23144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6AFC79-DD23-2A29-0AF0-3FBC41B910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904322" y="1849672"/>
            <a:ext cx="4149855" cy="22337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8952201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1234e14-5b87-4b67-ac19-8feaa8ba8f12}" enabled="0" method="" siteId="{61234e14-5b87-4b67-ac19-8feaa8ba8f1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2358</Words>
  <Application>Microsoft Office PowerPoint</Application>
  <PresentationFormat>Widescreen</PresentationFormat>
  <Paragraphs>399</Paragraphs>
  <Slides>34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2" baseType="lpstr">
      <vt:lpstr>Aptos</vt:lpstr>
      <vt:lpstr>Arial</vt:lpstr>
      <vt:lpstr>Calisto MT</vt:lpstr>
      <vt:lpstr>Inter Bold</vt:lpstr>
      <vt:lpstr>Neue Haas Grotesk Text Pro</vt:lpstr>
      <vt:lpstr>Univers Condensed</vt:lpstr>
      <vt:lpstr>Univers Condensed (כותרות)</vt:lpstr>
      <vt:lpstr>ChronicleVTI</vt:lpstr>
      <vt:lpstr>Evaluating Robustness of Computer Vision Models </vt:lpstr>
      <vt:lpstr>PROJECT OVERVIEW</vt:lpstr>
      <vt:lpstr>PowerPoint Presentation</vt:lpstr>
      <vt:lpstr>PowerPoint Presentation</vt:lpstr>
      <vt:lpstr>PowerPoint Presentation</vt:lpstr>
      <vt:lpstr>CLEAN IMAGE BASELINE</vt:lpstr>
      <vt:lpstr>PowerPoint Presentation</vt:lpstr>
      <vt:lpstr>PowerPoint Presentation</vt:lpstr>
      <vt:lpstr>ROBUSTNESS UNDER DISTORTIONS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IMAGE RESTORATION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MODEL ADAPTATION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Tehila Segal</dc:creator>
  <cp:lastModifiedBy>Tehila Segal</cp:lastModifiedBy>
  <cp:revision>2</cp:revision>
  <dcterms:created xsi:type="dcterms:W3CDTF">2026-07-07T12:36:39Z</dcterms:created>
  <dcterms:modified xsi:type="dcterms:W3CDTF">2026-07-20T19:18:25Z</dcterms:modified>
</cp:coreProperties>
</file>